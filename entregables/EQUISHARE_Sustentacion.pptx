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a y ODS 12" id="{9873fa7d-f9e0-d340-cde8-3795a39758b1}">
          <p14:sldIdLst>
            <p14:sldId id="256"/>
            <p14:sldId id="257"/>
            <p14:sldId id="258"/>
            <p14:sldId id="259"/>
          </p14:sldIdLst>
        </p14:section>
        <p14:section name="Análisis y propuesta" id="{fd2921d3-901a-179e-1f34-f806b3be405e}">
          <p14:sldIdLst>
            <p14:sldId id="260"/>
            <p14:sldId id="261"/>
            <p14:sldId id="262"/>
            <p14:sldId id="263"/>
            <p14:sldId id="264"/>
            <p14:sldId id="265"/>
          </p14:sldIdLst>
        </p14:section>
        <p14:section name="Herramientas y metodología" id="{64957c29-496c-5a17-c0b9-bb1e7705c88e}">
          <p14:sldIdLst>
            <p14:sldId id="266"/>
            <p14:sldId id="267"/>
            <p14:sldId id="268"/>
            <p14:sldId id="269"/>
          </p14:sldIdLst>
        </p14:section>
        <p14:section name="Diseño y arquitectura" id="{e75a6b4e-6c6f-9305-1ed9-d53a25d67de2}">
          <p14:sldIdLst>
            <p14:sldId id="270"/>
            <p14:sldId id="271"/>
            <p14:sldId id="272"/>
            <p14:sldId id="273"/>
          </p14:sldIdLst>
        </p14:section>
        <p14:section name="Implementación y pruebas" id="{a4254546-f1e9-6113-682c-56ab8d81e52d}">
          <p14:sldIdLst>
            <p14:sldId id="274"/>
            <p14:sldId id="275"/>
            <p14:sldId id="276"/>
            <p14:sldId id="277"/>
            <p14:sldId id="278"/>
          </p14:sldIdLst>
        </p14:section>
        <p14:section name="Cierre" id="{f3a86002-92f8-31dd-dec2-d9700a5bf560}">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Mariano Aliaga · 0:30] Buenos días. Somos el equipo EQUISHARE. Presentamos nuestro proyecto: una aplicación Android nativa que permite a las pymes de Trujillo alquilarse equipos entre sí, como mezcladoras, andamios o equipos de sonido, para aprovechar activos que hoy pasan la mayor parte del tiempo sin uso. La exposición dura 30 minutos e incluye una demostración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Mariano Aliaga · 0:30] La exposición sigue cinco bloques que corresponden a las secciones del informe. Primero el problema y su relación con el ODS 12; luego el análisis con el diagrama de Ishikawa, los antecedentes y las propuestas; después las herramientas y la metodología; el diseño y la arquitectura; y finalmente la implementación, las pruebas y una demostración en vivo. Debajo de cada bloque figura quién lo expone.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Mariano Aliaga · 1:00] El Perú cerró 2024 con 2 346 592 empresas formales y el 99,1 % son mypes; La Libertad concentra 123 162. Las pymes de construcción, eventos y servicios técnicos usan equipos de forma intermitente: compran mezcladoras o generadores que pasan gran parte del tiempo parados. Sharemac, una plataforma alemana, reporta que las grúas permanecen sin uso cerca del 75 % del tiempo. En Trujillo, el alquiler entre empresas se resuelve por llamadas y contactos personales; este diagnóstico es preliminar y lo validaremos con una encuesta. A la derecha, por qué elegimos el canal móvil: casi todos los hogares tienen celular, la mayoría accede a internet desde él y Android supera el 85 % del mercado.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Mariano Aliaga · 1:30] El proyecto se vincula con el ODS 12, producción y consumo responsables, a través de tres metas. La 12.2 busca el uso eficiente de los recursos: un equipo que ya existe trabaja más días. La 12.5 apunta a reducir desechos mediante la reutilización: alquilar en lugar de comprar prolonga la vida útil del equipo. La 12.6 alienta a las empresas a adoptar prácticas sostenibles. Curtis y Mont advierten que la economía colaborativa no es sostenible por defecto; por eso el diseño de EQUISHARE se basa en equipos ya existentes y en el acceso temporal por días, no en la compra.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Diego Aspiros · 1:30] Para identificar las causas usamos el diagrama de Ishikawa con seis categorías adaptadas a servicios. En métodos, el alquiler se coordina por llamadas y sin contratos estándar. En medición, nadie registra la disponibilidad real de los equipos. En tecnología, no existe una plataforma local en español. En personas, falta confianza entre empresas que no se conocen. En recursos, se compran equipos que se usan pocos días. Y en el entorno, la conectividad en obra es irregular. El efecto es la subutilización de equipos y sobrecostos operativos para las pymes.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Diego Aspiros · 1:00] Del análisis surge la pregunta general que se muestra en pantalla. La desagregamos en cinco problemas específicos: cómo publicar y encontrar equipos sin llamadas; cómo evitar reservas duplicadas; cómo generar confianza y transparentar los costos; cómo ubicar equipos cercanos; y cómo mantener la app útil con conectividad limitada protegiendo los datos. Cada problema específico se relaciona con un objetivo específico y con historias de usuario del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Diego Aspiros · 1:00] Seis antecedentes sustentan la propuesta. Benoit y colegas definen la economía colaborativa entre empresas, de donde tomamos los dos roles por empresa. Goswami y Arputham proponen una plataforma de dos lados para equipos de construcción. Rathnayake y colegas encuentran que los equipos y máquinas son el recurso más compartido y que las plataformas tienen vacíos de información e idioma. Curtis y Mont dan las condiciones de sostenibilidad. Ter Huurne y colegas explican de qué depende la confianza, lo que justifica calificaciones, verificación del RUC y reglas transparentes. Y un antecedente local de la UPN respalda el uso de Scrum y Firebase.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Diego Aspiros · 1:00] En la industria, EquipmentShare nació como mercado para compartir equipos y hoy tiene 373 sedes en Estados Unidos. Yard Club movió 120 millones de dólares en 2016 y Caterpillar lo compró en 2017. En Europa operan FLOOW2 y Sharemac, esta última con más de 32 000 máquinas y comisiones de 4 % a 8 %. La conclusión es que el modelo es viable, pero estas plataformas están en mercados grandes y en otros idiomas. Ese es el espacio de EQUISHARE: una solución local, en español, para pymes.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Erick Chuquizuta · 1:30] Evaluamos tres propuestas con el mismo modelo de negocio. La 01, seleccionada, es una app Android nativa con API REST propia y Firebase: aprovecha GPS, cámara y modo sin conexión, concentra las reglas en un servidor que podemos probar y cumple los requisitos académicos del proyecto. La 02, una PWA, tiene un solo código, pero pierde integración nativa y no desarrolla las competencias técnicas que requiere el proyecto. La 03 era nuestra propuesta original solo con Firebase; la descartamos porque desde 2024 Cloud Storage exige el plan de pago Blaze y porque no consume una API REST con Retrofit. De ella conservamos Firebase para autenticación y Firestore.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Erick Chuquizuta · 1:00] El objetivo general es desarrollar la aplicación Android con MVVM, integrada con nuestra API, Firebase y Google Maps, para que las pymes publiquen, busquen y reserven equipos subutilizados. Los siete objetivos específicos siguen el orden de construcción del producto: requisitos, diseño, interfaz, persistencia local, API REST con Retrofit, servicios de Firebase y Maps, y verificación con pruebas automatizadas. En las conclusiones veremos el resultado de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Erick Chuquizuta · 1:30] Elegimos Scrum frente a XP y Mobile-D porque permite organizar el trabajo en sprints cortos alineados con los módulos funcionales del proyecto. Los sprints 0 a 5 cubrieron la investigación, el backlog y los prototipos, la interfaz y la navegación, la persistencia local, la API REST y Firebase. El sprint 6 integró Google Maps, los permisos y la privacidad, y el sprint 7 la integración final, las pruebas funcionales, la depuración y la optimización. El cierre comprende el informe final, el video y la sustentación. La validación de fotos con Machine Learning, las notificaciones, los pagos simulados y el panel administrativo quedan como trabajo futuro. Cada sprint tuvo planificación, revisión en GitHub y retrospectiva.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Brayan Muñoz · 1:00] Este es el stack. En la app: Kotlin con Jetpack Compose y Material 3, la arquitectura MVVM con StateFlow, Room y DataStore para trabajar sin conexión, y Retrofit con OkHttp para consumir la API. En el servidor: Node.js con Express 5. Firebase Authentication maneja el inicio de sesión y Firestore guarda favoritos y el consentimiento. Google Maps y el proveedor de ubicación de Google Play muestran los equipos cercanos. Todo es gratuito durante el desarrollo. Las versiones exactas están en el informe y en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Brayan Muñoz · 1:00] La propuesta considera restricciones reales. Por la conectividad irregular en obra, la app es offline-first. En seguridad, el servidor no confía en el cliente: verifica el token y revalida cada regla. En privacidad, el consentimiento empieza sin marcar y la ubicación es opcional. En accesibilidad seguimos las pautas WCAG y de Android. En rendimiento, usamos listas perezosas y una espera de 400 milisegundos en la búsqueda. Y en uso responsable de recursos, comprimimos fotos y evitamos el rastreo en segundo plano para ahorrar datos y batería.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Brayan Muñoz · 1:30] El Product Backlog tiene 16 historias de usuario y 107 puntos. Doce están implementadas, entre ellas la del mapa. La validación de fotos funciona con reglas automáticas y su versión con Machine Learning queda como trabajo futuro, igual que otras tres historias: notificaciones, pagos y panel administrativo. A la derecha están las ocho reglas de negocio: verificación del RUC con el algoritmo módulo 11, prevención de reservas cruzadas, comisión del 12 % que paga el arrendador, validación de la foto, calificaciones dentro de 48 horas, revisión automática de equipos mal calificados, 24 horas de anticipación y penalidad del 20 % por cancelar tarde. Todas se validan en 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Eduardo Sabroso · 1:00] Estos son algunos prototipos de alta fidelidad con la paleta de la marca. El registro valida el RUC en el momento y explica el error en texto. El catálogo permite buscar, filtrar por categoría y activar «Cerca de mí». El detalle muestra la disponibilidad real y las reseñas. Antes de confirmar, el resumen muestra días, total, comisión y política de cancelación. Y al publicar, si la foto no cumple, la app explica exactamente por qué fue rechazada. Los datos son ficticios.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Eduardo Sabroso · 1:00] El diagrama muestra el flujo completo. Al abrir la app se comprueba si hay un servidor configurado y una sesión activa. Si la empresa no ha verificado su RUC, primero debe registrarla, por la regla RN-01. Luego entra a la aplicación principal con cinco pestañas: catálogo, mapa, reservas, mis equipos y perfil. Desde el catálogo se llega al detalle, a la cotización y a la reserva; desde mis equipos, a publicar y editar. Son 11 pantallas en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Eduardo Sabroso · 1:00] La arquitectura tiene tres partes. La app Android, organizada en capas de interfaz, dominio y datos. La API REST en Node.js y Express, que recibe cada petición con el token de Firebase en la cabecera Authorization, verifica su firma con las claves públicas de Google, aplica las reglas de negocio y guarda los datos y fotos. Y los servicios de Google: Firebase Authentication y Firestore se usan directamente desde la app, y el mapa se dibuja con el SDK de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Eduardo Sabroso · 1:00] Así se aplica MVVM en el catálogo. La pantalla solo dibuja un estado inmutable y envía eventos. El ViewModel combina en un único CatalogoUiState los datos de Room, los favoritos de Firestore, el estado de la red y los filtros. El repositorio decide cuándo consultar la API y siempre entrega los datos desde Room. Abajo están los cinco estados que maneja cada pantalla: cargando, contenido, vacío, error con reintento y sin conexión.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Alexander Terrones · 1:30] En el sprint de persistencia implementamos Room con entidades de equipos y reservas; la interfaz observa flujos de Room, por eso el catálogo y las reservas se ven sin conexión. DataStore guarda la URL del servidor. El repositorio consulta la API y reemplaza la caché en una sola transacción. En el sprint de API REST construimos 21 operaciones en Express documentadas con OpenAPI, con CRUD completo de equipos y el ciclo de reservas. Todos los errores usan el mismo formato JSON; la app distingue 400, 401, 403, 404, 409, 422 y errores del servidor, además de la falta de conexión y el tiempo de espera agotado.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Alexander Terrones · 1:00] En el sprint de Firebase integramos Authentication con correo y contraseña; el servidor no confía en el cliente y verifica cada token con las claves públicas de Google. Firestore guarda los favoritos y el registro del consentimiento, con reglas que solo permiten acceder al documento propio. En el sprint de Maps mostramos los equipos en el mapa y la búsqueda por cercanía de 15 kilómetros, pidiendo solo ubicación aproximada y en contexto. Todo esto responde a la Ley 29733 y su nuevo reglamento. Si no se configura Firebase, la app funciona en modo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Alexander Terrones · 1:00] Para verificar las reglas, el servidor tiene 21 pruebas automatizadas con node:test y supertest, y todas pasan: cubren las ocho reglas, los códigos de error y la verificación del token. En la app, las 16 pruebas de la capa de dominio también pasan. Definimos 12 casos funcionales: 9 se verifican contra la API o con pruebas automatizadas y 3 en la app sobre el emulador. Además hay 7 pruebas de ViewModel con repositorios simulados que se ejecutan en Android Studio. A la derecha se ve la ejecución de las pruebas del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Rick Torres · 1:00] La primera investigación trató el marketing irresponsable en aplicaciones. Mathur y colegas encontraron 1 818 patrones oscuros en sitios de comercio electrónico, y hay casos sancionados o con compromisos ante autoridades: Amazon Prime en la Unión Europea, sitios de reserva de hoteles en el Reino Unido, ebookers ante el Tribunal de Justicia de la UE, LinkedIn y WinRed. A partir de ellos definimos seis principios implementados en la app: cancelación simétrica, disponibilidad real, nada preseleccionado, permisos explícitos, costos claros antes de confirmar y explicación de cada rechazo automático.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Rick Torres · 4:00] Ahora la demostración en el emulador. Paso 1: el servidor ya está corriendo. Paso 2: con la cuenta arrendadora intentamos publicar un equipo con una foto pequeña; el servidor la rechaza y la app muestra el motivo. Luego publicamos con una foto válida. Paso 3: con la cuenta arrendataria buscamos el equipo, vemos los días ocupados, pedimos la cotización y reservamos; si intentamos reservar para mañana, la app explica que se necesitan 24 horas de anticipación. Paso 4: volvemos a la cuenta arrendadora, confirmamos, marcamos entregado y devuelto, y calificamos. Paso 5: activamos el modo avión y mostramos que el catálogo y las reservas siguen disponibles. Plan B si falla la red: mostrar el video de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Rick Torres · 1:00] Para cerrar: se cumplieron los objetivos de requisitos, diseño, interfaz, persistencia local, API REST y servicios de Firebase y Google Maps, con la app funcionando de extremo a extremo con cuentas reales. El 100 % de las reglas de negocio está cubierto por pruebas automatizadas. La decisión de usar Room como fuente única de verdad permite que la app siga siendo útil sin conexión. Como trabajo futuro quedan la verificación del RUC con el padrón de SUNAT, la validación de fotos con TensorFlow Lite, las notificaciones push, los pagos simulados, el panel administrativo y la prueba de usabilidad con pymes de Trujillo.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E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676656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EQUISHARE · Desarrollo de Aplicaciones Móviles · UPN 2026-2</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rgbClr val="1E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3.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3.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6949440" cy="365760"/>
          </a:xfrm>
          <a:prstGeom prst="rect">
            <a:avLst/>
          </a:prstGeom>
          <a:noFill/>
          <a:ln/>
        </p:spPr>
        <p:txBody>
          <a:bodyPr wrap="square" lIns="0" tIns="0" rIns="0" bIns="0" rtlCol="0" anchor="t"/>
          <a:lstStyle/>
          <a:p>
            <a:pPr indent="0" marL="0">
              <a:spcAft>
                <a:spcPts val="400"/>
              </a:spcAft>
              <a:buNone/>
            </a:pPr>
            <a:r>
              <a:rPr lang="en-US" sz="1300" b="1" spc="100" kern="0" dirty="0">
                <a:solidFill>
                  <a:schemeClr val="accent2"/>
                </a:solidFill>
              </a:rPr>
              <a:t>DESARROLLO DE APLICACIONES MÓVILES · SUSTENTACIÓN DEL PROYECTO</a:t>
            </a:r>
            <a:endParaRPr lang="en-US" sz="1300" dirty="0"/>
          </a:p>
        </p:txBody>
      </p:sp>
      <p:sp>
        <p:nvSpPr>
          <p:cNvPr id="3" name="Text 0"/>
          <p:cNvSpPr/>
          <p:nvPr>
            <p:ph idx="100" type="title" hasCustomPrompt="1"/>
          </p:nvPr>
        </p:nvSpPr>
        <p:spPr>
          <a:xfrm>
            <a:off x="548640" y="1874520"/>
            <a:ext cx="6766560" cy="1097280"/>
          </a:xfrm>
          <a:prstGeom prst="rect">
            <a:avLst/>
          </a:prstGeom>
          <a:noFill/>
          <a:ln/>
        </p:spPr>
        <p:txBody>
          <a:bodyPr wrap="square" lIns="0" tIns="0" rIns="0" bIns="0" rtlCol="0" anchor="ctr"/>
          <a:lstStyle/>
          <a:p>
            <a:pPr algn="l" indent="0" marL="0">
              <a:buNone/>
            </a:pPr>
            <a:r>
              <a:rPr lang="en-US" sz="5400" b="1" dirty="0">
                <a:solidFill>
                  <a:schemeClr val="bg1"/>
                </a:solidFill>
              </a:rPr>
              <a:t>EQUISHARE</a:t>
            </a:r>
            <a:endParaRPr lang="en-US" sz="5400" dirty="0"/>
          </a:p>
        </p:txBody>
      </p:sp>
      <p:sp>
        <p:nvSpPr>
          <p:cNvPr id="4" name="Text 2"/>
          <p:cNvSpPr txBox="1"/>
          <p:nvPr/>
        </p:nvSpPr>
        <p:spPr>
          <a:xfrm>
            <a:off x="548640" y="3017520"/>
            <a:ext cx="6583680" cy="914400"/>
          </a:xfrm>
          <a:prstGeom prst="rect">
            <a:avLst/>
          </a:prstGeom>
          <a:noFill/>
          <a:ln/>
        </p:spPr>
        <p:txBody>
          <a:bodyPr wrap="square" lIns="0" tIns="0" rIns="0" bIns="0" rtlCol="0" anchor="t"/>
          <a:lstStyle/>
          <a:p>
            <a:pPr indent="0" marL="0">
              <a:spcAft>
                <a:spcPts val="400"/>
              </a:spcAft>
              <a:buNone/>
            </a:pPr>
            <a:r>
              <a:rPr lang="en-US" sz="2000" dirty="0">
                <a:solidFill>
                  <a:schemeClr val="bg1"/>
                </a:solidFill>
              </a:rPr>
              <a:t>Aplicación Android para el alquiler compartido de equipos entre pymes de Trujillo, alineada al ODS 12</a:t>
            </a:r>
            <a:endParaRPr lang="en-US" sz="2000" dirty="0"/>
          </a:p>
        </p:txBody>
      </p:sp>
      <p:sp>
        <p:nvSpPr>
          <p:cNvPr id="5" name="Text 3"/>
          <p:cNvSpPr txBox="1"/>
          <p:nvPr/>
        </p:nvSpPr>
        <p:spPr>
          <a:xfrm>
            <a:off x="548640" y="4251960"/>
            <a:ext cx="6675120" cy="1463040"/>
          </a:xfrm>
          <a:prstGeom prst="rect">
            <a:avLst/>
          </a:prstGeom>
          <a:noFill/>
          <a:ln/>
        </p:spPr>
        <p:txBody>
          <a:bodyPr wrap="square" lIns="0" tIns="0" rIns="0" bIns="0" rtlCol="0" anchor="t"/>
          <a:lstStyle/>
          <a:p>
            <a:pPr indent="0" marL="0">
              <a:spcAft>
                <a:spcPts val="600"/>
              </a:spcAft>
              <a:buNone/>
            </a:pPr>
            <a:r>
              <a:rPr lang="en-US" sz="1400" b="1" dirty="0">
                <a:solidFill>
                  <a:schemeClr val="accent6"/>
                </a:solidFill>
              </a:rPr>
              <a:t>Autores: </a:t>
            </a:r>
            <a:pPr indent="0" marL="0">
              <a:spcAft>
                <a:spcPts val="600"/>
              </a:spcAft>
              <a:buNone/>
            </a:pPr>
            <a:r>
              <a:rPr lang="en-US" sz="1400" dirty="0">
                <a:solidFill>
                  <a:schemeClr val="accent6"/>
                </a:solidFill>
              </a:rPr>
              <a:t>Aliaga Hilario, M. · Aspiros Bermúdez, D. · Chuquizuta Risco, E. · Muñoz Clavijo, B. · Sabroso Abanto, E. · Terrones Miranda, A. · Torres Calle, R.</a:t>
            </a:r>
            <a:endParaRPr lang="en-US" sz="1400" dirty="0"/>
          </a:p>
          <a:p>
            <a:pPr indent="0" marL="0">
              <a:spcAft>
                <a:spcPts val="600"/>
              </a:spcAft>
              <a:buNone/>
            </a:pPr>
            <a:r>
              <a:rPr lang="en-US" sz="1400" b="1" dirty="0">
                <a:solidFill>
                  <a:schemeClr val="accent6"/>
                </a:solidFill>
              </a:rPr>
              <a:t>Docente: </a:t>
            </a:r>
            <a:pPr indent="0" marL="0">
              <a:spcAft>
                <a:spcPts val="600"/>
              </a:spcAft>
              <a:buNone/>
            </a:pPr>
            <a:r>
              <a:rPr lang="en-US" sz="1400" dirty="0">
                <a:solidFill>
                  <a:schemeClr val="accent6"/>
                </a:solidFill>
              </a:rPr>
              <a:t>Tumba Burgos, Victor Piero Milcar</a:t>
            </a:r>
            <a:endParaRPr lang="en-US" sz="1400" dirty="0"/>
          </a:p>
          <a:p>
            <a:pPr indent="0" marL="0">
              <a:spcAft>
                <a:spcPts val="600"/>
              </a:spcAft>
              <a:buNone/>
            </a:pPr>
            <a:r>
              <a:rPr lang="en-US" sz="1400" dirty="0">
                <a:solidFill>
                  <a:schemeClr val="accent6"/>
                </a:solidFill>
              </a:rPr>
              <a:t>Universidad Privada del Norte · Facultad de Ingeniería · Trujillo, 2026-2</a:t>
            </a:r>
            <a:endParaRPr lang="en-US" sz="1400" dirty="0"/>
          </a:p>
        </p:txBody>
      </p:sp>
      <p:sp>
        <p:nvSpPr>
          <p:cNvPr id="6" name="fondo del logo"/>
          <p:cNvSpPr/>
          <p:nvPr/>
        </p:nvSpPr>
        <p:spPr>
          <a:xfrm>
            <a:off x="548640" y="5897880"/>
            <a:ext cx="1417320" cy="713232"/>
          </a:xfrm>
          <a:prstGeom prst="roundRect">
            <a:avLst>
              <a:gd name="adj" fmla="val 12821"/>
            </a:avLst>
          </a:prstGeom>
          <a:solidFill>
            <a:schemeClr val="bg1"/>
          </a:solidFill>
          <a:ln/>
        </p:spPr>
        <p:txBody>
          <a:bodyPr/>
          <a:p/>
        </p:txBody>
      </p:sp>
      <p:pic>
        <p:nvPicPr>
          <p:cNvPr id="7" name="logo UPN" descr="/tmp/claude-0/-home-claude/e1c37efa-6372-5adc-abd8-9b3b326cf8fa/scratchpad/tplx/word/media/image2.png">    </p:cNvPr>
          <p:cNvPicPr>
            <a:picLocks noChangeAspect="1"/>
          </p:cNvPicPr>
          <p:nvPr/>
        </p:nvPicPr>
        <p:blipFill>
          <a:blip r:embed="rId1"/>
          <a:stretch>
            <a:fillRect/>
          </a:stretch>
        </p:blipFill>
        <p:spPr>
          <a:xfrm>
            <a:off x="658368" y="5943600"/>
            <a:ext cx="1097280" cy="635508"/>
          </a:xfrm>
          <a:prstGeom prst="rect">
            <a:avLst/>
          </a:prstGeom>
        </p:spPr>
      </p:pic>
      <p:pic>
        <p:nvPicPr>
          <p:cNvPr id="8" name="captura del catálogo" descr="/home/claude/EQUISHARE/docs/figuras/proto_3.png">    </p:cNvPr>
          <p:cNvPicPr>
            <a:picLocks noChangeAspect="1"/>
          </p:cNvPicPr>
          <p:nvPr/>
        </p:nvPicPr>
        <p:blipFill>
          <a:blip r:embed="rId2"/>
          <a:stretch>
            <a:fillRect/>
          </a:stretch>
        </p:blipFill>
        <p:spPr>
          <a:xfrm>
            <a:off x="8549640" y="548640"/>
            <a:ext cx="2743200" cy="57881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Agenda</a:t>
            </a:r>
            <a:endParaRPr lang="en-US" sz="3400" dirty="0"/>
          </a:p>
        </p:txBody>
      </p:sp>
      <p:sp>
        <p:nvSpPr>
          <p:cNvPr id="3" name="tarjeta"/>
          <p:cNvSpPr/>
          <p:nvPr/>
        </p:nvSpPr>
        <p:spPr>
          <a:xfrm>
            <a:off x="548640" y="1600200"/>
            <a:ext cx="2075688" cy="4023360"/>
          </a:xfrm>
          <a:prstGeom prst="roundRect">
            <a:avLst>
              <a:gd name="adj" fmla="val 4405"/>
            </a:avLst>
          </a:prstGeom>
          <a:solidFill>
            <a:schemeClr val="bg2"/>
          </a:solidFill>
          <a:ln/>
        </p:spPr>
        <p:txBody>
          <a:bodyPr/>
          <a:p/>
        </p:txBody>
      </p:sp>
      <p:sp>
        <p:nvSpPr>
          <p:cNvPr id="4" name="Shape 2"/>
          <p:cNvSpPr/>
          <p:nvPr/>
        </p:nvSpPr>
        <p:spPr>
          <a:xfrm>
            <a:off x="777240" y="1874520"/>
            <a:ext cx="777240" cy="777240"/>
          </a:xfrm>
          <a:prstGeom prst="ellipse">
            <a:avLst/>
          </a:prstGeom>
          <a:solidFill>
            <a:schemeClr val="accent2"/>
          </a:solidFill>
          <a:ln/>
        </p:spPr>
        <p:txBody>
          <a:bodyPr/>
          <a:p/>
        </p:txBody>
      </p:sp>
      <p:sp>
        <p:nvSpPr>
          <p:cNvPr id="5" name="Text 3"/>
          <p:cNvSpPr txBox="1"/>
          <p:nvPr/>
        </p:nvSpPr>
        <p:spPr>
          <a:xfrm>
            <a:off x="777240" y="1874520"/>
            <a:ext cx="777240" cy="777240"/>
          </a:xfrm>
          <a:prstGeom prst="rect">
            <a:avLst/>
          </a:prstGeom>
          <a:noFill/>
          <a:ln/>
        </p:spPr>
        <p:txBody>
          <a:bodyPr wrap="square" lIns="0" tIns="0" rIns="0" bIns="0" rtlCol="0" anchor="ctr"/>
          <a:lstStyle/>
          <a:p>
            <a:pPr algn="ctr" indent="0" marL="0">
              <a:spcAft>
                <a:spcPts val="400"/>
              </a:spcAft>
              <a:buNone/>
            </a:pPr>
            <a:r>
              <a:rPr lang="en-US" sz="2600" b="1" dirty="0">
                <a:solidFill>
                  <a:schemeClr val="bg1"/>
                </a:solidFill>
                <a:latin typeface="Cambria" pitchFamily="34" charset="0"/>
                <a:ea typeface="Cambria" pitchFamily="34" charset="-122"/>
                <a:cs typeface="Cambria" pitchFamily="34" charset="-120"/>
              </a:rPr>
              <a:t>1</a:t>
            </a:r>
            <a:endParaRPr lang="en-US" sz="2600" dirty="0"/>
          </a:p>
        </p:txBody>
      </p:sp>
      <p:sp>
        <p:nvSpPr>
          <p:cNvPr id="6" name="Text 4"/>
          <p:cNvSpPr txBox="1"/>
          <p:nvPr/>
        </p:nvSpPr>
        <p:spPr>
          <a:xfrm>
            <a:off x="777240" y="2834640"/>
            <a:ext cx="1691640" cy="7772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Problema y ODS 12</a:t>
            </a:r>
            <a:endParaRPr lang="en-US" sz="1800" dirty="0"/>
          </a:p>
        </p:txBody>
      </p:sp>
      <p:sp>
        <p:nvSpPr>
          <p:cNvPr id="7" name="Text 5"/>
          <p:cNvSpPr txBox="1"/>
          <p:nvPr/>
        </p:nvSpPr>
        <p:spPr>
          <a:xfrm>
            <a:off x="777240" y="3657600"/>
            <a:ext cx="169164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Contexto, cifras y metas del ODS 12</a:t>
            </a:r>
            <a:endParaRPr lang="en-US" sz="1400" dirty="0"/>
          </a:p>
        </p:txBody>
      </p:sp>
      <p:sp>
        <p:nvSpPr>
          <p:cNvPr id="8" name="Text 6"/>
          <p:cNvSpPr txBox="1"/>
          <p:nvPr/>
        </p:nvSpPr>
        <p:spPr>
          <a:xfrm>
            <a:off x="777240" y="4983480"/>
            <a:ext cx="1691640" cy="457200"/>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Aliaga</a:t>
            </a:r>
            <a:endParaRPr lang="en-US" sz="1200" dirty="0"/>
          </a:p>
        </p:txBody>
      </p:sp>
      <p:sp>
        <p:nvSpPr>
          <p:cNvPr id="9" name="tarjeta"/>
          <p:cNvSpPr/>
          <p:nvPr/>
        </p:nvSpPr>
        <p:spPr>
          <a:xfrm>
            <a:off x="2807208" y="1600200"/>
            <a:ext cx="2075688" cy="4023360"/>
          </a:xfrm>
          <a:prstGeom prst="roundRect">
            <a:avLst>
              <a:gd name="adj" fmla="val 4405"/>
            </a:avLst>
          </a:prstGeom>
          <a:solidFill>
            <a:schemeClr val="bg2"/>
          </a:solidFill>
          <a:ln/>
        </p:spPr>
        <p:txBody>
          <a:bodyPr/>
          <a:p/>
        </p:txBody>
      </p:sp>
      <p:sp>
        <p:nvSpPr>
          <p:cNvPr id="10" name="Shape 8"/>
          <p:cNvSpPr/>
          <p:nvPr/>
        </p:nvSpPr>
        <p:spPr>
          <a:xfrm>
            <a:off x="3035808" y="1874520"/>
            <a:ext cx="777240" cy="777240"/>
          </a:xfrm>
          <a:prstGeom prst="ellipse">
            <a:avLst/>
          </a:prstGeom>
          <a:solidFill>
            <a:schemeClr val="accent2"/>
          </a:solidFill>
          <a:ln/>
        </p:spPr>
        <p:txBody>
          <a:bodyPr/>
          <a:p/>
        </p:txBody>
      </p:sp>
      <p:sp>
        <p:nvSpPr>
          <p:cNvPr id="11" name="Text 9"/>
          <p:cNvSpPr txBox="1"/>
          <p:nvPr/>
        </p:nvSpPr>
        <p:spPr>
          <a:xfrm>
            <a:off x="3035808" y="1874520"/>
            <a:ext cx="777240" cy="777240"/>
          </a:xfrm>
          <a:prstGeom prst="rect">
            <a:avLst/>
          </a:prstGeom>
          <a:noFill/>
          <a:ln/>
        </p:spPr>
        <p:txBody>
          <a:bodyPr wrap="square" lIns="0" tIns="0" rIns="0" bIns="0" rtlCol="0" anchor="ctr"/>
          <a:lstStyle/>
          <a:p>
            <a:pPr algn="ctr" indent="0" marL="0">
              <a:spcAft>
                <a:spcPts val="400"/>
              </a:spcAft>
              <a:buNone/>
            </a:pPr>
            <a:r>
              <a:rPr lang="en-US" sz="2600" b="1" dirty="0">
                <a:solidFill>
                  <a:schemeClr val="bg1"/>
                </a:solidFill>
                <a:latin typeface="Cambria" pitchFamily="34" charset="0"/>
                <a:ea typeface="Cambria" pitchFamily="34" charset="-122"/>
                <a:cs typeface="Cambria" pitchFamily="34" charset="-120"/>
              </a:rPr>
              <a:t>2</a:t>
            </a:r>
            <a:endParaRPr lang="en-US" sz="2600" dirty="0"/>
          </a:p>
        </p:txBody>
      </p:sp>
      <p:sp>
        <p:nvSpPr>
          <p:cNvPr id="12" name="Text 10"/>
          <p:cNvSpPr txBox="1"/>
          <p:nvPr/>
        </p:nvSpPr>
        <p:spPr>
          <a:xfrm>
            <a:off x="3035808" y="2834640"/>
            <a:ext cx="1691640" cy="7772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Análisis y propuesta</a:t>
            </a:r>
            <a:endParaRPr lang="en-US" sz="1800" dirty="0"/>
          </a:p>
        </p:txBody>
      </p:sp>
      <p:sp>
        <p:nvSpPr>
          <p:cNvPr id="13" name="Text 11"/>
          <p:cNvSpPr txBox="1"/>
          <p:nvPr/>
        </p:nvSpPr>
        <p:spPr>
          <a:xfrm>
            <a:off x="3035808" y="3657600"/>
            <a:ext cx="169164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Ishikawa, pregunta, antecedentes, propuestas y objetivos</a:t>
            </a:r>
            <a:endParaRPr lang="en-US" sz="1400" dirty="0"/>
          </a:p>
        </p:txBody>
      </p:sp>
      <p:sp>
        <p:nvSpPr>
          <p:cNvPr id="14" name="Text 12"/>
          <p:cNvSpPr txBox="1"/>
          <p:nvPr/>
        </p:nvSpPr>
        <p:spPr>
          <a:xfrm>
            <a:off x="3035808" y="4983480"/>
            <a:ext cx="1691640" cy="457200"/>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Aspiros · Chuquizuta</a:t>
            </a:r>
            <a:endParaRPr lang="en-US" sz="1200" dirty="0"/>
          </a:p>
        </p:txBody>
      </p:sp>
      <p:sp>
        <p:nvSpPr>
          <p:cNvPr id="15" name="tarjeta"/>
          <p:cNvSpPr/>
          <p:nvPr/>
        </p:nvSpPr>
        <p:spPr>
          <a:xfrm>
            <a:off x="5065776" y="1600200"/>
            <a:ext cx="2075688" cy="4023360"/>
          </a:xfrm>
          <a:prstGeom prst="roundRect">
            <a:avLst>
              <a:gd name="adj" fmla="val 4405"/>
            </a:avLst>
          </a:prstGeom>
          <a:solidFill>
            <a:schemeClr val="bg2"/>
          </a:solidFill>
          <a:ln/>
        </p:spPr>
        <p:txBody>
          <a:bodyPr/>
          <a:p/>
        </p:txBody>
      </p:sp>
      <p:sp>
        <p:nvSpPr>
          <p:cNvPr id="16" name="Shape 14"/>
          <p:cNvSpPr/>
          <p:nvPr/>
        </p:nvSpPr>
        <p:spPr>
          <a:xfrm>
            <a:off x="5294376" y="1874520"/>
            <a:ext cx="777240" cy="777240"/>
          </a:xfrm>
          <a:prstGeom prst="ellipse">
            <a:avLst/>
          </a:prstGeom>
          <a:solidFill>
            <a:schemeClr val="accent2"/>
          </a:solidFill>
          <a:ln/>
        </p:spPr>
        <p:txBody>
          <a:bodyPr/>
          <a:p/>
        </p:txBody>
      </p:sp>
      <p:sp>
        <p:nvSpPr>
          <p:cNvPr id="17" name="Text 15"/>
          <p:cNvSpPr txBox="1"/>
          <p:nvPr/>
        </p:nvSpPr>
        <p:spPr>
          <a:xfrm>
            <a:off x="5294376" y="1874520"/>
            <a:ext cx="777240" cy="777240"/>
          </a:xfrm>
          <a:prstGeom prst="rect">
            <a:avLst/>
          </a:prstGeom>
          <a:noFill/>
          <a:ln/>
        </p:spPr>
        <p:txBody>
          <a:bodyPr wrap="square" lIns="0" tIns="0" rIns="0" bIns="0" rtlCol="0" anchor="ctr"/>
          <a:lstStyle/>
          <a:p>
            <a:pPr algn="ctr" indent="0" marL="0">
              <a:spcAft>
                <a:spcPts val="400"/>
              </a:spcAft>
              <a:buNone/>
            </a:pPr>
            <a:r>
              <a:rPr lang="en-US" sz="2600" b="1" dirty="0">
                <a:solidFill>
                  <a:schemeClr val="bg1"/>
                </a:solidFill>
                <a:latin typeface="Cambria" pitchFamily="34" charset="0"/>
                <a:ea typeface="Cambria" pitchFamily="34" charset="-122"/>
                <a:cs typeface="Cambria" pitchFamily="34" charset="-120"/>
              </a:rPr>
              <a:t>3</a:t>
            </a:r>
            <a:endParaRPr lang="en-US" sz="2600" dirty="0"/>
          </a:p>
        </p:txBody>
      </p:sp>
      <p:sp>
        <p:nvSpPr>
          <p:cNvPr id="18" name="Text 16"/>
          <p:cNvSpPr txBox="1"/>
          <p:nvPr/>
        </p:nvSpPr>
        <p:spPr>
          <a:xfrm>
            <a:off x="5294376" y="2834640"/>
            <a:ext cx="1691640" cy="7772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Herramientas y metodología</a:t>
            </a:r>
            <a:endParaRPr lang="en-US" sz="1800" dirty="0"/>
          </a:p>
        </p:txBody>
      </p:sp>
      <p:sp>
        <p:nvSpPr>
          <p:cNvPr id="19" name="Text 17"/>
          <p:cNvSpPr txBox="1"/>
          <p:nvPr/>
        </p:nvSpPr>
        <p:spPr>
          <a:xfrm>
            <a:off x="5294376" y="3657600"/>
            <a:ext cx="169164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Scrum, tecnologías, restricciones y backlog</a:t>
            </a:r>
            <a:endParaRPr lang="en-US" sz="1400" dirty="0"/>
          </a:p>
        </p:txBody>
      </p:sp>
      <p:sp>
        <p:nvSpPr>
          <p:cNvPr id="20" name="Text 18"/>
          <p:cNvSpPr txBox="1"/>
          <p:nvPr/>
        </p:nvSpPr>
        <p:spPr>
          <a:xfrm>
            <a:off x="5294376" y="4983480"/>
            <a:ext cx="1691640" cy="457200"/>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Chuquizuta · Muñoz</a:t>
            </a:r>
            <a:endParaRPr lang="en-US" sz="1200" dirty="0"/>
          </a:p>
        </p:txBody>
      </p:sp>
      <p:sp>
        <p:nvSpPr>
          <p:cNvPr id="21" name="tarjeta"/>
          <p:cNvSpPr/>
          <p:nvPr/>
        </p:nvSpPr>
        <p:spPr>
          <a:xfrm>
            <a:off x="7324344" y="1600200"/>
            <a:ext cx="2075688" cy="4023360"/>
          </a:xfrm>
          <a:prstGeom prst="roundRect">
            <a:avLst>
              <a:gd name="adj" fmla="val 4405"/>
            </a:avLst>
          </a:prstGeom>
          <a:solidFill>
            <a:schemeClr val="bg2"/>
          </a:solidFill>
          <a:ln/>
        </p:spPr>
        <p:txBody>
          <a:bodyPr/>
          <a:p/>
        </p:txBody>
      </p:sp>
      <p:sp>
        <p:nvSpPr>
          <p:cNvPr id="22" name="Shape 20"/>
          <p:cNvSpPr/>
          <p:nvPr/>
        </p:nvSpPr>
        <p:spPr>
          <a:xfrm>
            <a:off x="7552944" y="1874520"/>
            <a:ext cx="777240" cy="777240"/>
          </a:xfrm>
          <a:prstGeom prst="ellipse">
            <a:avLst/>
          </a:prstGeom>
          <a:solidFill>
            <a:schemeClr val="accent2"/>
          </a:solidFill>
          <a:ln/>
        </p:spPr>
        <p:txBody>
          <a:bodyPr/>
          <a:p/>
        </p:txBody>
      </p:sp>
      <p:sp>
        <p:nvSpPr>
          <p:cNvPr id="23" name="Text 21"/>
          <p:cNvSpPr txBox="1"/>
          <p:nvPr/>
        </p:nvSpPr>
        <p:spPr>
          <a:xfrm>
            <a:off x="7552944" y="1874520"/>
            <a:ext cx="777240" cy="777240"/>
          </a:xfrm>
          <a:prstGeom prst="rect">
            <a:avLst/>
          </a:prstGeom>
          <a:noFill/>
          <a:ln/>
        </p:spPr>
        <p:txBody>
          <a:bodyPr wrap="square" lIns="0" tIns="0" rIns="0" bIns="0" rtlCol="0" anchor="ctr"/>
          <a:lstStyle/>
          <a:p>
            <a:pPr algn="ctr" indent="0" marL="0">
              <a:spcAft>
                <a:spcPts val="400"/>
              </a:spcAft>
              <a:buNone/>
            </a:pPr>
            <a:r>
              <a:rPr lang="en-US" sz="2600" b="1" dirty="0">
                <a:solidFill>
                  <a:schemeClr val="bg1"/>
                </a:solidFill>
                <a:latin typeface="Cambria" pitchFamily="34" charset="0"/>
                <a:ea typeface="Cambria" pitchFamily="34" charset="-122"/>
                <a:cs typeface="Cambria" pitchFamily="34" charset="-120"/>
              </a:rPr>
              <a:t>4</a:t>
            </a:r>
            <a:endParaRPr lang="en-US" sz="2600" dirty="0"/>
          </a:p>
        </p:txBody>
      </p:sp>
      <p:sp>
        <p:nvSpPr>
          <p:cNvPr id="24" name="Text 22"/>
          <p:cNvSpPr txBox="1"/>
          <p:nvPr/>
        </p:nvSpPr>
        <p:spPr>
          <a:xfrm>
            <a:off x="7552944" y="2834640"/>
            <a:ext cx="1691640" cy="7772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Diseño y arquitectura</a:t>
            </a:r>
            <a:endParaRPr lang="en-US" sz="1800" dirty="0"/>
          </a:p>
        </p:txBody>
      </p:sp>
      <p:sp>
        <p:nvSpPr>
          <p:cNvPr id="25" name="Text 23"/>
          <p:cNvSpPr txBox="1"/>
          <p:nvPr/>
        </p:nvSpPr>
        <p:spPr>
          <a:xfrm>
            <a:off x="7552944" y="3657600"/>
            <a:ext cx="169164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Prototipos, flujo de pantallas, arquitectura y MVVM</a:t>
            </a:r>
            <a:endParaRPr lang="en-US" sz="1400" dirty="0"/>
          </a:p>
        </p:txBody>
      </p:sp>
      <p:sp>
        <p:nvSpPr>
          <p:cNvPr id="26" name="Text 24"/>
          <p:cNvSpPr txBox="1"/>
          <p:nvPr/>
        </p:nvSpPr>
        <p:spPr>
          <a:xfrm>
            <a:off x="7552944" y="4983480"/>
            <a:ext cx="1691640" cy="457200"/>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Sabroso</a:t>
            </a:r>
            <a:endParaRPr lang="en-US" sz="1200" dirty="0"/>
          </a:p>
        </p:txBody>
      </p:sp>
      <p:sp>
        <p:nvSpPr>
          <p:cNvPr id="27" name="tarjeta"/>
          <p:cNvSpPr/>
          <p:nvPr/>
        </p:nvSpPr>
        <p:spPr>
          <a:xfrm>
            <a:off x="9582912" y="1600200"/>
            <a:ext cx="2075688" cy="4023360"/>
          </a:xfrm>
          <a:prstGeom prst="roundRect">
            <a:avLst>
              <a:gd name="adj" fmla="val 4405"/>
            </a:avLst>
          </a:prstGeom>
          <a:solidFill>
            <a:schemeClr val="bg2"/>
          </a:solidFill>
          <a:ln/>
        </p:spPr>
        <p:txBody>
          <a:bodyPr/>
          <a:p/>
        </p:txBody>
      </p:sp>
      <p:sp>
        <p:nvSpPr>
          <p:cNvPr id="28" name="Shape 26"/>
          <p:cNvSpPr/>
          <p:nvPr/>
        </p:nvSpPr>
        <p:spPr>
          <a:xfrm>
            <a:off x="9811512" y="1874520"/>
            <a:ext cx="777240" cy="777240"/>
          </a:xfrm>
          <a:prstGeom prst="ellipse">
            <a:avLst/>
          </a:prstGeom>
          <a:solidFill>
            <a:schemeClr val="accent2"/>
          </a:solidFill>
          <a:ln/>
        </p:spPr>
        <p:txBody>
          <a:bodyPr/>
          <a:p/>
        </p:txBody>
      </p:sp>
      <p:sp>
        <p:nvSpPr>
          <p:cNvPr id="29" name="Text 27"/>
          <p:cNvSpPr txBox="1"/>
          <p:nvPr/>
        </p:nvSpPr>
        <p:spPr>
          <a:xfrm>
            <a:off x="9811512" y="1874520"/>
            <a:ext cx="777240" cy="777240"/>
          </a:xfrm>
          <a:prstGeom prst="rect">
            <a:avLst/>
          </a:prstGeom>
          <a:noFill/>
          <a:ln/>
        </p:spPr>
        <p:txBody>
          <a:bodyPr wrap="square" lIns="0" tIns="0" rIns="0" bIns="0" rtlCol="0" anchor="ctr"/>
          <a:lstStyle/>
          <a:p>
            <a:pPr algn="ctr" indent="0" marL="0">
              <a:spcAft>
                <a:spcPts val="400"/>
              </a:spcAft>
              <a:buNone/>
            </a:pPr>
            <a:r>
              <a:rPr lang="en-US" sz="2600" b="1" dirty="0">
                <a:solidFill>
                  <a:schemeClr val="bg1"/>
                </a:solidFill>
                <a:latin typeface="Cambria" pitchFamily="34" charset="0"/>
                <a:ea typeface="Cambria" pitchFamily="34" charset="-122"/>
                <a:cs typeface="Cambria" pitchFamily="34" charset="-120"/>
              </a:rPr>
              <a:t>5</a:t>
            </a:r>
            <a:endParaRPr lang="en-US" sz="2600" dirty="0"/>
          </a:p>
        </p:txBody>
      </p:sp>
      <p:sp>
        <p:nvSpPr>
          <p:cNvPr id="30" name="Text 28"/>
          <p:cNvSpPr txBox="1"/>
          <p:nvPr/>
        </p:nvSpPr>
        <p:spPr>
          <a:xfrm>
            <a:off x="9811512" y="2834640"/>
            <a:ext cx="1691640" cy="7772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Implementación y pruebas</a:t>
            </a:r>
            <a:endParaRPr lang="en-US" sz="1800" dirty="0"/>
          </a:p>
        </p:txBody>
      </p:sp>
      <p:sp>
        <p:nvSpPr>
          <p:cNvPr id="31" name="Text 29"/>
          <p:cNvSpPr txBox="1"/>
          <p:nvPr/>
        </p:nvSpPr>
        <p:spPr>
          <a:xfrm>
            <a:off x="9811512" y="3657600"/>
            <a:ext cx="169164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Persistencia, API REST, Firebase, Maps, pruebas, ética y demo</a:t>
            </a:r>
            <a:endParaRPr lang="en-US" sz="1400" dirty="0"/>
          </a:p>
        </p:txBody>
      </p:sp>
      <p:sp>
        <p:nvSpPr>
          <p:cNvPr id="32" name="Text 30"/>
          <p:cNvSpPr txBox="1"/>
          <p:nvPr/>
        </p:nvSpPr>
        <p:spPr>
          <a:xfrm>
            <a:off x="9811512" y="4983480"/>
            <a:ext cx="1691640" cy="457200"/>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Terrones · Torres</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Equipos ociosos en un país de mypes</a:t>
            </a:r>
            <a:endParaRPr lang="en-US" sz="3400" dirty="0"/>
          </a:p>
        </p:txBody>
      </p:sp>
      <p:sp>
        <p:nvSpPr>
          <p:cNvPr id="3" name="Text 1"/>
          <p:cNvSpPr txBox="1"/>
          <p:nvPr/>
        </p:nvSpPr>
        <p:spPr>
          <a:xfrm>
            <a:off x="548640" y="1325880"/>
            <a:ext cx="5303520" cy="41148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El problema</a:t>
            </a:r>
            <a:endParaRPr lang="en-US" sz="2000" dirty="0"/>
          </a:p>
        </p:txBody>
      </p:sp>
      <p:sp>
        <p:nvSpPr>
          <p:cNvPr id="4" name="Text 2"/>
          <p:cNvSpPr txBox="1"/>
          <p:nvPr/>
        </p:nvSpPr>
        <p:spPr>
          <a:xfrm>
            <a:off x="6355080" y="1325880"/>
            <a:ext cx="5303520" cy="41148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¿Por qué una app Android?</a:t>
            </a:r>
            <a:endParaRPr lang="en-US" sz="2000" dirty="0"/>
          </a:p>
        </p:txBody>
      </p:sp>
      <p:sp>
        <p:nvSpPr>
          <p:cNvPr id="5" name="tarjeta"/>
          <p:cNvSpPr/>
          <p:nvPr/>
        </p:nvSpPr>
        <p:spPr>
          <a:xfrm>
            <a:off x="548640" y="1874520"/>
            <a:ext cx="5257800" cy="1143000"/>
          </a:xfrm>
          <a:prstGeom prst="roundRect">
            <a:avLst>
              <a:gd name="adj" fmla="val 8000"/>
            </a:avLst>
          </a:prstGeom>
          <a:solidFill>
            <a:schemeClr val="bg2"/>
          </a:solidFill>
          <a:ln/>
        </p:spPr>
        <p:txBody>
          <a:bodyPr/>
          <a:p/>
        </p:txBody>
      </p:sp>
      <p:sp>
        <p:nvSpPr>
          <p:cNvPr id="6" name="Text 4"/>
          <p:cNvSpPr txBox="1"/>
          <p:nvPr/>
        </p:nvSpPr>
        <p:spPr>
          <a:xfrm>
            <a:off x="777240" y="2011680"/>
            <a:ext cx="2011680" cy="868680"/>
          </a:xfrm>
          <a:prstGeom prst="rect">
            <a:avLst/>
          </a:prstGeom>
          <a:noFill/>
          <a:ln/>
        </p:spPr>
        <p:txBody>
          <a:bodyPr wrap="square" lIns="0" tIns="0" rIns="0" bIns="0" rtlCol="0" anchor="ctr"/>
          <a:lstStyle/>
          <a:p>
            <a:pPr indent="0" marL="0">
              <a:spcAft>
                <a:spcPts val="400"/>
              </a:spcAft>
              <a:buNone/>
            </a:pPr>
            <a:r>
              <a:rPr lang="en-US" sz="3600" b="1" dirty="0">
                <a:solidFill>
                  <a:schemeClr val="tx2"/>
                </a:solidFill>
                <a:latin typeface="Cambria" pitchFamily="34" charset="0"/>
                <a:ea typeface="Cambria" pitchFamily="34" charset="-122"/>
                <a:cs typeface="Cambria" pitchFamily="34" charset="-120"/>
              </a:rPr>
              <a:t>99,1 %</a:t>
            </a:r>
            <a:endParaRPr lang="en-US" sz="3600" dirty="0"/>
          </a:p>
        </p:txBody>
      </p:sp>
      <p:sp>
        <p:nvSpPr>
          <p:cNvPr id="7" name="Text 5"/>
          <p:cNvSpPr txBox="1"/>
          <p:nvPr/>
        </p:nvSpPr>
        <p:spPr>
          <a:xfrm>
            <a:off x="2880360" y="2011680"/>
            <a:ext cx="2743200" cy="86868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de 2 346 592 empresas formales del Perú son mypes (2024)</a:t>
            </a:r>
            <a:endParaRPr lang="en-US" sz="1500" dirty="0"/>
          </a:p>
        </p:txBody>
      </p:sp>
      <p:sp>
        <p:nvSpPr>
          <p:cNvPr id="8" name="tarjeta"/>
          <p:cNvSpPr/>
          <p:nvPr/>
        </p:nvSpPr>
        <p:spPr>
          <a:xfrm>
            <a:off x="548640" y="3200400"/>
            <a:ext cx="5257800" cy="1143000"/>
          </a:xfrm>
          <a:prstGeom prst="roundRect">
            <a:avLst>
              <a:gd name="adj" fmla="val 8000"/>
            </a:avLst>
          </a:prstGeom>
          <a:solidFill>
            <a:schemeClr val="bg2"/>
          </a:solidFill>
          <a:ln/>
        </p:spPr>
        <p:txBody>
          <a:bodyPr/>
          <a:p/>
        </p:txBody>
      </p:sp>
      <p:sp>
        <p:nvSpPr>
          <p:cNvPr id="9" name="Text 7"/>
          <p:cNvSpPr txBox="1"/>
          <p:nvPr/>
        </p:nvSpPr>
        <p:spPr>
          <a:xfrm>
            <a:off x="777240" y="3337560"/>
            <a:ext cx="2011680" cy="868680"/>
          </a:xfrm>
          <a:prstGeom prst="rect">
            <a:avLst/>
          </a:prstGeom>
          <a:noFill/>
          <a:ln/>
        </p:spPr>
        <p:txBody>
          <a:bodyPr wrap="square" lIns="0" tIns="0" rIns="0" bIns="0" rtlCol="0" anchor="ctr"/>
          <a:lstStyle/>
          <a:p>
            <a:pPr indent="0" marL="0">
              <a:spcAft>
                <a:spcPts val="400"/>
              </a:spcAft>
              <a:buNone/>
            </a:pPr>
            <a:r>
              <a:rPr lang="en-US" sz="3600" b="1" dirty="0">
                <a:solidFill>
                  <a:schemeClr val="tx2"/>
                </a:solidFill>
                <a:latin typeface="Cambria" pitchFamily="34" charset="0"/>
                <a:ea typeface="Cambria" pitchFamily="34" charset="-122"/>
                <a:cs typeface="Cambria" pitchFamily="34" charset="-120"/>
              </a:rPr>
              <a:t>123 162</a:t>
            </a:r>
            <a:endParaRPr lang="en-US" sz="3600" dirty="0"/>
          </a:p>
        </p:txBody>
      </p:sp>
      <p:sp>
        <p:nvSpPr>
          <p:cNvPr id="10" name="Text 8"/>
          <p:cNvSpPr txBox="1"/>
          <p:nvPr/>
        </p:nvSpPr>
        <p:spPr>
          <a:xfrm>
            <a:off x="2880360" y="3337560"/>
            <a:ext cx="2743200" cy="86868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mypes formales en La Libertad, el 5,3 % del país</a:t>
            </a:r>
            <a:endParaRPr lang="en-US" sz="1500" dirty="0"/>
          </a:p>
        </p:txBody>
      </p:sp>
      <p:sp>
        <p:nvSpPr>
          <p:cNvPr id="11" name="tarjeta"/>
          <p:cNvSpPr/>
          <p:nvPr/>
        </p:nvSpPr>
        <p:spPr>
          <a:xfrm>
            <a:off x="548640" y="4526280"/>
            <a:ext cx="5257800" cy="1143000"/>
          </a:xfrm>
          <a:prstGeom prst="roundRect">
            <a:avLst>
              <a:gd name="adj" fmla="val 8000"/>
            </a:avLst>
          </a:prstGeom>
          <a:solidFill>
            <a:schemeClr val="bg2"/>
          </a:solidFill>
          <a:ln/>
        </p:spPr>
        <p:txBody>
          <a:bodyPr/>
          <a:p/>
        </p:txBody>
      </p:sp>
      <p:sp>
        <p:nvSpPr>
          <p:cNvPr id="12" name="Text 10"/>
          <p:cNvSpPr txBox="1"/>
          <p:nvPr/>
        </p:nvSpPr>
        <p:spPr>
          <a:xfrm>
            <a:off x="777240" y="4663440"/>
            <a:ext cx="2011680" cy="868680"/>
          </a:xfrm>
          <a:prstGeom prst="rect">
            <a:avLst/>
          </a:prstGeom>
          <a:noFill/>
          <a:ln/>
        </p:spPr>
        <p:txBody>
          <a:bodyPr wrap="square" lIns="0" tIns="0" rIns="0" bIns="0" rtlCol="0" anchor="ctr"/>
          <a:lstStyle/>
          <a:p>
            <a:pPr indent="0" marL="0">
              <a:spcAft>
                <a:spcPts val="400"/>
              </a:spcAft>
              <a:buNone/>
            </a:pPr>
            <a:r>
              <a:rPr lang="en-US" sz="3600" b="1" dirty="0">
                <a:solidFill>
                  <a:schemeClr val="tx2"/>
                </a:solidFill>
                <a:latin typeface="Cambria" pitchFamily="34" charset="0"/>
                <a:ea typeface="Cambria" pitchFamily="34" charset="-122"/>
                <a:cs typeface="Cambria" pitchFamily="34" charset="-120"/>
              </a:rPr>
              <a:t>≈ 75 %</a:t>
            </a:r>
            <a:endParaRPr lang="en-US" sz="3600" dirty="0"/>
          </a:p>
        </p:txBody>
      </p:sp>
      <p:sp>
        <p:nvSpPr>
          <p:cNvPr id="13" name="Text 11"/>
          <p:cNvSpPr txBox="1"/>
          <p:nvPr/>
        </p:nvSpPr>
        <p:spPr>
          <a:xfrm>
            <a:off x="2880360" y="4663440"/>
            <a:ext cx="2743200" cy="86868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del tiempo permanecen sin uso las grúas en los patios de obra (Sharemac)</a:t>
            </a:r>
            <a:endParaRPr lang="en-US" sz="1500" dirty="0"/>
          </a:p>
        </p:txBody>
      </p:sp>
      <p:sp>
        <p:nvSpPr>
          <p:cNvPr id="14" name="tarjeta"/>
          <p:cNvSpPr/>
          <p:nvPr/>
        </p:nvSpPr>
        <p:spPr>
          <a:xfrm>
            <a:off x="6355080" y="1874520"/>
            <a:ext cx="5257800" cy="1143000"/>
          </a:xfrm>
          <a:prstGeom prst="roundRect">
            <a:avLst>
              <a:gd name="adj" fmla="val 8000"/>
            </a:avLst>
          </a:prstGeom>
          <a:solidFill>
            <a:schemeClr val="bg2"/>
          </a:solidFill>
          <a:ln/>
        </p:spPr>
        <p:txBody>
          <a:bodyPr/>
          <a:p/>
        </p:txBody>
      </p:sp>
      <p:sp>
        <p:nvSpPr>
          <p:cNvPr id="15" name="Text 13"/>
          <p:cNvSpPr txBox="1"/>
          <p:nvPr/>
        </p:nvSpPr>
        <p:spPr>
          <a:xfrm>
            <a:off x="6583680" y="2011680"/>
            <a:ext cx="2011680" cy="868680"/>
          </a:xfrm>
          <a:prstGeom prst="rect">
            <a:avLst/>
          </a:prstGeom>
          <a:noFill/>
          <a:ln/>
        </p:spPr>
        <p:txBody>
          <a:bodyPr wrap="square" lIns="0" tIns="0" rIns="0" bIns="0" rtlCol="0" anchor="ctr"/>
          <a:lstStyle/>
          <a:p>
            <a:pPr indent="0" marL="0">
              <a:spcAft>
                <a:spcPts val="400"/>
              </a:spcAft>
              <a:buNone/>
            </a:pPr>
            <a:r>
              <a:rPr lang="en-US" sz="3600" b="1" dirty="0">
                <a:solidFill>
                  <a:schemeClr val="accent3"/>
                </a:solidFill>
                <a:latin typeface="Cambria" pitchFamily="34" charset="0"/>
                <a:ea typeface="Cambria" pitchFamily="34" charset="-122"/>
                <a:cs typeface="Cambria" pitchFamily="34" charset="-120"/>
              </a:rPr>
              <a:t>95,9 %</a:t>
            </a:r>
            <a:endParaRPr lang="en-US" sz="3600" dirty="0"/>
          </a:p>
        </p:txBody>
      </p:sp>
      <p:sp>
        <p:nvSpPr>
          <p:cNvPr id="16" name="Text 14"/>
          <p:cNvSpPr txBox="1"/>
          <p:nvPr/>
        </p:nvSpPr>
        <p:spPr>
          <a:xfrm>
            <a:off x="8686800" y="2011680"/>
            <a:ext cx="2743200" cy="86868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de los hogares peruanos tiene al menos un celular (II trim. 2026)</a:t>
            </a:r>
            <a:endParaRPr lang="en-US" sz="1500" dirty="0"/>
          </a:p>
        </p:txBody>
      </p:sp>
      <p:sp>
        <p:nvSpPr>
          <p:cNvPr id="17" name="tarjeta"/>
          <p:cNvSpPr/>
          <p:nvPr/>
        </p:nvSpPr>
        <p:spPr>
          <a:xfrm>
            <a:off x="6355080" y="3200400"/>
            <a:ext cx="5257800" cy="1143000"/>
          </a:xfrm>
          <a:prstGeom prst="roundRect">
            <a:avLst>
              <a:gd name="adj" fmla="val 8000"/>
            </a:avLst>
          </a:prstGeom>
          <a:solidFill>
            <a:schemeClr val="bg2"/>
          </a:solidFill>
          <a:ln/>
        </p:spPr>
        <p:txBody>
          <a:bodyPr/>
          <a:p/>
        </p:txBody>
      </p:sp>
      <p:sp>
        <p:nvSpPr>
          <p:cNvPr id="18" name="Text 16"/>
          <p:cNvSpPr txBox="1"/>
          <p:nvPr/>
        </p:nvSpPr>
        <p:spPr>
          <a:xfrm>
            <a:off x="6583680" y="3337560"/>
            <a:ext cx="2011680" cy="868680"/>
          </a:xfrm>
          <a:prstGeom prst="rect">
            <a:avLst/>
          </a:prstGeom>
          <a:noFill/>
          <a:ln/>
        </p:spPr>
        <p:txBody>
          <a:bodyPr wrap="square" lIns="0" tIns="0" rIns="0" bIns="0" rtlCol="0" anchor="ctr"/>
          <a:lstStyle/>
          <a:p>
            <a:pPr indent="0" marL="0">
              <a:spcAft>
                <a:spcPts val="400"/>
              </a:spcAft>
              <a:buNone/>
            </a:pPr>
            <a:r>
              <a:rPr lang="en-US" sz="3600" b="1" dirty="0">
                <a:solidFill>
                  <a:schemeClr val="accent3"/>
                </a:solidFill>
                <a:latin typeface="Cambria" pitchFamily="34" charset="0"/>
                <a:ea typeface="Cambria" pitchFamily="34" charset="-122"/>
                <a:cs typeface="Cambria" pitchFamily="34" charset="-120"/>
              </a:rPr>
              <a:t>90,2 %</a:t>
            </a:r>
            <a:endParaRPr lang="en-US" sz="3600" dirty="0"/>
          </a:p>
        </p:txBody>
      </p:sp>
      <p:sp>
        <p:nvSpPr>
          <p:cNvPr id="19" name="Text 17"/>
          <p:cNvSpPr txBox="1"/>
          <p:nvPr/>
        </p:nvSpPr>
        <p:spPr>
          <a:xfrm>
            <a:off x="8686800" y="3337560"/>
            <a:ext cx="2743200" cy="86868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de quienes usan internet acceden desde el celular</a:t>
            </a:r>
            <a:endParaRPr lang="en-US" sz="1500" dirty="0"/>
          </a:p>
        </p:txBody>
      </p:sp>
      <p:sp>
        <p:nvSpPr>
          <p:cNvPr id="20" name="tarjeta"/>
          <p:cNvSpPr/>
          <p:nvPr/>
        </p:nvSpPr>
        <p:spPr>
          <a:xfrm>
            <a:off x="6355080" y="4526280"/>
            <a:ext cx="5257800" cy="1143000"/>
          </a:xfrm>
          <a:prstGeom prst="roundRect">
            <a:avLst>
              <a:gd name="adj" fmla="val 8000"/>
            </a:avLst>
          </a:prstGeom>
          <a:solidFill>
            <a:schemeClr val="bg2"/>
          </a:solidFill>
          <a:ln/>
        </p:spPr>
        <p:txBody>
          <a:bodyPr/>
          <a:p/>
        </p:txBody>
      </p:sp>
      <p:sp>
        <p:nvSpPr>
          <p:cNvPr id="21" name="Text 19"/>
          <p:cNvSpPr txBox="1"/>
          <p:nvPr/>
        </p:nvSpPr>
        <p:spPr>
          <a:xfrm>
            <a:off x="6583680" y="4663440"/>
            <a:ext cx="2011680" cy="868680"/>
          </a:xfrm>
          <a:prstGeom prst="rect">
            <a:avLst/>
          </a:prstGeom>
          <a:noFill/>
          <a:ln/>
        </p:spPr>
        <p:txBody>
          <a:bodyPr wrap="square" lIns="0" tIns="0" rIns="0" bIns="0" rtlCol="0" anchor="ctr"/>
          <a:lstStyle/>
          <a:p>
            <a:pPr indent="0" marL="0">
              <a:spcAft>
                <a:spcPts val="400"/>
              </a:spcAft>
              <a:buNone/>
            </a:pPr>
            <a:r>
              <a:rPr lang="en-US" sz="3600" b="1" dirty="0">
                <a:solidFill>
                  <a:schemeClr val="accent3"/>
                </a:solidFill>
                <a:latin typeface="Cambria" pitchFamily="34" charset="0"/>
                <a:ea typeface="Cambria" pitchFamily="34" charset="-122"/>
                <a:cs typeface="Cambria" pitchFamily="34" charset="-120"/>
              </a:rPr>
              <a:t>85,64 %</a:t>
            </a:r>
            <a:endParaRPr lang="en-US" sz="3600" dirty="0"/>
          </a:p>
        </p:txBody>
      </p:sp>
      <p:sp>
        <p:nvSpPr>
          <p:cNvPr id="22" name="Text 20"/>
          <p:cNvSpPr txBox="1"/>
          <p:nvPr/>
        </p:nvSpPr>
        <p:spPr>
          <a:xfrm>
            <a:off x="8686800" y="4663440"/>
            <a:ext cx="2743200" cy="86868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de cuota de Android en el Perú (septiembre de 2026)</a:t>
            </a:r>
            <a:endParaRPr lang="en-US" sz="1500" dirty="0"/>
          </a:p>
        </p:txBody>
      </p:sp>
      <p:sp>
        <p:nvSpPr>
          <p:cNvPr id="23" name="Text 21"/>
          <p:cNvSpPr txBox="1"/>
          <p:nvPr/>
        </p:nvSpPr>
        <p:spPr>
          <a:xfrm>
            <a:off x="548640" y="6053328"/>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Fuentes: Agencia Andina (2025); Constructor University (2019); INEI (2026); StatCounter (2026).</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Alineamiento con el ODS 12</a:t>
            </a:r>
            <a:endParaRPr lang="en-US" sz="3400" dirty="0"/>
          </a:p>
        </p:txBody>
      </p:sp>
      <p:sp>
        <p:nvSpPr>
          <p:cNvPr id="3" name="bloque ODS 12"/>
          <p:cNvSpPr/>
          <p:nvPr/>
        </p:nvSpPr>
        <p:spPr>
          <a:xfrm>
            <a:off x="548640" y="1417320"/>
            <a:ext cx="3200400" cy="4343400"/>
          </a:xfrm>
          <a:prstGeom prst="roundRect">
            <a:avLst>
              <a:gd name="adj" fmla="val 2857"/>
            </a:avLst>
          </a:prstGeom>
          <a:solidFill>
            <a:schemeClr val="accent2"/>
          </a:solidFill>
          <a:ln/>
        </p:spPr>
        <p:txBody>
          <a:bodyPr/>
          <a:p/>
        </p:txBody>
      </p:sp>
      <p:sp>
        <p:nvSpPr>
          <p:cNvPr id="4" name="Text 2"/>
          <p:cNvSpPr txBox="1"/>
          <p:nvPr/>
        </p:nvSpPr>
        <p:spPr>
          <a:xfrm>
            <a:off x="822960" y="1645920"/>
            <a:ext cx="2651760" cy="1463040"/>
          </a:xfrm>
          <a:prstGeom prst="rect">
            <a:avLst/>
          </a:prstGeom>
          <a:noFill/>
          <a:ln/>
        </p:spPr>
        <p:txBody>
          <a:bodyPr wrap="square" lIns="0" tIns="0" rIns="0" bIns="0" rtlCol="0" anchor="t"/>
          <a:lstStyle/>
          <a:p>
            <a:pPr indent="0" marL="0">
              <a:spcAft>
                <a:spcPts val="400"/>
              </a:spcAft>
              <a:buNone/>
            </a:pPr>
            <a:r>
              <a:rPr lang="en-US" sz="9600" b="1" dirty="0">
                <a:solidFill>
                  <a:schemeClr val="bg1"/>
                </a:solidFill>
                <a:latin typeface="Cambria" pitchFamily="34" charset="0"/>
                <a:ea typeface="Cambria" pitchFamily="34" charset="-122"/>
                <a:cs typeface="Cambria" pitchFamily="34" charset="-120"/>
              </a:rPr>
              <a:t>12</a:t>
            </a:r>
            <a:endParaRPr lang="en-US" sz="9600" dirty="0"/>
          </a:p>
        </p:txBody>
      </p:sp>
      <p:sp>
        <p:nvSpPr>
          <p:cNvPr id="5" name="Text 3"/>
          <p:cNvSpPr txBox="1"/>
          <p:nvPr/>
        </p:nvSpPr>
        <p:spPr>
          <a:xfrm>
            <a:off x="822960" y="3200400"/>
            <a:ext cx="2651760" cy="914400"/>
          </a:xfrm>
          <a:prstGeom prst="rect">
            <a:avLst/>
          </a:prstGeom>
          <a:noFill/>
          <a:ln/>
        </p:spPr>
        <p:txBody>
          <a:bodyPr wrap="square" lIns="0" tIns="0" rIns="0" bIns="0" rtlCol="0" anchor="t"/>
          <a:lstStyle/>
          <a:p>
            <a:pPr indent="0" marL="0">
              <a:spcAft>
                <a:spcPts val="400"/>
              </a:spcAft>
              <a:buNone/>
            </a:pPr>
            <a:r>
              <a:rPr lang="en-US" sz="2200" b="1" dirty="0">
                <a:solidFill>
                  <a:schemeClr val="bg1"/>
                </a:solidFill>
              </a:rPr>
              <a:t>Producción y consumo responsables</a:t>
            </a:r>
            <a:endParaRPr lang="en-US" sz="2200" dirty="0"/>
          </a:p>
        </p:txBody>
      </p:sp>
      <p:pic>
        <p:nvPicPr>
          <p:cNvPr id="6" name="icono reutilizar" descr="preencoded.png">    </p:cNvPr>
          <p:cNvPicPr>
            <a:picLocks noChangeAspect="1"/>
          </p:cNvPicPr>
          <p:nvPr/>
        </p:nvPicPr>
        <p:blipFill>
          <a:blip r:embed="rId1"/>
          <a:stretch>
            <a:fillRect/>
          </a:stretch>
        </p:blipFill>
        <p:spPr>
          <a:xfrm>
            <a:off x="822960" y="4480560"/>
            <a:ext cx="868680" cy="868680"/>
          </a:xfrm>
          <a:prstGeom prst="rect">
            <a:avLst/>
          </a:prstGeom>
        </p:spPr>
      </p:pic>
      <p:sp>
        <p:nvSpPr>
          <p:cNvPr id="7" name="tarjeta"/>
          <p:cNvSpPr/>
          <p:nvPr/>
        </p:nvSpPr>
        <p:spPr>
          <a:xfrm>
            <a:off x="4069080" y="1417320"/>
            <a:ext cx="7543800" cy="1298448"/>
          </a:xfrm>
          <a:prstGeom prst="roundRect">
            <a:avLst>
              <a:gd name="adj" fmla="val 7042"/>
            </a:avLst>
          </a:prstGeom>
          <a:solidFill>
            <a:schemeClr val="bg2"/>
          </a:solidFill>
          <a:ln/>
        </p:spPr>
        <p:txBody>
          <a:bodyPr/>
          <a:p/>
        </p:txBody>
      </p:sp>
      <p:sp>
        <p:nvSpPr>
          <p:cNvPr id="8" name="Text 5"/>
          <p:cNvSpPr txBox="1"/>
          <p:nvPr/>
        </p:nvSpPr>
        <p:spPr>
          <a:xfrm>
            <a:off x="4297680" y="1600200"/>
            <a:ext cx="15544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Meta 12.2</a:t>
            </a:r>
            <a:endParaRPr lang="en-US" sz="1800" dirty="0"/>
          </a:p>
        </p:txBody>
      </p:sp>
      <p:sp>
        <p:nvSpPr>
          <p:cNvPr id="9" name="Text 6"/>
          <p:cNvSpPr txBox="1"/>
          <p:nvPr/>
        </p:nvSpPr>
        <p:spPr>
          <a:xfrm>
            <a:off x="4297680" y="2057400"/>
            <a:ext cx="1737360" cy="548640"/>
          </a:xfrm>
          <a:prstGeom prst="rect">
            <a:avLst/>
          </a:prstGeom>
          <a:noFill/>
          <a:ln/>
        </p:spPr>
        <p:txBody>
          <a:bodyPr wrap="square" lIns="0" tIns="0" rIns="0" bIns="0" rtlCol="0" anchor="t"/>
          <a:lstStyle/>
          <a:p>
            <a:pPr indent="0" marL="0">
              <a:spcAft>
                <a:spcPts val="400"/>
              </a:spcAft>
              <a:buNone/>
            </a:pPr>
            <a:r>
              <a:rPr lang="en-US" sz="1300" dirty="0">
                <a:solidFill>
                  <a:schemeClr val="accent4"/>
                </a:solidFill>
              </a:rPr>
              <a:t>Uso eficiente de los recursos</a:t>
            </a:r>
            <a:endParaRPr lang="en-US" sz="1300" dirty="0"/>
          </a:p>
        </p:txBody>
      </p:sp>
      <p:sp>
        <p:nvSpPr>
          <p:cNvPr id="10" name="Text 7"/>
          <p:cNvSpPr txBox="1"/>
          <p:nvPr/>
        </p:nvSpPr>
        <p:spPr>
          <a:xfrm>
            <a:off x="6172200" y="1600200"/>
            <a:ext cx="5257800" cy="9601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Un equipo que ya existe se usa más días en lugar de quedar ocioso.</a:t>
            </a:r>
            <a:endParaRPr lang="en-US" sz="1600" dirty="0"/>
          </a:p>
        </p:txBody>
      </p:sp>
      <p:sp>
        <p:nvSpPr>
          <p:cNvPr id="11" name="tarjeta"/>
          <p:cNvSpPr/>
          <p:nvPr/>
        </p:nvSpPr>
        <p:spPr>
          <a:xfrm>
            <a:off x="4069080" y="2898648"/>
            <a:ext cx="7543800" cy="1298448"/>
          </a:xfrm>
          <a:prstGeom prst="roundRect">
            <a:avLst>
              <a:gd name="adj" fmla="val 7042"/>
            </a:avLst>
          </a:prstGeom>
          <a:solidFill>
            <a:schemeClr val="bg2"/>
          </a:solidFill>
          <a:ln/>
        </p:spPr>
        <p:txBody>
          <a:bodyPr/>
          <a:p/>
        </p:txBody>
      </p:sp>
      <p:sp>
        <p:nvSpPr>
          <p:cNvPr id="12" name="Text 9"/>
          <p:cNvSpPr txBox="1"/>
          <p:nvPr/>
        </p:nvSpPr>
        <p:spPr>
          <a:xfrm>
            <a:off x="4297680" y="3081528"/>
            <a:ext cx="15544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Meta 12.5</a:t>
            </a:r>
            <a:endParaRPr lang="en-US" sz="1800" dirty="0"/>
          </a:p>
        </p:txBody>
      </p:sp>
      <p:sp>
        <p:nvSpPr>
          <p:cNvPr id="13" name="Text 10"/>
          <p:cNvSpPr txBox="1"/>
          <p:nvPr/>
        </p:nvSpPr>
        <p:spPr>
          <a:xfrm>
            <a:off x="4297680" y="3538728"/>
            <a:ext cx="1737360" cy="548640"/>
          </a:xfrm>
          <a:prstGeom prst="rect">
            <a:avLst/>
          </a:prstGeom>
          <a:noFill/>
          <a:ln/>
        </p:spPr>
        <p:txBody>
          <a:bodyPr wrap="square" lIns="0" tIns="0" rIns="0" bIns="0" rtlCol="0" anchor="t"/>
          <a:lstStyle/>
          <a:p>
            <a:pPr indent="0" marL="0">
              <a:spcAft>
                <a:spcPts val="400"/>
              </a:spcAft>
              <a:buNone/>
            </a:pPr>
            <a:r>
              <a:rPr lang="en-US" sz="1300" dirty="0">
                <a:solidFill>
                  <a:schemeClr val="accent4"/>
                </a:solidFill>
              </a:rPr>
              <a:t>Reducir desechos por reutilización</a:t>
            </a:r>
            <a:endParaRPr lang="en-US" sz="1300" dirty="0"/>
          </a:p>
        </p:txBody>
      </p:sp>
      <p:sp>
        <p:nvSpPr>
          <p:cNvPr id="14" name="Text 11"/>
          <p:cNvSpPr txBox="1"/>
          <p:nvPr/>
        </p:nvSpPr>
        <p:spPr>
          <a:xfrm>
            <a:off x="6172200" y="3081528"/>
            <a:ext cx="5257800" cy="9601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Alquilar en vez de comprar prolonga la vida útil y evita fabricar activos que no se usarían.</a:t>
            </a:r>
            <a:endParaRPr lang="en-US" sz="1600" dirty="0"/>
          </a:p>
        </p:txBody>
      </p:sp>
      <p:sp>
        <p:nvSpPr>
          <p:cNvPr id="15" name="tarjeta"/>
          <p:cNvSpPr/>
          <p:nvPr/>
        </p:nvSpPr>
        <p:spPr>
          <a:xfrm>
            <a:off x="4069080" y="4379976"/>
            <a:ext cx="7543800" cy="1298448"/>
          </a:xfrm>
          <a:prstGeom prst="roundRect">
            <a:avLst>
              <a:gd name="adj" fmla="val 7042"/>
            </a:avLst>
          </a:prstGeom>
          <a:solidFill>
            <a:schemeClr val="bg2"/>
          </a:solidFill>
          <a:ln/>
        </p:spPr>
        <p:txBody>
          <a:bodyPr/>
          <a:p/>
        </p:txBody>
      </p:sp>
      <p:sp>
        <p:nvSpPr>
          <p:cNvPr id="16" name="Text 13"/>
          <p:cNvSpPr txBox="1"/>
          <p:nvPr/>
        </p:nvSpPr>
        <p:spPr>
          <a:xfrm>
            <a:off x="4297680" y="4562856"/>
            <a:ext cx="15544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Meta 12.6</a:t>
            </a:r>
            <a:endParaRPr lang="en-US" sz="1800" dirty="0"/>
          </a:p>
        </p:txBody>
      </p:sp>
      <p:sp>
        <p:nvSpPr>
          <p:cNvPr id="17" name="Text 14"/>
          <p:cNvSpPr txBox="1"/>
          <p:nvPr/>
        </p:nvSpPr>
        <p:spPr>
          <a:xfrm>
            <a:off x="4297680" y="5020056"/>
            <a:ext cx="1737360" cy="548640"/>
          </a:xfrm>
          <a:prstGeom prst="rect">
            <a:avLst/>
          </a:prstGeom>
          <a:noFill/>
          <a:ln/>
        </p:spPr>
        <p:txBody>
          <a:bodyPr wrap="square" lIns="0" tIns="0" rIns="0" bIns="0" rtlCol="0" anchor="t"/>
          <a:lstStyle/>
          <a:p>
            <a:pPr indent="0" marL="0">
              <a:spcAft>
                <a:spcPts val="400"/>
              </a:spcAft>
              <a:buNone/>
            </a:pPr>
            <a:r>
              <a:rPr lang="en-US" sz="1300" dirty="0">
                <a:solidFill>
                  <a:schemeClr val="accent4"/>
                </a:solidFill>
              </a:rPr>
              <a:t>Prácticas sostenibles en las empresas</a:t>
            </a:r>
            <a:endParaRPr lang="en-US" sz="1300" dirty="0"/>
          </a:p>
        </p:txBody>
      </p:sp>
      <p:sp>
        <p:nvSpPr>
          <p:cNvPr id="18" name="Text 15"/>
          <p:cNvSpPr txBox="1"/>
          <p:nvPr/>
        </p:nvSpPr>
        <p:spPr>
          <a:xfrm>
            <a:off x="6172200" y="4562856"/>
            <a:ext cx="5257800" cy="9601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Las pymes incorporan el préstamo entre empresas como práctica habitual y medible.</a:t>
            </a:r>
            <a:endParaRPr lang="en-US" sz="1600" dirty="0"/>
          </a:p>
        </p:txBody>
      </p:sp>
      <p:sp>
        <p:nvSpPr>
          <p:cNvPr id="19" name="Text 16"/>
          <p:cNvSpPr txBox="1"/>
          <p:nvPr/>
        </p:nvSpPr>
        <p:spPr>
          <a:xfrm>
            <a:off x="548640" y="5925312"/>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Curtis y Mont (2020): la economía colaborativa no es sostenible por defecto; debe aprovechar capacidad ociosa existente y priorizar el acceso temporal sobre la propiedad. Fuente de metas: United Nations (s. f.).</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Causas de la subutilización de equipos</a:t>
            </a:r>
            <a:endParaRPr lang="en-US" sz="3400" dirty="0"/>
          </a:p>
        </p:txBody>
      </p:sp>
      <p:pic>
        <p:nvPicPr>
          <p:cNvPr id="3" name="Diagrama de Ishikawa" descr="/home/claude/EQUISHARE/docs/figuras/ishikawa.png">    </p:cNvPr>
          <p:cNvPicPr>
            <a:picLocks noChangeAspect="1"/>
          </p:cNvPicPr>
          <p:nvPr/>
        </p:nvPicPr>
        <p:blipFill>
          <a:blip r:embed="rId1"/>
          <a:stretch>
            <a:fillRect/>
          </a:stretch>
        </p:blipFill>
        <p:spPr>
          <a:xfrm>
            <a:off x="1373325" y="1234440"/>
            <a:ext cx="9414869" cy="4663440"/>
          </a:xfrm>
          <a:prstGeom prst="rect">
            <a:avLst/>
          </a:prstGeom>
        </p:spPr>
      </p:pic>
      <p:sp>
        <p:nvSpPr>
          <p:cNvPr id="4" name="Text 1"/>
          <p:cNvSpPr txBox="1"/>
          <p:nvPr/>
        </p:nvSpPr>
        <p:spPr>
          <a:xfrm>
            <a:off x="548640" y="5989320"/>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Elaboración propia a partir del análisis del equipo, Benoit et al. (2025), Constructor University (2019) y Agencia Andina (2025).</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Pregunta de investigación</a:t>
            </a:r>
            <a:endParaRPr lang="en-US" sz="3400" dirty="0"/>
          </a:p>
        </p:txBody>
      </p:sp>
      <p:sp>
        <p:nvSpPr>
          <p:cNvPr id="3" name="pregunta general"/>
          <p:cNvSpPr/>
          <p:nvPr/>
        </p:nvSpPr>
        <p:spPr>
          <a:xfrm>
            <a:off x="548640" y="1325880"/>
            <a:ext cx="11064240" cy="1600200"/>
          </a:xfrm>
          <a:prstGeom prst="roundRect">
            <a:avLst>
              <a:gd name="adj" fmla="val 5714"/>
            </a:avLst>
          </a:prstGeom>
          <a:solidFill>
            <a:schemeClr val="tx2"/>
          </a:solidFill>
          <a:ln/>
        </p:spPr>
        <p:txBody>
          <a:bodyPr/>
          <a:p/>
        </p:txBody>
      </p:sp>
      <p:sp>
        <p:nvSpPr>
          <p:cNvPr id="4" name="Text 2"/>
          <p:cNvSpPr txBox="1"/>
          <p:nvPr/>
        </p:nvSpPr>
        <p:spPr>
          <a:xfrm>
            <a:off x="868680" y="1463040"/>
            <a:ext cx="10424160" cy="1325880"/>
          </a:xfrm>
          <a:prstGeom prst="rect">
            <a:avLst/>
          </a:prstGeom>
          <a:noFill/>
          <a:ln/>
        </p:spPr>
        <p:txBody>
          <a:bodyPr wrap="square" lIns="0" tIns="0" rIns="0" bIns="0" rtlCol="0" anchor="ctr"/>
          <a:lstStyle/>
          <a:p>
            <a:pPr indent="0" marL="0">
              <a:spcAft>
                <a:spcPts val="400"/>
              </a:spcAft>
              <a:buNone/>
            </a:pPr>
            <a:r>
              <a:rPr lang="en-US" sz="1900" i="1" dirty="0">
                <a:solidFill>
                  <a:schemeClr val="bg1"/>
                </a:solidFill>
                <a:latin typeface="Cambria" pitchFamily="34" charset="0"/>
                <a:ea typeface="Cambria" pitchFamily="34" charset="-122"/>
                <a:cs typeface="Cambria" pitchFamily="34" charset="-120"/>
              </a:rPr>
              <a:t>¿De qué manera una aplicación móvil Android de alquiler compartido de equipos entre empresas puede contribuir a reducir la subutilización de equipos y los sobrecostos operativos de las pymes de construcción, eventos y servicios técnicos de Trujillo en 2026?</a:t>
            </a:r>
            <a:endParaRPr lang="en-US" sz="1900" dirty="0"/>
          </a:p>
        </p:txBody>
      </p:sp>
      <p:sp>
        <p:nvSpPr>
          <p:cNvPr id="5" name="tarjeta"/>
          <p:cNvSpPr/>
          <p:nvPr/>
        </p:nvSpPr>
        <p:spPr>
          <a:xfrm>
            <a:off x="548640" y="3246120"/>
            <a:ext cx="2075688" cy="2514600"/>
          </a:xfrm>
          <a:prstGeom prst="roundRect">
            <a:avLst>
              <a:gd name="adj" fmla="val 4405"/>
            </a:avLst>
          </a:prstGeom>
          <a:solidFill>
            <a:schemeClr val="bg2"/>
          </a:solidFill>
          <a:ln/>
        </p:spPr>
        <p:txBody>
          <a:bodyPr/>
          <a:p/>
        </p:txBody>
      </p:sp>
      <p:sp>
        <p:nvSpPr>
          <p:cNvPr id="6" name="círculo de icono"/>
          <p:cNvSpPr/>
          <p:nvPr/>
        </p:nvSpPr>
        <p:spPr>
          <a:xfrm>
            <a:off x="777240" y="3474720"/>
            <a:ext cx="685800" cy="685800"/>
          </a:xfrm>
          <a:prstGeom prst="ellipse">
            <a:avLst/>
          </a:prstGeom>
          <a:solidFill>
            <a:schemeClr val="accent2"/>
          </a:solidFill>
          <a:ln/>
        </p:spPr>
        <p:txBody>
          <a:bodyPr/>
          <a:p/>
        </p:txBody>
      </p:sp>
      <p:pic>
        <p:nvPicPr>
          <p:cNvPr id="7" name="icono" descr="preencoded.png">    </p:cNvPr>
          <p:cNvPicPr>
            <a:picLocks noChangeAspect="1"/>
          </p:cNvPicPr>
          <p:nvPr/>
        </p:nvPicPr>
        <p:blipFill>
          <a:blip r:embed="rId1"/>
          <a:stretch>
            <a:fillRect/>
          </a:stretch>
        </p:blipFill>
        <p:spPr>
          <a:xfrm>
            <a:off x="941832" y="3639312"/>
            <a:ext cx="356616" cy="356616"/>
          </a:xfrm>
          <a:prstGeom prst="rect">
            <a:avLst/>
          </a:prstGeom>
        </p:spPr>
      </p:pic>
      <p:sp>
        <p:nvSpPr>
          <p:cNvPr id="8" name="Text 5"/>
          <p:cNvSpPr txBox="1"/>
          <p:nvPr/>
        </p:nvSpPr>
        <p:spPr>
          <a:xfrm>
            <a:off x="1600200" y="3611880"/>
            <a:ext cx="8686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PE1</a:t>
            </a:r>
            <a:endParaRPr lang="en-US" sz="1800" dirty="0"/>
          </a:p>
        </p:txBody>
      </p:sp>
      <p:sp>
        <p:nvSpPr>
          <p:cNvPr id="9" name="Text 6"/>
          <p:cNvSpPr txBox="1"/>
          <p:nvPr/>
        </p:nvSpPr>
        <p:spPr>
          <a:xfrm>
            <a:off x="777240" y="4343400"/>
            <a:ext cx="1691640" cy="13258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Publicar y encontrar equipos sin depender de llamadas</a:t>
            </a:r>
            <a:endParaRPr lang="en-US" sz="1500" dirty="0"/>
          </a:p>
        </p:txBody>
      </p:sp>
      <p:sp>
        <p:nvSpPr>
          <p:cNvPr id="10" name="tarjeta"/>
          <p:cNvSpPr/>
          <p:nvPr/>
        </p:nvSpPr>
        <p:spPr>
          <a:xfrm>
            <a:off x="2807208" y="3246120"/>
            <a:ext cx="2075688" cy="2514600"/>
          </a:xfrm>
          <a:prstGeom prst="roundRect">
            <a:avLst>
              <a:gd name="adj" fmla="val 4405"/>
            </a:avLst>
          </a:prstGeom>
          <a:solidFill>
            <a:schemeClr val="bg2"/>
          </a:solidFill>
          <a:ln/>
        </p:spPr>
        <p:txBody>
          <a:bodyPr/>
          <a:p/>
        </p:txBody>
      </p:sp>
      <p:sp>
        <p:nvSpPr>
          <p:cNvPr id="11" name="círculo de icono"/>
          <p:cNvSpPr/>
          <p:nvPr/>
        </p:nvSpPr>
        <p:spPr>
          <a:xfrm>
            <a:off x="3035808" y="3474720"/>
            <a:ext cx="685800" cy="685800"/>
          </a:xfrm>
          <a:prstGeom prst="ellipse">
            <a:avLst/>
          </a:prstGeom>
          <a:solidFill>
            <a:schemeClr val="accent2"/>
          </a:solidFill>
          <a:ln/>
        </p:spPr>
        <p:txBody>
          <a:bodyPr/>
          <a:p/>
        </p:txBody>
      </p:sp>
      <p:pic>
        <p:nvPicPr>
          <p:cNvPr id="12" name="icono" descr="preencoded.png">    </p:cNvPr>
          <p:cNvPicPr>
            <a:picLocks noChangeAspect="1"/>
          </p:cNvPicPr>
          <p:nvPr/>
        </p:nvPicPr>
        <p:blipFill>
          <a:blip r:embed="rId2"/>
          <a:stretch>
            <a:fillRect/>
          </a:stretch>
        </p:blipFill>
        <p:spPr>
          <a:xfrm>
            <a:off x="3200400" y="3639312"/>
            <a:ext cx="356616" cy="356616"/>
          </a:xfrm>
          <a:prstGeom prst="rect">
            <a:avLst/>
          </a:prstGeom>
        </p:spPr>
      </p:pic>
      <p:sp>
        <p:nvSpPr>
          <p:cNvPr id="13" name="Text 9"/>
          <p:cNvSpPr txBox="1"/>
          <p:nvPr/>
        </p:nvSpPr>
        <p:spPr>
          <a:xfrm>
            <a:off x="3858768" y="3611880"/>
            <a:ext cx="8686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PE2</a:t>
            </a:r>
            <a:endParaRPr lang="en-US" sz="1800" dirty="0"/>
          </a:p>
        </p:txBody>
      </p:sp>
      <p:sp>
        <p:nvSpPr>
          <p:cNvPr id="14" name="Text 10"/>
          <p:cNvSpPr txBox="1"/>
          <p:nvPr/>
        </p:nvSpPr>
        <p:spPr>
          <a:xfrm>
            <a:off x="3035808" y="4343400"/>
            <a:ext cx="1691640" cy="13258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Evitar reservas duplicadas y ver la disponibilidad real</a:t>
            </a:r>
            <a:endParaRPr lang="en-US" sz="1500" dirty="0"/>
          </a:p>
        </p:txBody>
      </p:sp>
      <p:sp>
        <p:nvSpPr>
          <p:cNvPr id="15" name="tarjeta"/>
          <p:cNvSpPr/>
          <p:nvPr/>
        </p:nvSpPr>
        <p:spPr>
          <a:xfrm>
            <a:off x="5065776" y="3246120"/>
            <a:ext cx="2075688" cy="2514600"/>
          </a:xfrm>
          <a:prstGeom prst="roundRect">
            <a:avLst>
              <a:gd name="adj" fmla="val 4405"/>
            </a:avLst>
          </a:prstGeom>
          <a:solidFill>
            <a:schemeClr val="bg2"/>
          </a:solidFill>
          <a:ln/>
        </p:spPr>
        <p:txBody>
          <a:bodyPr/>
          <a:p/>
        </p:txBody>
      </p:sp>
      <p:sp>
        <p:nvSpPr>
          <p:cNvPr id="16" name="círculo de icono"/>
          <p:cNvSpPr/>
          <p:nvPr/>
        </p:nvSpPr>
        <p:spPr>
          <a:xfrm>
            <a:off x="5294376" y="3474720"/>
            <a:ext cx="685800" cy="685800"/>
          </a:xfrm>
          <a:prstGeom prst="ellipse">
            <a:avLst/>
          </a:prstGeom>
          <a:solidFill>
            <a:schemeClr val="accent2"/>
          </a:solidFill>
          <a:ln/>
        </p:spPr>
        <p:txBody>
          <a:bodyPr/>
          <a:p/>
        </p:txBody>
      </p:sp>
      <p:pic>
        <p:nvPicPr>
          <p:cNvPr id="17" name="icono" descr="preencoded.png">    </p:cNvPr>
          <p:cNvPicPr>
            <a:picLocks noChangeAspect="1"/>
          </p:cNvPicPr>
          <p:nvPr/>
        </p:nvPicPr>
        <p:blipFill>
          <a:blip r:embed="rId3"/>
          <a:stretch>
            <a:fillRect/>
          </a:stretch>
        </p:blipFill>
        <p:spPr>
          <a:xfrm>
            <a:off x="5458968" y="3639312"/>
            <a:ext cx="356616" cy="356616"/>
          </a:xfrm>
          <a:prstGeom prst="rect">
            <a:avLst/>
          </a:prstGeom>
        </p:spPr>
      </p:pic>
      <p:sp>
        <p:nvSpPr>
          <p:cNvPr id="18" name="Text 13"/>
          <p:cNvSpPr txBox="1"/>
          <p:nvPr/>
        </p:nvSpPr>
        <p:spPr>
          <a:xfrm>
            <a:off x="6117336" y="3611880"/>
            <a:ext cx="8686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PE3</a:t>
            </a:r>
            <a:endParaRPr lang="en-US" sz="1800" dirty="0"/>
          </a:p>
        </p:txBody>
      </p:sp>
      <p:sp>
        <p:nvSpPr>
          <p:cNvPr id="19" name="Text 14"/>
          <p:cNvSpPr txBox="1"/>
          <p:nvPr/>
        </p:nvSpPr>
        <p:spPr>
          <a:xfrm>
            <a:off x="5294376" y="4343400"/>
            <a:ext cx="1691640" cy="13258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Generar confianza y transparentar los costos</a:t>
            </a:r>
            <a:endParaRPr lang="en-US" sz="1500" dirty="0"/>
          </a:p>
        </p:txBody>
      </p:sp>
      <p:sp>
        <p:nvSpPr>
          <p:cNvPr id="20" name="tarjeta"/>
          <p:cNvSpPr/>
          <p:nvPr/>
        </p:nvSpPr>
        <p:spPr>
          <a:xfrm>
            <a:off x="7324344" y="3246120"/>
            <a:ext cx="2075688" cy="2514600"/>
          </a:xfrm>
          <a:prstGeom prst="roundRect">
            <a:avLst>
              <a:gd name="adj" fmla="val 4405"/>
            </a:avLst>
          </a:prstGeom>
          <a:solidFill>
            <a:schemeClr val="bg2"/>
          </a:solidFill>
          <a:ln/>
        </p:spPr>
        <p:txBody>
          <a:bodyPr/>
          <a:p/>
        </p:txBody>
      </p:sp>
      <p:sp>
        <p:nvSpPr>
          <p:cNvPr id="21" name="círculo de icono"/>
          <p:cNvSpPr/>
          <p:nvPr/>
        </p:nvSpPr>
        <p:spPr>
          <a:xfrm>
            <a:off x="7552944" y="3474720"/>
            <a:ext cx="685800" cy="685800"/>
          </a:xfrm>
          <a:prstGeom prst="ellipse">
            <a:avLst/>
          </a:prstGeom>
          <a:solidFill>
            <a:schemeClr val="accent2"/>
          </a:solidFill>
          <a:ln/>
        </p:spPr>
        <p:txBody>
          <a:bodyPr/>
          <a:p/>
        </p:txBody>
      </p:sp>
      <p:pic>
        <p:nvPicPr>
          <p:cNvPr id="22" name="icono" descr="preencoded.png">    </p:cNvPr>
          <p:cNvPicPr>
            <a:picLocks noChangeAspect="1"/>
          </p:cNvPicPr>
          <p:nvPr/>
        </p:nvPicPr>
        <p:blipFill>
          <a:blip r:embed="rId4"/>
          <a:stretch>
            <a:fillRect/>
          </a:stretch>
        </p:blipFill>
        <p:spPr>
          <a:xfrm>
            <a:off x="7717536" y="3639312"/>
            <a:ext cx="356616" cy="356616"/>
          </a:xfrm>
          <a:prstGeom prst="rect">
            <a:avLst/>
          </a:prstGeom>
        </p:spPr>
      </p:pic>
      <p:sp>
        <p:nvSpPr>
          <p:cNvPr id="23" name="Text 17"/>
          <p:cNvSpPr txBox="1"/>
          <p:nvPr/>
        </p:nvSpPr>
        <p:spPr>
          <a:xfrm>
            <a:off x="8375904" y="3611880"/>
            <a:ext cx="8686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PE4</a:t>
            </a:r>
            <a:endParaRPr lang="en-US" sz="1800" dirty="0"/>
          </a:p>
        </p:txBody>
      </p:sp>
      <p:sp>
        <p:nvSpPr>
          <p:cNvPr id="24" name="Text 18"/>
          <p:cNvSpPr txBox="1"/>
          <p:nvPr/>
        </p:nvSpPr>
        <p:spPr>
          <a:xfrm>
            <a:off x="7552944" y="4343400"/>
            <a:ext cx="1691640" cy="13258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Ubicar equipos cercanos a la obra o al evento</a:t>
            </a:r>
            <a:endParaRPr lang="en-US" sz="1500" dirty="0"/>
          </a:p>
        </p:txBody>
      </p:sp>
      <p:sp>
        <p:nvSpPr>
          <p:cNvPr id="25" name="tarjeta"/>
          <p:cNvSpPr/>
          <p:nvPr/>
        </p:nvSpPr>
        <p:spPr>
          <a:xfrm>
            <a:off x="9582912" y="3246120"/>
            <a:ext cx="2075688" cy="2514600"/>
          </a:xfrm>
          <a:prstGeom prst="roundRect">
            <a:avLst>
              <a:gd name="adj" fmla="val 4405"/>
            </a:avLst>
          </a:prstGeom>
          <a:solidFill>
            <a:schemeClr val="bg2"/>
          </a:solidFill>
          <a:ln/>
        </p:spPr>
        <p:txBody>
          <a:bodyPr/>
          <a:p/>
        </p:txBody>
      </p:sp>
      <p:sp>
        <p:nvSpPr>
          <p:cNvPr id="26" name="círculo de icono"/>
          <p:cNvSpPr/>
          <p:nvPr/>
        </p:nvSpPr>
        <p:spPr>
          <a:xfrm>
            <a:off x="9811512" y="3474720"/>
            <a:ext cx="685800" cy="685800"/>
          </a:xfrm>
          <a:prstGeom prst="ellipse">
            <a:avLst/>
          </a:prstGeom>
          <a:solidFill>
            <a:schemeClr val="accent2"/>
          </a:solidFill>
          <a:ln/>
        </p:spPr>
        <p:txBody>
          <a:bodyPr/>
          <a:p/>
        </p:txBody>
      </p:sp>
      <p:pic>
        <p:nvPicPr>
          <p:cNvPr id="27" name="icono" descr="preencoded.png">    </p:cNvPr>
          <p:cNvPicPr>
            <a:picLocks noChangeAspect="1"/>
          </p:cNvPicPr>
          <p:nvPr/>
        </p:nvPicPr>
        <p:blipFill>
          <a:blip r:embed="rId5"/>
          <a:stretch>
            <a:fillRect/>
          </a:stretch>
        </p:blipFill>
        <p:spPr>
          <a:xfrm>
            <a:off x="9976104" y="3639312"/>
            <a:ext cx="356616" cy="356616"/>
          </a:xfrm>
          <a:prstGeom prst="rect">
            <a:avLst/>
          </a:prstGeom>
        </p:spPr>
      </p:pic>
      <p:sp>
        <p:nvSpPr>
          <p:cNvPr id="28" name="Text 21"/>
          <p:cNvSpPr txBox="1"/>
          <p:nvPr/>
        </p:nvSpPr>
        <p:spPr>
          <a:xfrm>
            <a:off x="10634472" y="3611880"/>
            <a:ext cx="8686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PE5</a:t>
            </a:r>
            <a:endParaRPr lang="en-US" sz="1800" dirty="0"/>
          </a:p>
        </p:txBody>
      </p:sp>
      <p:sp>
        <p:nvSpPr>
          <p:cNvPr id="29" name="Text 22"/>
          <p:cNvSpPr txBox="1"/>
          <p:nvPr/>
        </p:nvSpPr>
        <p:spPr>
          <a:xfrm>
            <a:off x="9811512" y="4343400"/>
            <a:ext cx="1691640" cy="13258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Seguir siendo útil sin conexión y proteger los datos</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Antecedentes académicos</a:t>
            </a:r>
            <a:endParaRPr lang="en-US" sz="3400" dirty="0"/>
          </a:p>
        </p:txBody>
      </p:sp>
      <p:sp>
        <p:nvSpPr>
          <p:cNvPr id="3" name="tarjeta"/>
          <p:cNvSpPr/>
          <p:nvPr/>
        </p:nvSpPr>
        <p:spPr>
          <a:xfrm>
            <a:off x="548640" y="1325880"/>
            <a:ext cx="3520440" cy="2212848"/>
          </a:xfrm>
          <a:prstGeom prst="roundRect">
            <a:avLst>
              <a:gd name="adj" fmla="val 4132"/>
            </a:avLst>
          </a:prstGeom>
          <a:solidFill>
            <a:schemeClr val="bg2"/>
          </a:solidFill>
          <a:ln/>
        </p:spPr>
        <p:txBody>
          <a:bodyPr/>
          <a:p/>
        </p:txBody>
      </p:sp>
      <p:sp>
        <p:nvSpPr>
          <p:cNvPr id="4" name="Text 2"/>
          <p:cNvSpPr txBox="1"/>
          <p:nvPr/>
        </p:nvSpPr>
        <p:spPr>
          <a:xfrm>
            <a:off x="749808" y="1490472"/>
            <a:ext cx="3108960" cy="5486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Benoit et al. (2025)</a:t>
            </a:r>
            <a:endParaRPr lang="en-US" sz="1600" dirty="0"/>
          </a:p>
        </p:txBody>
      </p:sp>
      <p:sp>
        <p:nvSpPr>
          <p:cNvPr id="5" name="Text 3"/>
          <p:cNvSpPr txBox="1"/>
          <p:nvPr/>
        </p:nvSpPr>
        <p:spPr>
          <a:xfrm>
            <a:off x="749808" y="2057400"/>
            <a:ext cx="3108960" cy="292608"/>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Journal of Business Research</a:t>
            </a:r>
            <a:endParaRPr lang="en-US" sz="1200" dirty="0"/>
          </a:p>
        </p:txBody>
      </p:sp>
      <p:sp>
        <p:nvSpPr>
          <p:cNvPr id="6" name="Text 4"/>
          <p:cNvSpPr txBox="1"/>
          <p:nvPr/>
        </p:nvSpPr>
        <p:spPr>
          <a:xfrm>
            <a:off x="749808" y="2395728"/>
            <a:ext cx="3108960" cy="10515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Economía colaborativa B2B: activos ociosos, acceso temporal y plataforma especializada.</a:t>
            </a:r>
            <a:endParaRPr lang="en-US" sz="1500" dirty="0"/>
          </a:p>
        </p:txBody>
      </p:sp>
      <p:sp>
        <p:nvSpPr>
          <p:cNvPr id="7" name="tarjeta"/>
          <p:cNvSpPr/>
          <p:nvPr/>
        </p:nvSpPr>
        <p:spPr>
          <a:xfrm>
            <a:off x="4334256" y="1325880"/>
            <a:ext cx="3520440" cy="2212848"/>
          </a:xfrm>
          <a:prstGeom prst="roundRect">
            <a:avLst>
              <a:gd name="adj" fmla="val 4132"/>
            </a:avLst>
          </a:prstGeom>
          <a:solidFill>
            <a:schemeClr val="bg2"/>
          </a:solidFill>
          <a:ln/>
        </p:spPr>
        <p:txBody>
          <a:bodyPr/>
          <a:p/>
        </p:txBody>
      </p:sp>
      <p:sp>
        <p:nvSpPr>
          <p:cNvPr id="8" name="Text 6"/>
          <p:cNvSpPr txBox="1"/>
          <p:nvPr/>
        </p:nvSpPr>
        <p:spPr>
          <a:xfrm>
            <a:off x="4535424" y="1490472"/>
            <a:ext cx="3108960" cy="5486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Goswami y Arputham (2026)</a:t>
            </a:r>
            <a:endParaRPr lang="en-US" sz="1600" dirty="0"/>
          </a:p>
        </p:txBody>
      </p:sp>
      <p:sp>
        <p:nvSpPr>
          <p:cNvPr id="9" name="Text 7"/>
          <p:cNvSpPr txBox="1"/>
          <p:nvPr/>
        </p:nvSpPr>
        <p:spPr>
          <a:xfrm>
            <a:off x="4535424" y="2057400"/>
            <a:ext cx="3108960" cy="292608"/>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Operations and Supply Chain Innovation</a:t>
            </a:r>
            <a:endParaRPr lang="en-US" sz="1200" dirty="0"/>
          </a:p>
        </p:txBody>
      </p:sp>
      <p:sp>
        <p:nvSpPr>
          <p:cNvPr id="10" name="Text 8"/>
          <p:cNvSpPr txBox="1"/>
          <p:nvPr/>
        </p:nvSpPr>
        <p:spPr>
          <a:xfrm>
            <a:off x="4535424" y="2395728"/>
            <a:ext cx="3108960" cy="10515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Plataforma de dos lados para equipos de construcción; rapidez, precio y disponibilidad.</a:t>
            </a:r>
            <a:endParaRPr lang="en-US" sz="1500" dirty="0"/>
          </a:p>
        </p:txBody>
      </p:sp>
      <p:sp>
        <p:nvSpPr>
          <p:cNvPr id="11" name="tarjeta"/>
          <p:cNvSpPr/>
          <p:nvPr/>
        </p:nvSpPr>
        <p:spPr>
          <a:xfrm>
            <a:off x="8119872" y="1325880"/>
            <a:ext cx="3520440" cy="2212848"/>
          </a:xfrm>
          <a:prstGeom prst="roundRect">
            <a:avLst>
              <a:gd name="adj" fmla="val 4132"/>
            </a:avLst>
          </a:prstGeom>
          <a:solidFill>
            <a:schemeClr val="bg2"/>
          </a:solidFill>
          <a:ln/>
        </p:spPr>
        <p:txBody>
          <a:bodyPr/>
          <a:p/>
        </p:txBody>
      </p:sp>
      <p:sp>
        <p:nvSpPr>
          <p:cNvPr id="12" name="Text 10"/>
          <p:cNvSpPr txBox="1"/>
          <p:nvPr/>
        </p:nvSpPr>
        <p:spPr>
          <a:xfrm>
            <a:off x="8321040" y="1490472"/>
            <a:ext cx="3108960" cy="5486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Rathnayake et al. (2024)</a:t>
            </a:r>
            <a:endParaRPr lang="en-US" sz="1600" dirty="0"/>
          </a:p>
        </p:txBody>
      </p:sp>
      <p:sp>
        <p:nvSpPr>
          <p:cNvPr id="13" name="Text 11"/>
          <p:cNvSpPr txBox="1"/>
          <p:nvPr/>
        </p:nvSpPr>
        <p:spPr>
          <a:xfrm>
            <a:off x="8321040" y="2057400"/>
            <a:ext cx="3108960" cy="292608"/>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Actas de ARCOM</a:t>
            </a:r>
            <a:endParaRPr lang="en-US" sz="1200" dirty="0"/>
          </a:p>
        </p:txBody>
      </p:sp>
      <p:sp>
        <p:nvSpPr>
          <p:cNvPr id="14" name="Text 12"/>
          <p:cNvSpPr txBox="1"/>
          <p:nvPr/>
        </p:nvSpPr>
        <p:spPr>
          <a:xfrm>
            <a:off x="8321040" y="2395728"/>
            <a:ext cx="3108960" cy="10515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Equipos y máquinas son el recurso más compartido; faltan información e idiomas.</a:t>
            </a:r>
            <a:endParaRPr lang="en-US" sz="1500" dirty="0"/>
          </a:p>
        </p:txBody>
      </p:sp>
      <p:sp>
        <p:nvSpPr>
          <p:cNvPr id="15" name="tarjeta"/>
          <p:cNvSpPr/>
          <p:nvPr/>
        </p:nvSpPr>
        <p:spPr>
          <a:xfrm>
            <a:off x="548640" y="3721608"/>
            <a:ext cx="3520440" cy="2212848"/>
          </a:xfrm>
          <a:prstGeom prst="roundRect">
            <a:avLst>
              <a:gd name="adj" fmla="val 4132"/>
            </a:avLst>
          </a:prstGeom>
          <a:solidFill>
            <a:schemeClr val="bg2"/>
          </a:solidFill>
          <a:ln/>
        </p:spPr>
        <p:txBody>
          <a:bodyPr/>
          <a:p/>
        </p:txBody>
      </p:sp>
      <p:sp>
        <p:nvSpPr>
          <p:cNvPr id="16" name="Text 14"/>
          <p:cNvSpPr txBox="1"/>
          <p:nvPr/>
        </p:nvSpPr>
        <p:spPr>
          <a:xfrm>
            <a:off x="749808" y="3886200"/>
            <a:ext cx="3108960" cy="5486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Curtis y Mont (2020)</a:t>
            </a:r>
            <a:endParaRPr lang="en-US" sz="1600" dirty="0"/>
          </a:p>
        </p:txBody>
      </p:sp>
      <p:sp>
        <p:nvSpPr>
          <p:cNvPr id="17" name="Text 15"/>
          <p:cNvSpPr txBox="1"/>
          <p:nvPr/>
        </p:nvSpPr>
        <p:spPr>
          <a:xfrm>
            <a:off x="749808" y="4453128"/>
            <a:ext cx="3108960" cy="292608"/>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Journal of Cleaner Production</a:t>
            </a:r>
            <a:endParaRPr lang="en-US" sz="1200" dirty="0"/>
          </a:p>
        </p:txBody>
      </p:sp>
      <p:sp>
        <p:nvSpPr>
          <p:cNvPr id="18" name="Text 16"/>
          <p:cNvSpPr txBox="1"/>
          <p:nvPr/>
        </p:nvSpPr>
        <p:spPr>
          <a:xfrm>
            <a:off x="749808" y="4791456"/>
            <a:ext cx="3108960" cy="10515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Condiciones de diseño para que compartir sea sostenible.</a:t>
            </a:r>
            <a:endParaRPr lang="en-US" sz="1500" dirty="0"/>
          </a:p>
        </p:txBody>
      </p:sp>
      <p:sp>
        <p:nvSpPr>
          <p:cNvPr id="19" name="tarjeta"/>
          <p:cNvSpPr/>
          <p:nvPr/>
        </p:nvSpPr>
        <p:spPr>
          <a:xfrm>
            <a:off x="4334256" y="3721608"/>
            <a:ext cx="3520440" cy="2212848"/>
          </a:xfrm>
          <a:prstGeom prst="roundRect">
            <a:avLst>
              <a:gd name="adj" fmla="val 4132"/>
            </a:avLst>
          </a:prstGeom>
          <a:solidFill>
            <a:schemeClr val="bg2"/>
          </a:solidFill>
          <a:ln/>
        </p:spPr>
        <p:txBody>
          <a:bodyPr/>
          <a:p/>
        </p:txBody>
      </p:sp>
      <p:sp>
        <p:nvSpPr>
          <p:cNvPr id="20" name="Text 18"/>
          <p:cNvSpPr txBox="1"/>
          <p:nvPr/>
        </p:nvSpPr>
        <p:spPr>
          <a:xfrm>
            <a:off x="4535424" y="3886200"/>
            <a:ext cx="3108960" cy="5486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ter Huurne et al. (2017)</a:t>
            </a:r>
            <a:endParaRPr lang="en-US" sz="1600" dirty="0"/>
          </a:p>
        </p:txBody>
      </p:sp>
      <p:sp>
        <p:nvSpPr>
          <p:cNvPr id="21" name="Text 19"/>
          <p:cNvSpPr txBox="1"/>
          <p:nvPr/>
        </p:nvSpPr>
        <p:spPr>
          <a:xfrm>
            <a:off x="4535424" y="4453128"/>
            <a:ext cx="3108960" cy="292608"/>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Journal of Consumer Behaviour</a:t>
            </a:r>
            <a:endParaRPr lang="en-US" sz="1200" dirty="0"/>
          </a:p>
        </p:txBody>
      </p:sp>
      <p:sp>
        <p:nvSpPr>
          <p:cNvPr id="22" name="Text 20"/>
          <p:cNvSpPr txBox="1"/>
          <p:nvPr/>
        </p:nvSpPr>
        <p:spPr>
          <a:xfrm>
            <a:off x="4535424" y="4791456"/>
            <a:ext cx="3108960" cy="10515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La confianza depende de reputación, plataforma e interacción (45 artículos).</a:t>
            </a:r>
            <a:endParaRPr lang="en-US" sz="1500" dirty="0"/>
          </a:p>
        </p:txBody>
      </p:sp>
      <p:sp>
        <p:nvSpPr>
          <p:cNvPr id="23" name="tarjeta"/>
          <p:cNvSpPr/>
          <p:nvPr/>
        </p:nvSpPr>
        <p:spPr>
          <a:xfrm>
            <a:off x="8119872" y="3721608"/>
            <a:ext cx="3520440" cy="2212848"/>
          </a:xfrm>
          <a:prstGeom prst="roundRect">
            <a:avLst>
              <a:gd name="adj" fmla="val 4132"/>
            </a:avLst>
          </a:prstGeom>
          <a:solidFill>
            <a:schemeClr val="bg2"/>
          </a:solidFill>
          <a:ln/>
        </p:spPr>
        <p:txBody>
          <a:bodyPr/>
          <a:p/>
        </p:txBody>
      </p:sp>
      <p:sp>
        <p:nvSpPr>
          <p:cNvPr id="24" name="Text 22"/>
          <p:cNvSpPr txBox="1"/>
          <p:nvPr/>
        </p:nvSpPr>
        <p:spPr>
          <a:xfrm>
            <a:off x="8321040" y="3886200"/>
            <a:ext cx="3108960" cy="5486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Roque Mayo y Minchán Huamán (2025)</a:t>
            </a:r>
            <a:endParaRPr lang="en-US" sz="1600" dirty="0"/>
          </a:p>
        </p:txBody>
      </p:sp>
      <p:sp>
        <p:nvSpPr>
          <p:cNvPr id="25" name="Text 23"/>
          <p:cNvSpPr txBox="1"/>
          <p:nvPr/>
        </p:nvSpPr>
        <p:spPr>
          <a:xfrm>
            <a:off x="8321040" y="4453128"/>
            <a:ext cx="3108960" cy="292608"/>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UPN, tesis de licenciatura</a:t>
            </a:r>
            <a:endParaRPr lang="en-US" sz="1200" dirty="0"/>
          </a:p>
        </p:txBody>
      </p:sp>
      <p:sp>
        <p:nvSpPr>
          <p:cNvPr id="26" name="Text 24"/>
          <p:cNvSpPr txBox="1"/>
          <p:nvPr/>
        </p:nvSpPr>
        <p:spPr>
          <a:xfrm>
            <a:off x="8321040" y="4791456"/>
            <a:ext cx="3108960" cy="10515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App Android con Firebase y Scrum en Cajamarca; mejora significativa (Wilcoxon).</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El modelo funciona a escala, pero no aquí</a:t>
            </a:r>
            <a:endParaRPr lang="en-US" sz="3400" dirty="0"/>
          </a:p>
        </p:txBody>
      </p:sp>
      <p:sp>
        <p:nvSpPr>
          <p:cNvPr id="3" name="tarjeta"/>
          <p:cNvSpPr/>
          <p:nvPr/>
        </p:nvSpPr>
        <p:spPr>
          <a:xfrm>
            <a:off x="548640" y="1371600"/>
            <a:ext cx="2615184" cy="2926080"/>
          </a:xfrm>
          <a:prstGeom prst="roundRect">
            <a:avLst>
              <a:gd name="adj" fmla="val 3497"/>
            </a:avLst>
          </a:prstGeom>
          <a:solidFill>
            <a:schemeClr val="bg2"/>
          </a:solidFill>
          <a:ln/>
        </p:spPr>
        <p:txBody>
          <a:bodyPr/>
          <a:p/>
        </p:txBody>
      </p:sp>
      <p:sp>
        <p:nvSpPr>
          <p:cNvPr id="4" name="Text 2"/>
          <p:cNvSpPr txBox="1"/>
          <p:nvPr/>
        </p:nvSpPr>
        <p:spPr>
          <a:xfrm>
            <a:off x="749808" y="1554480"/>
            <a:ext cx="2240280" cy="411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EquipmentShare</a:t>
            </a:r>
            <a:endParaRPr lang="en-US" sz="1800" dirty="0"/>
          </a:p>
        </p:txBody>
      </p:sp>
      <p:sp>
        <p:nvSpPr>
          <p:cNvPr id="5" name="Text 3"/>
          <p:cNvSpPr txBox="1"/>
          <p:nvPr/>
        </p:nvSpPr>
        <p:spPr>
          <a:xfrm>
            <a:off x="749808" y="2057400"/>
            <a:ext cx="2240280" cy="777240"/>
          </a:xfrm>
          <a:prstGeom prst="rect">
            <a:avLst/>
          </a:prstGeom>
          <a:noFill/>
          <a:ln/>
        </p:spPr>
        <p:txBody>
          <a:bodyPr wrap="square" lIns="0" tIns="0" rIns="0" bIns="0" rtlCol="0" anchor="t"/>
          <a:lstStyle/>
          <a:p>
            <a:pPr indent="0" marL="0">
              <a:spcAft>
                <a:spcPts val="400"/>
              </a:spcAft>
              <a:buNone/>
            </a:pPr>
            <a:r>
              <a:rPr lang="en-US" sz="3400" b="1" dirty="0">
                <a:solidFill>
                  <a:schemeClr val="accent2"/>
                </a:solidFill>
                <a:latin typeface="Cambria" pitchFamily="34" charset="0"/>
                <a:ea typeface="Cambria" pitchFamily="34" charset="-122"/>
                <a:cs typeface="Cambria" pitchFamily="34" charset="-120"/>
              </a:rPr>
              <a:t>373</a:t>
            </a:r>
            <a:endParaRPr lang="en-US" sz="3400" dirty="0"/>
          </a:p>
        </p:txBody>
      </p:sp>
      <p:sp>
        <p:nvSpPr>
          <p:cNvPr id="6" name="Text 4"/>
          <p:cNvSpPr txBox="1"/>
          <p:nvPr/>
        </p:nvSpPr>
        <p:spPr>
          <a:xfrm>
            <a:off x="749808" y="2926080"/>
            <a:ext cx="2240280" cy="12801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sedes en EE. UU.; empezó como mercado para compartir equipos (Y Combinator 2015)</a:t>
            </a:r>
            <a:endParaRPr lang="en-US" sz="1500" dirty="0"/>
          </a:p>
        </p:txBody>
      </p:sp>
      <p:sp>
        <p:nvSpPr>
          <p:cNvPr id="7" name="tarjeta"/>
          <p:cNvSpPr/>
          <p:nvPr/>
        </p:nvSpPr>
        <p:spPr>
          <a:xfrm>
            <a:off x="3364992" y="1371600"/>
            <a:ext cx="2615184" cy="2926080"/>
          </a:xfrm>
          <a:prstGeom prst="roundRect">
            <a:avLst>
              <a:gd name="adj" fmla="val 3497"/>
            </a:avLst>
          </a:prstGeom>
          <a:solidFill>
            <a:schemeClr val="bg2"/>
          </a:solidFill>
          <a:ln/>
        </p:spPr>
        <p:txBody>
          <a:bodyPr/>
          <a:p/>
        </p:txBody>
      </p:sp>
      <p:sp>
        <p:nvSpPr>
          <p:cNvPr id="8" name="Text 6"/>
          <p:cNvSpPr txBox="1"/>
          <p:nvPr/>
        </p:nvSpPr>
        <p:spPr>
          <a:xfrm>
            <a:off x="3566160" y="1554480"/>
            <a:ext cx="2240280" cy="411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Yard Club</a:t>
            </a:r>
            <a:endParaRPr lang="en-US" sz="1800" dirty="0"/>
          </a:p>
        </p:txBody>
      </p:sp>
      <p:sp>
        <p:nvSpPr>
          <p:cNvPr id="9" name="Text 7"/>
          <p:cNvSpPr txBox="1"/>
          <p:nvPr/>
        </p:nvSpPr>
        <p:spPr>
          <a:xfrm>
            <a:off x="3566160" y="2057400"/>
            <a:ext cx="2240280" cy="777240"/>
          </a:xfrm>
          <a:prstGeom prst="rect">
            <a:avLst/>
          </a:prstGeom>
          <a:noFill/>
          <a:ln/>
        </p:spPr>
        <p:txBody>
          <a:bodyPr wrap="square" lIns="0" tIns="0" rIns="0" bIns="0" rtlCol="0" anchor="t"/>
          <a:lstStyle/>
          <a:p>
            <a:pPr indent="0" marL="0">
              <a:spcAft>
                <a:spcPts val="400"/>
              </a:spcAft>
              <a:buNone/>
            </a:pPr>
            <a:r>
              <a:rPr lang="en-US" sz="3400" b="1" dirty="0">
                <a:solidFill>
                  <a:schemeClr val="accent2"/>
                </a:solidFill>
                <a:latin typeface="Cambria" pitchFamily="34" charset="0"/>
                <a:ea typeface="Cambria" pitchFamily="34" charset="-122"/>
                <a:cs typeface="Cambria" pitchFamily="34" charset="-120"/>
              </a:rPr>
              <a:t>US$ 120 M</a:t>
            </a:r>
            <a:endParaRPr lang="en-US" sz="3400" dirty="0"/>
          </a:p>
        </p:txBody>
      </p:sp>
      <p:sp>
        <p:nvSpPr>
          <p:cNvPr id="10" name="Text 8"/>
          <p:cNvSpPr txBox="1"/>
          <p:nvPr/>
        </p:nvSpPr>
        <p:spPr>
          <a:xfrm>
            <a:off x="3566160" y="2926080"/>
            <a:ext cx="2240280" cy="12801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en transacciones en 2016 con 2 500 contratistas; adquirido por Caterpillar en 2017</a:t>
            </a:r>
            <a:endParaRPr lang="en-US" sz="1500" dirty="0"/>
          </a:p>
        </p:txBody>
      </p:sp>
      <p:sp>
        <p:nvSpPr>
          <p:cNvPr id="11" name="tarjeta"/>
          <p:cNvSpPr/>
          <p:nvPr/>
        </p:nvSpPr>
        <p:spPr>
          <a:xfrm>
            <a:off x="6181344" y="1371600"/>
            <a:ext cx="2615184" cy="2926080"/>
          </a:xfrm>
          <a:prstGeom prst="roundRect">
            <a:avLst>
              <a:gd name="adj" fmla="val 3497"/>
            </a:avLst>
          </a:prstGeom>
          <a:solidFill>
            <a:schemeClr val="bg2"/>
          </a:solidFill>
          <a:ln/>
        </p:spPr>
        <p:txBody>
          <a:bodyPr/>
          <a:p/>
        </p:txBody>
      </p:sp>
      <p:sp>
        <p:nvSpPr>
          <p:cNvPr id="12" name="Text 10"/>
          <p:cNvSpPr txBox="1"/>
          <p:nvPr/>
        </p:nvSpPr>
        <p:spPr>
          <a:xfrm>
            <a:off x="6382512" y="1554480"/>
            <a:ext cx="2240280" cy="411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FLOOW2</a:t>
            </a:r>
            <a:endParaRPr lang="en-US" sz="1800" dirty="0"/>
          </a:p>
        </p:txBody>
      </p:sp>
      <p:sp>
        <p:nvSpPr>
          <p:cNvPr id="13" name="Text 11"/>
          <p:cNvSpPr txBox="1"/>
          <p:nvPr/>
        </p:nvSpPr>
        <p:spPr>
          <a:xfrm>
            <a:off x="6382512" y="2057400"/>
            <a:ext cx="2240280" cy="777240"/>
          </a:xfrm>
          <a:prstGeom prst="rect">
            <a:avLst/>
          </a:prstGeom>
          <a:noFill/>
          <a:ln/>
        </p:spPr>
        <p:txBody>
          <a:bodyPr wrap="square" lIns="0" tIns="0" rIns="0" bIns="0" rtlCol="0" anchor="t"/>
          <a:lstStyle/>
          <a:p>
            <a:pPr indent="0" marL="0">
              <a:spcAft>
                <a:spcPts val="400"/>
              </a:spcAft>
              <a:buNone/>
            </a:pPr>
            <a:r>
              <a:rPr lang="en-US" sz="3400" b="1" dirty="0">
                <a:solidFill>
                  <a:schemeClr val="accent2"/>
                </a:solidFill>
                <a:latin typeface="Cambria" pitchFamily="34" charset="0"/>
                <a:ea typeface="Cambria" pitchFamily="34" charset="-122"/>
                <a:cs typeface="Cambria" pitchFamily="34" charset="-120"/>
              </a:rPr>
              <a:t>B2B</a:t>
            </a:r>
            <a:endParaRPr lang="en-US" sz="3400" dirty="0"/>
          </a:p>
        </p:txBody>
      </p:sp>
      <p:sp>
        <p:nvSpPr>
          <p:cNvPr id="14" name="Text 12"/>
          <p:cNvSpPr txBox="1"/>
          <p:nvPr/>
        </p:nvSpPr>
        <p:spPr>
          <a:xfrm>
            <a:off x="6382512" y="2926080"/>
            <a:ext cx="2240280" cy="12801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mercado europeo para compartir equipos y personal entre empresas</a:t>
            </a:r>
            <a:endParaRPr lang="en-US" sz="1500" dirty="0"/>
          </a:p>
        </p:txBody>
      </p:sp>
      <p:sp>
        <p:nvSpPr>
          <p:cNvPr id="15" name="tarjeta"/>
          <p:cNvSpPr/>
          <p:nvPr/>
        </p:nvSpPr>
        <p:spPr>
          <a:xfrm>
            <a:off x="8997696" y="1371600"/>
            <a:ext cx="2615184" cy="2926080"/>
          </a:xfrm>
          <a:prstGeom prst="roundRect">
            <a:avLst>
              <a:gd name="adj" fmla="val 3497"/>
            </a:avLst>
          </a:prstGeom>
          <a:solidFill>
            <a:schemeClr val="bg2"/>
          </a:solidFill>
          <a:ln/>
        </p:spPr>
        <p:txBody>
          <a:bodyPr/>
          <a:p/>
        </p:txBody>
      </p:sp>
      <p:sp>
        <p:nvSpPr>
          <p:cNvPr id="16" name="Text 14"/>
          <p:cNvSpPr txBox="1"/>
          <p:nvPr/>
        </p:nvSpPr>
        <p:spPr>
          <a:xfrm>
            <a:off x="9198864" y="1554480"/>
            <a:ext cx="2240280" cy="411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Sharemac</a:t>
            </a:r>
            <a:endParaRPr lang="en-US" sz="1800" dirty="0"/>
          </a:p>
        </p:txBody>
      </p:sp>
      <p:sp>
        <p:nvSpPr>
          <p:cNvPr id="17" name="Text 15"/>
          <p:cNvSpPr txBox="1"/>
          <p:nvPr/>
        </p:nvSpPr>
        <p:spPr>
          <a:xfrm>
            <a:off x="9198864" y="2057400"/>
            <a:ext cx="2240280" cy="777240"/>
          </a:xfrm>
          <a:prstGeom prst="rect">
            <a:avLst/>
          </a:prstGeom>
          <a:noFill/>
          <a:ln/>
        </p:spPr>
        <p:txBody>
          <a:bodyPr wrap="square" lIns="0" tIns="0" rIns="0" bIns="0" rtlCol="0" anchor="t"/>
          <a:lstStyle/>
          <a:p>
            <a:pPr indent="0" marL="0">
              <a:spcAft>
                <a:spcPts val="400"/>
              </a:spcAft>
              <a:buNone/>
            </a:pPr>
            <a:r>
              <a:rPr lang="en-US" sz="3400" b="1" dirty="0">
                <a:solidFill>
                  <a:schemeClr val="accent2"/>
                </a:solidFill>
                <a:latin typeface="Cambria" pitchFamily="34" charset="0"/>
                <a:ea typeface="Cambria" pitchFamily="34" charset="-122"/>
                <a:cs typeface="Cambria" pitchFamily="34" charset="-120"/>
              </a:rPr>
              <a:t>32 000+</a:t>
            </a:r>
            <a:endParaRPr lang="en-US" sz="3400" dirty="0"/>
          </a:p>
        </p:txBody>
      </p:sp>
      <p:sp>
        <p:nvSpPr>
          <p:cNvPr id="18" name="Text 16"/>
          <p:cNvSpPr txBox="1"/>
          <p:nvPr/>
        </p:nvSpPr>
        <p:spPr>
          <a:xfrm>
            <a:off x="9198864" y="2926080"/>
            <a:ext cx="2240280" cy="12801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máquinas en la plataforma, con comisión de 4 % a 8 % por transacción</a:t>
            </a:r>
            <a:endParaRPr lang="en-US" sz="1500" dirty="0"/>
          </a:p>
        </p:txBody>
      </p:sp>
      <p:sp>
        <p:nvSpPr>
          <p:cNvPr id="19" name="círculo de icono"/>
          <p:cNvSpPr/>
          <p:nvPr/>
        </p:nvSpPr>
        <p:spPr>
          <a:xfrm>
            <a:off x="548640" y="4572000"/>
            <a:ext cx="566928" cy="566928"/>
          </a:xfrm>
          <a:prstGeom prst="ellipse">
            <a:avLst/>
          </a:prstGeom>
          <a:solidFill>
            <a:schemeClr val="tx2"/>
          </a:solidFill>
          <a:ln/>
        </p:spPr>
        <p:txBody>
          <a:bodyPr/>
          <a:p/>
        </p:txBody>
      </p:sp>
      <p:pic>
        <p:nvPicPr>
          <p:cNvPr id="20" name="icono" descr="preencoded.png">    </p:cNvPr>
          <p:cNvPicPr>
            <a:picLocks noChangeAspect="1"/>
          </p:cNvPicPr>
          <p:nvPr/>
        </p:nvPicPr>
        <p:blipFill>
          <a:blip r:embed="rId1"/>
          <a:stretch>
            <a:fillRect/>
          </a:stretch>
        </p:blipFill>
        <p:spPr>
          <a:xfrm>
            <a:off x="684703" y="4708063"/>
            <a:ext cx="294803" cy="294803"/>
          </a:xfrm>
          <a:prstGeom prst="rect">
            <a:avLst/>
          </a:prstGeom>
        </p:spPr>
      </p:pic>
      <p:sp>
        <p:nvSpPr>
          <p:cNvPr id="21" name="Text 18"/>
          <p:cNvSpPr txBox="1"/>
          <p:nvPr/>
        </p:nvSpPr>
        <p:spPr>
          <a:xfrm>
            <a:off x="1280160" y="4553712"/>
            <a:ext cx="10332720"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Todos operan en mercados de alto volumen y en inglés o alemán: queda espacio para una solución local, en español y orientada a pymes.</a:t>
            </a:r>
            <a:endParaRPr lang="en-US" sz="1800" dirty="0"/>
          </a:p>
        </p:txBody>
      </p:sp>
      <p:sp>
        <p:nvSpPr>
          <p:cNvPr id="22" name="Text 19"/>
          <p:cNvSpPr txBox="1"/>
          <p:nvPr/>
        </p:nvSpPr>
        <p:spPr>
          <a:xfrm>
            <a:off x="548640" y="6053328"/>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Fuentes: Tan (2026); Lawler (2017); Ellen MacArthur Foundation (2021); Constructor University (2019).</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Tres propuestas evaluadas</a:t>
            </a:r>
            <a:endParaRPr lang="en-US" sz="3400" dirty="0"/>
          </a:p>
        </p:txBody>
      </p:sp>
      <p:sp>
        <p:nvSpPr>
          <p:cNvPr id="3" name="tarjeta"/>
          <p:cNvSpPr/>
          <p:nvPr/>
        </p:nvSpPr>
        <p:spPr>
          <a:xfrm>
            <a:off x="548640" y="1325880"/>
            <a:ext cx="3520440" cy="4572000"/>
          </a:xfrm>
          <a:prstGeom prst="roundRect">
            <a:avLst>
              <a:gd name="adj" fmla="val 2597"/>
            </a:avLst>
          </a:prstGeom>
          <a:solidFill>
            <a:schemeClr val="tx2"/>
          </a:solidFill>
          <a:ln/>
        </p:spPr>
        <p:txBody>
          <a:bodyPr/>
          <a:p/>
        </p:txBody>
      </p:sp>
      <p:sp>
        <p:nvSpPr>
          <p:cNvPr id="4" name="Text 2"/>
          <p:cNvSpPr txBox="1"/>
          <p:nvPr/>
        </p:nvSpPr>
        <p:spPr>
          <a:xfrm>
            <a:off x="749808" y="1508760"/>
            <a:ext cx="3118104" cy="77724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P01 · Android nativa + API REST propia + Firebase</a:t>
            </a:r>
            <a:endParaRPr lang="en-US" sz="1600" dirty="0"/>
          </a:p>
        </p:txBody>
      </p:sp>
      <p:sp>
        <p:nvSpPr>
          <p:cNvPr id="5" name="Text 3"/>
          <p:cNvSpPr txBox="1"/>
          <p:nvPr/>
        </p:nvSpPr>
        <p:spPr>
          <a:xfrm>
            <a:off x="749808" y="2331720"/>
            <a:ext cx="3118104" cy="1097280"/>
          </a:xfrm>
          <a:prstGeom prst="rect">
            <a:avLst/>
          </a:prstGeom>
          <a:noFill/>
          <a:ln/>
        </p:spPr>
        <p:txBody>
          <a:bodyPr wrap="square" lIns="0" tIns="0" rIns="0" bIns="0" rtlCol="0" anchor="t"/>
          <a:lstStyle/>
          <a:p>
            <a:pPr indent="0" marL="0">
              <a:spcAft>
                <a:spcPts val="400"/>
              </a:spcAft>
              <a:buNone/>
            </a:pPr>
            <a:r>
              <a:rPr lang="en-US" sz="1400" dirty="0">
                <a:solidFill>
                  <a:schemeClr val="bg1"/>
                </a:solidFill>
              </a:rPr>
              <a:t>Kotlin, Compose y MVVM; Retrofit hacia Node.js/Express; Room y DataStore; Firebase Auth y Firestore; Google Maps.</a:t>
            </a:r>
            <a:endParaRPr lang="en-US" sz="1400" dirty="0"/>
          </a:p>
        </p:txBody>
      </p:sp>
      <p:sp>
        <p:nvSpPr>
          <p:cNvPr id="6" name="Text 4"/>
          <p:cNvSpPr txBox="1"/>
          <p:nvPr/>
        </p:nvSpPr>
        <p:spPr>
          <a:xfrm>
            <a:off x="749808" y="3474720"/>
            <a:ext cx="3118104" cy="1143000"/>
          </a:xfrm>
          <a:prstGeom prst="rect">
            <a:avLst/>
          </a:prstGeom>
          <a:noFill/>
          <a:ln/>
        </p:spPr>
        <p:txBody>
          <a:bodyPr wrap="square" lIns="0" tIns="0" rIns="0" bIns="0" rtlCol="0" anchor="t"/>
          <a:lstStyle/>
          <a:p>
            <a:pPr indent="0" marL="0">
              <a:spcAft>
                <a:spcPts val="400"/>
              </a:spcAft>
              <a:buNone/>
            </a:pPr>
            <a:r>
              <a:rPr lang="en-US" sz="1400" b="1" dirty="0">
                <a:solidFill>
                  <a:schemeClr val="accent6"/>
                </a:solidFill>
              </a:rPr>
              <a:t>A favor: </a:t>
            </a:r>
            <a:pPr indent="0" marL="0">
              <a:spcAft>
                <a:spcPts val="400"/>
              </a:spcAft>
              <a:buNone/>
            </a:pPr>
            <a:r>
              <a:rPr lang="en-US" sz="1400" dirty="0">
                <a:solidFill>
                  <a:schemeClr val="bg1"/>
                </a:solidFill>
              </a:rPr>
              <a:t>Funciones nativas y modo sin conexión; reglas centralizadas y probadas en el servidor; cumple los requisitos académicos del proyecto.</a:t>
            </a:r>
            <a:endParaRPr lang="en-US" sz="1400" dirty="0"/>
          </a:p>
        </p:txBody>
      </p:sp>
      <p:sp>
        <p:nvSpPr>
          <p:cNvPr id="7" name="Text 5"/>
          <p:cNvSpPr txBox="1"/>
          <p:nvPr/>
        </p:nvSpPr>
        <p:spPr>
          <a:xfrm>
            <a:off x="749808" y="4663440"/>
            <a:ext cx="3118104" cy="914400"/>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En contra: </a:t>
            </a:r>
            <a:pPr indent="0" marL="0">
              <a:spcAft>
                <a:spcPts val="400"/>
              </a:spcAft>
              <a:buNone/>
            </a:pPr>
            <a:r>
              <a:rPr lang="en-US" sz="1400" dirty="0">
                <a:solidFill>
                  <a:schemeClr val="bg1"/>
                </a:solidFill>
              </a:rPr>
              <a:t>Dos proyectos que mantener; excluye por ahora a iOS (≈ 14 %).</a:t>
            </a:r>
            <a:endParaRPr lang="en-US" sz="1400" dirty="0"/>
          </a:p>
        </p:txBody>
      </p:sp>
      <p:sp>
        <p:nvSpPr>
          <p:cNvPr id="8" name="etiqueta seleccionada"/>
          <p:cNvSpPr/>
          <p:nvPr/>
        </p:nvSpPr>
        <p:spPr>
          <a:xfrm>
            <a:off x="2560320" y="1143000"/>
            <a:ext cx="1371600" cy="384048"/>
          </a:xfrm>
          <a:prstGeom prst="roundRect">
            <a:avLst>
              <a:gd name="adj" fmla="val 47619"/>
            </a:avLst>
          </a:prstGeom>
          <a:solidFill>
            <a:schemeClr val="accent2"/>
          </a:solidFill>
          <a:ln/>
        </p:spPr>
        <p:txBody>
          <a:bodyPr/>
          <a:p/>
        </p:txBody>
      </p:sp>
      <p:sp>
        <p:nvSpPr>
          <p:cNvPr id="9" name="Text 7"/>
          <p:cNvSpPr txBox="1"/>
          <p:nvPr/>
        </p:nvSpPr>
        <p:spPr>
          <a:xfrm>
            <a:off x="2560320" y="1143000"/>
            <a:ext cx="137160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Seleccionada</a:t>
            </a:r>
            <a:endParaRPr lang="en-US" sz="1300" dirty="0"/>
          </a:p>
        </p:txBody>
      </p:sp>
      <p:sp>
        <p:nvSpPr>
          <p:cNvPr id="10" name="tarjeta"/>
          <p:cNvSpPr/>
          <p:nvPr/>
        </p:nvSpPr>
        <p:spPr>
          <a:xfrm>
            <a:off x="4334256" y="1325880"/>
            <a:ext cx="3520440" cy="4572000"/>
          </a:xfrm>
          <a:prstGeom prst="roundRect">
            <a:avLst>
              <a:gd name="adj" fmla="val 2597"/>
            </a:avLst>
          </a:prstGeom>
          <a:solidFill>
            <a:schemeClr val="bg2"/>
          </a:solidFill>
          <a:ln/>
        </p:spPr>
        <p:txBody>
          <a:bodyPr/>
          <a:p/>
        </p:txBody>
      </p:sp>
      <p:sp>
        <p:nvSpPr>
          <p:cNvPr id="11" name="Text 9"/>
          <p:cNvSpPr txBox="1"/>
          <p:nvPr/>
        </p:nvSpPr>
        <p:spPr>
          <a:xfrm>
            <a:off x="4535424" y="1508760"/>
            <a:ext cx="3118104" cy="7772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P02 · Aplicación web progresiva (PWA)</a:t>
            </a:r>
            <a:endParaRPr lang="en-US" sz="1600" dirty="0"/>
          </a:p>
        </p:txBody>
      </p:sp>
      <p:sp>
        <p:nvSpPr>
          <p:cNvPr id="12" name="Text 10"/>
          <p:cNvSpPr txBox="1"/>
          <p:nvPr/>
        </p:nvSpPr>
        <p:spPr>
          <a:xfrm>
            <a:off x="4535424" y="2331720"/>
            <a:ext cx="3118104" cy="10972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Sitio responsivo instalable con el mismo catálogo y flujo de reservas.</a:t>
            </a:r>
            <a:endParaRPr lang="en-US" sz="1400" dirty="0"/>
          </a:p>
        </p:txBody>
      </p:sp>
      <p:sp>
        <p:nvSpPr>
          <p:cNvPr id="13" name="Text 11"/>
          <p:cNvSpPr txBox="1"/>
          <p:nvPr/>
        </p:nvSpPr>
        <p:spPr>
          <a:xfrm>
            <a:off x="4535424" y="3474720"/>
            <a:ext cx="3118104" cy="1143000"/>
          </a:xfrm>
          <a:prstGeom prst="rect">
            <a:avLst/>
          </a:prstGeom>
          <a:noFill/>
          <a:ln/>
        </p:spPr>
        <p:txBody>
          <a:bodyPr wrap="square" lIns="0" tIns="0" rIns="0" bIns="0" rtlCol="0" anchor="t"/>
          <a:lstStyle/>
          <a:p>
            <a:pPr indent="0" marL="0">
              <a:spcAft>
                <a:spcPts val="400"/>
              </a:spcAft>
              <a:buNone/>
            </a:pPr>
            <a:r>
              <a:rPr lang="en-US" sz="1400" b="1" dirty="0">
                <a:solidFill>
                  <a:schemeClr val="accent3"/>
                </a:solidFill>
              </a:rPr>
              <a:t>A favor: </a:t>
            </a:r>
            <a:pPr indent="0" marL="0">
              <a:spcAft>
                <a:spcPts val="400"/>
              </a:spcAft>
              <a:buNone/>
            </a:pPr>
            <a:r>
              <a:rPr lang="en-US" sz="1400" dirty="0">
                <a:solidFill>
                  <a:schemeClr val="tx1"/>
                </a:solidFill>
              </a:rPr>
              <a:t>Un solo código para Android, iOS y escritorio.</a:t>
            </a:r>
            <a:endParaRPr lang="en-US" sz="1400" dirty="0"/>
          </a:p>
        </p:txBody>
      </p:sp>
      <p:sp>
        <p:nvSpPr>
          <p:cNvPr id="14" name="Text 12"/>
          <p:cNvSpPr txBox="1"/>
          <p:nvPr/>
        </p:nvSpPr>
        <p:spPr>
          <a:xfrm>
            <a:off x="4535424" y="4663440"/>
            <a:ext cx="3118104" cy="914400"/>
          </a:xfrm>
          <a:prstGeom prst="rect">
            <a:avLst/>
          </a:prstGeom>
          <a:noFill/>
          <a:ln/>
        </p:spPr>
        <p:txBody>
          <a:bodyPr wrap="square" lIns="0" tIns="0" rIns="0" bIns="0" rtlCol="0" anchor="t"/>
          <a:lstStyle/>
          <a:p>
            <a:pPr indent="0" marL="0">
              <a:spcAft>
                <a:spcPts val="400"/>
              </a:spcAft>
              <a:buNone/>
            </a:pPr>
            <a:r>
              <a:rPr lang="en-US" sz="1400" b="1" dirty="0">
                <a:solidFill>
                  <a:schemeClr val="accent5"/>
                </a:solidFill>
              </a:rPr>
              <a:t>En contra: </a:t>
            </a:r>
            <a:pPr indent="0" marL="0">
              <a:spcAft>
                <a:spcPts val="400"/>
              </a:spcAft>
              <a:buNone/>
            </a:pPr>
            <a:r>
              <a:rPr lang="en-US" sz="1400" dirty="0">
                <a:solidFill>
                  <a:schemeClr val="tx1"/>
                </a:solidFill>
              </a:rPr>
              <a:t>Menor integración nativa y offline; no desarrolla Kotlin, Compose, Room ni Retrofit.</a:t>
            </a:r>
            <a:endParaRPr lang="en-US" sz="1400" dirty="0"/>
          </a:p>
        </p:txBody>
      </p:sp>
      <p:sp>
        <p:nvSpPr>
          <p:cNvPr id="15" name="tarjeta"/>
          <p:cNvSpPr/>
          <p:nvPr/>
        </p:nvSpPr>
        <p:spPr>
          <a:xfrm>
            <a:off x="8119872" y="1325880"/>
            <a:ext cx="3520440" cy="4572000"/>
          </a:xfrm>
          <a:prstGeom prst="roundRect">
            <a:avLst>
              <a:gd name="adj" fmla="val 2597"/>
            </a:avLst>
          </a:prstGeom>
          <a:solidFill>
            <a:schemeClr val="bg2"/>
          </a:solidFill>
          <a:ln/>
        </p:spPr>
        <p:txBody>
          <a:bodyPr/>
          <a:p/>
        </p:txBody>
      </p:sp>
      <p:sp>
        <p:nvSpPr>
          <p:cNvPr id="16" name="Text 14"/>
          <p:cNvSpPr txBox="1"/>
          <p:nvPr/>
        </p:nvSpPr>
        <p:spPr>
          <a:xfrm>
            <a:off x="8321040" y="1508760"/>
            <a:ext cx="3118104" cy="7772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P03 · Android solo con Firebase</a:t>
            </a:r>
            <a:endParaRPr lang="en-US" sz="1600" dirty="0"/>
          </a:p>
        </p:txBody>
      </p:sp>
      <p:sp>
        <p:nvSpPr>
          <p:cNvPr id="17" name="Text 15"/>
          <p:cNvSpPr txBox="1"/>
          <p:nvPr/>
        </p:nvSpPr>
        <p:spPr>
          <a:xfrm>
            <a:off x="8321040" y="2331720"/>
            <a:ext cx="3118104" cy="10972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Propuesta original del equipo: Firestore, Storage y Cloud Functions sin servidor propio.</a:t>
            </a:r>
            <a:endParaRPr lang="en-US" sz="1400" dirty="0"/>
          </a:p>
        </p:txBody>
      </p:sp>
      <p:sp>
        <p:nvSpPr>
          <p:cNvPr id="18" name="Text 16"/>
          <p:cNvSpPr txBox="1"/>
          <p:nvPr/>
        </p:nvSpPr>
        <p:spPr>
          <a:xfrm>
            <a:off x="8321040" y="3474720"/>
            <a:ext cx="3118104" cy="1143000"/>
          </a:xfrm>
          <a:prstGeom prst="rect">
            <a:avLst/>
          </a:prstGeom>
          <a:noFill/>
          <a:ln/>
        </p:spPr>
        <p:txBody>
          <a:bodyPr wrap="square" lIns="0" tIns="0" rIns="0" bIns="0" rtlCol="0" anchor="t"/>
          <a:lstStyle/>
          <a:p>
            <a:pPr indent="0" marL="0">
              <a:spcAft>
                <a:spcPts val="400"/>
              </a:spcAft>
              <a:buNone/>
            </a:pPr>
            <a:r>
              <a:rPr lang="en-US" sz="1400" b="1" dirty="0">
                <a:solidFill>
                  <a:schemeClr val="accent3"/>
                </a:solidFill>
              </a:rPr>
              <a:t>A favor: </a:t>
            </a:r>
            <a:pPr indent="0" marL="0">
              <a:spcAft>
                <a:spcPts val="400"/>
              </a:spcAft>
              <a:buNone/>
            </a:pPr>
            <a:r>
              <a:rPr lang="en-US" sz="1400" dirty="0">
                <a:solidFill>
                  <a:schemeClr val="tx1"/>
                </a:solidFill>
              </a:rPr>
              <a:t>Menos infraestructura; tiempo real incorporado.</a:t>
            </a:r>
            <a:endParaRPr lang="en-US" sz="1400" dirty="0"/>
          </a:p>
        </p:txBody>
      </p:sp>
      <p:sp>
        <p:nvSpPr>
          <p:cNvPr id="19" name="Text 17"/>
          <p:cNvSpPr txBox="1"/>
          <p:nvPr/>
        </p:nvSpPr>
        <p:spPr>
          <a:xfrm>
            <a:off x="8321040" y="4663440"/>
            <a:ext cx="3118104" cy="914400"/>
          </a:xfrm>
          <a:prstGeom prst="rect">
            <a:avLst/>
          </a:prstGeom>
          <a:noFill/>
          <a:ln/>
        </p:spPr>
        <p:txBody>
          <a:bodyPr wrap="square" lIns="0" tIns="0" rIns="0" bIns="0" rtlCol="0" anchor="t"/>
          <a:lstStyle/>
          <a:p>
            <a:pPr indent="0" marL="0">
              <a:spcAft>
                <a:spcPts val="400"/>
              </a:spcAft>
              <a:buNone/>
            </a:pPr>
            <a:r>
              <a:rPr lang="en-US" sz="1400" b="1" dirty="0">
                <a:solidFill>
                  <a:schemeClr val="accent5"/>
                </a:solidFill>
              </a:rPr>
              <a:t>En contra: </a:t>
            </a:r>
            <a:pPr indent="0" marL="0">
              <a:spcAft>
                <a:spcPts val="400"/>
              </a:spcAft>
              <a:buNone/>
            </a:pPr>
            <a:r>
              <a:rPr lang="en-US" sz="1400" dirty="0">
                <a:solidFill>
                  <a:schemeClr val="tx1"/>
                </a:solidFill>
              </a:rPr>
              <a:t>Cloud Storage exige el plan Blaze desde 2024; reglas dispersas; no usa API REST con Retrofit.</a:t>
            </a:r>
            <a:endParaRPr lang="en-US" sz="1400" dirty="0"/>
          </a:p>
        </p:txBody>
      </p:sp>
      <p:sp>
        <p:nvSpPr>
          <p:cNvPr id="20" name="Text 18"/>
          <p:cNvSpPr txBox="1"/>
          <p:nvPr/>
        </p:nvSpPr>
        <p:spPr>
          <a:xfrm>
            <a:off x="548640" y="6053328"/>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Fuentes: StatCounter (2026); Firebase (s. f.-b).</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Objetivos</a:t>
            </a:r>
            <a:endParaRPr lang="en-US" sz="3400" dirty="0"/>
          </a:p>
        </p:txBody>
      </p:sp>
      <p:sp>
        <p:nvSpPr>
          <p:cNvPr id="3" name="objetivo general"/>
          <p:cNvSpPr/>
          <p:nvPr/>
        </p:nvSpPr>
        <p:spPr>
          <a:xfrm>
            <a:off x="548640" y="1325880"/>
            <a:ext cx="3931920" cy="4526280"/>
          </a:xfrm>
          <a:prstGeom prst="roundRect">
            <a:avLst>
              <a:gd name="adj" fmla="val 2326"/>
            </a:avLst>
          </a:prstGeom>
          <a:solidFill>
            <a:schemeClr val="tx2"/>
          </a:solidFill>
          <a:ln/>
        </p:spPr>
        <p:txBody>
          <a:bodyPr/>
          <a:p/>
        </p:txBody>
      </p:sp>
      <p:sp>
        <p:nvSpPr>
          <p:cNvPr id="4" name="Text 2"/>
          <p:cNvSpPr txBox="1"/>
          <p:nvPr/>
        </p:nvSpPr>
        <p:spPr>
          <a:xfrm>
            <a:off x="777240" y="1554480"/>
            <a:ext cx="347472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Objetivo general</a:t>
            </a:r>
            <a:endParaRPr lang="en-US" sz="1800" dirty="0"/>
          </a:p>
        </p:txBody>
      </p:sp>
      <p:sp>
        <p:nvSpPr>
          <p:cNvPr id="5" name="Text 3"/>
          <p:cNvSpPr txBox="1"/>
          <p:nvPr/>
        </p:nvSpPr>
        <p:spPr>
          <a:xfrm>
            <a:off x="777240" y="2057400"/>
            <a:ext cx="3474720" cy="3566160"/>
          </a:xfrm>
          <a:prstGeom prst="rect">
            <a:avLst/>
          </a:prstGeom>
          <a:noFill/>
          <a:ln/>
        </p:spPr>
        <p:txBody>
          <a:bodyPr wrap="square" lIns="0" tIns="0" rIns="0" bIns="0" rtlCol="0" anchor="t"/>
          <a:lstStyle/>
          <a:p>
            <a:pPr indent="0" marL="0">
              <a:spcAft>
                <a:spcPts val="400"/>
              </a:spcAft>
              <a:buNone/>
            </a:pPr>
            <a:r>
              <a:rPr lang="en-US" sz="1600" dirty="0">
                <a:solidFill>
                  <a:schemeClr val="bg1"/>
                </a:solidFill>
              </a:rPr>
              <a:t>Desarrollar una app Android con arquitectura MVVM, integrada con una API REST propia, Firebase y Google Maps, que permita a las pymes de Trujillo publicar, buscar y reservar equipos subutilizados, para reducir sobrecostos y usar los recursos de forma eficiente (ODS 12).</a:t>
            </a:r>
            <a:endParaRPr lang="en-US" sz="1600" dirty="0"/>
          </a:p>
        </p:txBody>
      </p:sp>
      <p:sp>
        <p:nvSpPr>
          <p:cNvPr id="6" name="Text 4"/>
          <p:cNvSpPr txBox="1"/>
          <p:nvPr/>
        </p:nvSpPr>
        <p:spPr>
          <a:xfrm>
            <a:off x="4800600" y="1325880"/>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OE1</a:t>
            </a:r>
            <a:endParaRPr lang="en-US" sz="1800" dirty="0"/>
          </a:p>
        </p:txBody>
      </p:sp>
      <p:sp>
        <p:nvSpPr>
          <p:cNvPr id="7" name="Text 5"/>
          <p:cNvSpPr txBox="1"/>
          <p:nvPr/>
        </p:nvSpPr>
        <p:spPr>
          <a:xfrm>
            <a:off x="5577840" y="1325880"/>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Especificar backlog, 8 reglas de negocio y requisitos no funcionales</a:t>
            </a:r>
            <a:endParaRPr lang="en-US" sz="1600" dirty="0"/>
          </a:p>
        </p:txBody>
      </p:sp>
      <p:sp>
        <p:nvSpPr>
          <p:cNvPr id="8" name="Text 6"/>
          <p:cNvSpPr txBox="1"/>
          <p:nvPr/>
        </p:nvSpPr>
        <p:spPr>
          <a:xfrm>
            <a:off x="4800600" y="1975104"/>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OE2</a:t>
            </a:r>
            <a:endParaRPr lang="en-US" sz="1800" dirty="0"/>
          </a:p>
        </p:txBody>
      </p:sp>
      <p:sp>
        <p:nvSpPr>
          <p:cNvPr id="9" name="Text 7"/>
          <p:cNvSpPr txBox="1"/>
          <p:nvPr/>
        </p:nvSpPr>
        <p:spPr>
          <a:xfrm>
            <a:off x="5577840" y="1975104"/>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Diseñar MVVM, modelo de datos, contrato JSON y flujo de pantallas</a:t>
            </a:r>
            <a:endParaRPr lang="en-US" sz="1600" dirty="0"/>
          </a:p>
        </p:txBody>
      </p:sp>
      <p:sp>
        <p:nvSpPr>
          <p:cNvPr id="10" name="Text 8"/>
          <p:cNvSpPr txBox="1"/>
          <p:nvPr/>
        </p:nvSpPr>
        <p:spPr>
          <a:xfrm>
            <a:off x="4800600" y="2624328"/>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OE3</a:t>
            </a:r>
            <a:endParaRPr lang="en-US" sz="1800" dirty="0"/>
          </a:p>
        </p:txBody>
      </p:sp>
      <p:sp>
        <p:nvSpPr>
          <p:cNvPr id="11" name="Text 9"/>
          <p:cNvSpPr txBox="1"/>
          <p:nvPr/>
        </p:nvSpPr>
        <p:spPr>
          <a:xfrm>
            <a:off x="5577840" y="2624328"/>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Implementar interfaz y navegación en Compose con validaciones</a:t>
            </a:r>
            <a:endParaRPr lang="en-US" sz="1600" dirty="0"/>
          </a:p>
        </p:txBody>
      </p:sp>
      <p:sp>
        <p:nvSpPr>
          <p:cNvPr id="12" name="Text 10"/>
          <p:cNvSpPr txBox="1"/>
          <p:nvPr/>
        </p:nvSpPr>
        <p:spPr>
          <a:xfrm>
            <a:off x="4800600" y="3273552"/>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OE4</a:t>
            </a:r>
            <a:endParaRPr lang="en-US" sz="1800" dirty="0"/>
          </a:p>
        </p:txBody>
      </p:sp>
      <p:sp>
        <p:nvSpPr>
          <p:cNvPr id="13" name="Text 11"/>
          <p:cNvSpPr txBox="1"/>
          <p:nvPr/>
        </p:nvSpPr>
        <p:spPr>
          <a:xfrm>
            <a:off x="5577840" y="3273552"/>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Persistencia local con Room y DataStore (patrón Repository)</a:t>
            </a:r>
            <a:endParaRPr lang="en-US" sz="1600" dirty="0"/>
          </a:p>
        </p:txBody>
      </p:sp>
      <p:sp>
        <p:nvSpPr>
          <p:cNvPr id="14" name="Text 12"/>
          <p:cNvSpPr txBox="1"/>
          <p:nvPr/>
        </p:nvSpPr>
        <p:spPr>
          <a:xfrm>
            <a:off x="4800600" y="3922776"/>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OE5</a:t>
            </a:r>
            <a:endParaRPr lang="en-US" sz="1800" dirty="0"/>
          </a:p>
        </p:txBody>
      </p:sp>
      <p:sp>
        <p:nvSpPr>
          <p:cNvPr id="15" name="Text 13"/>
          <p:cNvSpPr txBox="1"/>
          <p:nvPr/>
        </p:nvSpPr>
        <p:spPr>
          <a:xfrm>
            <a:off x="5577840" y="3922776"/>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API REST con CRUD consumida con Retrofit y manejo de estados</a:t>
            </a:r>
            <a:endParaRPr lang="en-US" sz="1600" dirty="0"/>
          </a:p>
        </p:txBody>
      </p:sp>
      <p:sp>
        <p:nvSpPr>
          <p:cNvPr id="16" name="Text 14"/>
          <p:cNvSpPr txBox="1"/>
          <p:nvPr/>
        </p:nvSpPr>
        <p:spPr>
          <a:xfrm>
            <a:off x="4800600" y="4572000"/>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OE6</a:t>
            </a:r>
            <a:endParaRPr lang="en-US" sz="1800" dirty="0"/>
          </a:p>
        </p:txBody>
      </p:sp>
      <p:sp>
        <p:nvSpPr>
          <p:cNvPr id="17" name="Text 15"/>
          <p:cNvSpPr txBox="1"/>
          <p:nvPr/>
        </p:nvSpPr>
        <p:spPr>
          <a:xfrm>
            <a:off x="5577840" y="4572000"/>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Integrar Firebase Auth, Firestore y Google Maps con privacidad</a:t>
            </a:r>
            <a:endParaRPr lang="en-US" sz="1600" dirty="0"/>
          </a:p>
        </p:txBody>
      </p:sp>
      <p:sp>
        <p:nvSpPr>
          <p:cNvPr id="18" name="Text 16"/>
          <p:cNvSpPr txBox="1"/>
          <p:nvPr/>
        </p:nvSpPr>
        <p:spPr>
          <a:xfrm>
            <a:off x="4800600" y="5221224"/>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OE7</a:t>
            </a:r>
            <a:endParaRPr lang="en-US" sz="1800" dirty="0"/>
          </a:p>
        </p:txBody>
      </p:sp>
      <p:sp>
        <p:nvSpPr>
          <p:cNvPr id="19" name="Text 17"/>
          <p:cNvSpPr txBox="1"/>
          <p:nvPr/>
        </p:nvSpPr>
        <p:spPr>
          <a:xfrm>
            <a:off x="5577840" y="5221224"/>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Verificar el 100 % de las reglas con pruebas automatizadas</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Metodología Scrum</a:t>
            </a:r>
            <a:endParaRPr lang="en-US" sz="3400" dirty="0"/>
          </a:p>
        </p:txBody>
      </p:sp>
      <p:pic>
        <p:nvPicPr>
          <p:cNvPr id="3" name="Cronograma de sprints" descr="/home/claude/EQUISHARE/docs/figuras/cronograma.png">    </p:cNvPr>
          <p:cNvPicPr>
            <a:picLocks noChangeAspect="1"/>
          </p:cNvPicPr>
          <p:nvPr/>
        </p:nvPicPr>
        <p:blipFill>
          <a:blip r:embed="rId1"/>
          <a:stretch>
            <a:fillRect/>
          </a:stretch>
        </p:blipFill>
        <p:spPr>
          <a:xfrm>
            <a:off x="994410" y="1188720"/>
            <a:ext cx="10172700" cy="4069080"/>
          </a:xfrm>
          <a:prstGeom prst="rect">
            <a:avLst/>
          </a:prstGeom>
        </p:spPr>
      </p:pic>
      <p:sp>
        <p:nvSpPr>
          <p:cNvPr id="4" name="tarjeta"/>
          <p:cNvSpPr/>
          <p:nvPr/>
        </p:nvSpPr>
        <p:spPr>
          <a:xfrm>
            <a:off x="548640" y="5349240"/>
            <a:ext cx="3520440" cy="868680"/>
          </a:xfrm>
          <a:prstGeom prst="roundRect">
            <a:avLst>
              <a:gd name="adj" fmla="val 10526"/>
            </a:avLst>
          </a:prstGeom>
          <a:solidFill>
            <a:schemeClr val="bg2"/>
          </a:solidFill>
          <a:ln/>
        </p:spPr>
        <p:txBody>
          <a:bodyPr/>
          <a:p/>
        </p:txBody>
      </p:sp>
      <p:sp>
        <p:nvSpPr>
          <p:cNvPr id="5" name="Text 2"/>
          <p:cNvSpPr txBox="1"/>
          <p:nvPr/>
        </p:nvSpPr>
        <p:spPr>
          <a:xfrm>
            <a:off x="731520" y="5394960"/>
            <a:ext cx="3200400" cy="777240"/>
          </a:xfrm>
          <a:prstGeom prst="rect">
            <a:avLst/>
          </a:prstGeom>
          <a:noFill/>
          <a:ln/>
        </p:spPr>
        <p:txBody>
          <a:bodyPr wrap="square" lIns="0" tIns="0" rIns="0" bIns="0" rtlCol="0" anchor="ctr"/>
          <a:lstStyle/>
          <a:p>
            <a:pPr indent="0" marL="0">
              <a:buNone/>
            </a:pPr>
            <a:r>
              <a:rPr lang="en-US" sz="1300" b="1" dirty="0">
                <a:solidFill>
                  <a:schemeClr val="tx2"/>
                </a:solidFill>
              </a:rPr>
              <a:t>Sprints 0–5</a:t>
            </a:r>
            <a:endParaRPr lang="en-US" sz="1300" dirty="0"/>
          </a:p>
          <a:p>
            <a:pPr indent="0" marL="0">
              <a:buNone/>
            </a:pPr>
            <a:r>
              <a:rPr lang="en-US" sz="1300" dirty="0">
                <a:solidFill>
                  <a:schemeClr val="tx1"/>
                </a:solidFill>
              </a:rPr>
              <a:t>Investigación, backlog, interfaz, Room, API REST y Firebase</a:t>
            </a:r>
            <a:endParaRPr lang="en-US" sz="1300" dirty="0"/>
          </a:p>
        </p:txBody>
      </p:sp>
      <p:sp>
        <p:nvSpPr>
          <p:cNvPr id="6" name="tarjeta"/>
          <p:cNvSpPr/>
          <p:nvPr/>
        </p:nvSpPr>
        <p:spPr>
          <a:xfrm>
            <a:off x="4334256" y="5349240"/>
            <a:ext cx="3520440" cy="868680"/>
          </a:xfrm>
          <a:prstGeom prst="roundRect">
            <a:avLst>
              <a:gd name="adj" fmla="val 10526"/>
            </a:avLst>
          </a:prstGeom>
          <a:solidFill>
            <a:schemeClr val="bg2"/>
          </a:solidFill>
          <a:ln/>
        </p:spPr>
        <p:txBody>
          <a:bodyPr/>
          <a:p/>
        </p:txBody>
      </p:sp>
      <p:sp>
        <p:nvSpPr>
          <p:cNvPr id="7" name="Text 4"/>
          <p:cNvSpPr txBox="1"/>
          <p:nvPr/>
        </p:nvSpPr>
        <p:spPr>
          <a:xfrm>
            <a:off x="4517136" y="5394960"/>
            <a:ext cx="3200400" cy="777240"/>
          </a:xfrm>
          <a:prstGeom prst="rect">
            <a:avLst/>
          </a:prstGeom>
          <a:noFill/>
          <a:ln/>
        </p:spPr>
        <p:txBody>
          <a:bodyPr wrap="square" lIns="0" tIns="0" rIns="0" bIns="0" rtlCol="0" anchor="ctr"/>
          <a:lstStyle/>
          <a:p>
            <a:pPr indent="0" marL="0">
              <a:buNone/>
            </a:pPr>
            <a:r>
              <a:rPr lang="en-US" sz="1300" b="1" dirty="0">
                <a:solidFill>
                  <a:schemeClr val="tx2"/>
                </a:solidFill>
              </a:rPr>
              <a:t>Sprints 6–7</a:t>
            </a:r>
            <a:endParaRPr lang="en-US" sz="1300" dirty="0"/>
          </a:p>
          <a:p>
            <a:pPr indent="0" marL="0">
              <a:buNone/>
            </a:pPr>
            <a:r>
              <a:rPr lang="en-US" sz="1300" dirty="0">
                <a:solidFill>
                  <a:schemeClr val="tx1"/>
                </a:solidFill>
              </a:rPr>
              <a:t>Google Maps, permisos y privacidad; integración final y pruebas</a:t>
            </a:r>
            <a:endParaRPr lang="en-US" sz="1300" dirty="0"/>
          </a:p>
        </p:txBody>
      </p:sp>
      <p:sp>
        <p:nvSpPr>
          <p:cNvPr id="8" name="tarjeta"/>
          <p:cNvSpPr/>
          <p:nvPr/>
        </p:nvSpPr>
        <p:spPr>
          <a:xfrm>
            <a:off x="8119872" y="5349240"/>
            <a:ext cx="3520440" cy="868680"/>
          </a:xfrm>
          <a:prstGeom prst="roundRect">
            <a:avLst>
              <a:gd name="adj" fmla="val 10526"/>
            </a:avLst>
          </a:prstGeom>
          <a:solidFill>
            <a:schemeClr val="bg2"/>
          </a:solidFill>
          <a:ln/>
        </p:spPr>
        <p:txBody>
          <a:bodyPr/>
          <a:p/>
        </p:txBody>
      </p:sp>
      <p:sp>
        <p:nvSpPr>
          <p:cNvPr id="9" name="Text 6"/>
          <p:cNvSpPr txBox="1"/>
          <p:nvPr/>
        </p:nvSpPr>
        <p:spPr>
          <a:xfrm>
            <a:off x="8302752" y="5394960"/>
            <a:ext cx="3200400" cy="777240"/>
          </a:xfrm>
          <a:prstGeom prst="rect">
            <a:avLst/>
          </a:prstGeom>
          <a:noFill/>
          <a:ln/>
        </p:spPr>
        <p:txBody>
          <a:bodyPr wrap="square" lIns="0" tIns="0" rIns="0" bIns="0" rtlCol="0" anchor="ctr"/>
          <a:lstStyle/>
          <a:p>
            <a:pPr indent="0" marL="0">
              <a:buNone/>
            </a:pPr>
            <a:r>
              <a:rPr lang="en-US" sz="1300" b="1" dirty="0">
                <a:solidFill>
                  <a:schemeClr val="tx2"/>
                </a:solidFill>
              </a:rPr>
              <a:t>Cierre</a:t>
            </a:r>
            <a:endParaRPr lang="en-US" sz="1300" dirty="0"/>
          </a:p>
          <a:p>
            <a:pPr indent="0" marL="0">
              <a:buNone/>
            </a:pPr>
            <a:r>
              <a:rPr lang="en-US" sz="1300" dirty="0">
                <a:solidFill>
                  <a:schemeClr val="tx1"/>
                </a:solidFill>
              </a:rPr>
              <a:t>Informe final, video y sustentación</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Tecnologías seleccionadas</a:t>
            </a:r>
            <a:endParaRPr lang="en-US" sz="3400" dirty="0"/>
          </a:p>
        </p:txBody>
      </p:sp>
      <p:sp>
        <p:nvSpPr>
          <p:cNvPr id="3" name="tarjeta"/>
          <p:cNvSpPr/>
          <p:nvPr/>
        </p:nvSpPr>
        <p:spPr>
          <a:xfrm>
            <a:off x="548640" y="1371600"/>
            <a:ext cx="2615184" cy="2121408"/>
          </a:xfrm>
          <a:prstGeom prst="roundRect">
            <a:avLst>
              <a:gd name="adj" fmla="val 4310"/>
            </a:avLst>
          </a:prstGeom>
          <a:solidFill>
            <a:schemeClr val="bg2"/>
          </a:solidFill>
          <a:ln/>
        </p:spPr>
        <p:txBody>
          <a:bodyPr/>
          <a:p/>
        </p:txBody>
      </p:sp>
      <p:sp>
        <p:nvSpPr>
          <p:cNvPr id="4" name="círculo de icono"/>
          <p:cNvSpPr/>
          <p:nvPr/>
        </p:nvSpPr>
        <p:spPr>
          <a:xfrm>
            <a:off x="749808" y="1572768"/>
            <a:ext cx="621792" cy="621792"/>
          </a:xfrm>
          <a:prstGeom prst="ellipse">
            <a:avLst/>
          </a:prstGeom>
          <a:solidFill>
            <a:schemeClr val="tx2"/>
          </a:solidFill>
          <a:ln/>
        </p:spPr>
        <p:txBody>
          <a:bodyPr/>
          <a:p/>
        </p:txBody>
      </p:sp>
      <p:pic>
        <p:nvPicPr>
          <p:cNvPr id="5" name="icono" descr="preencoded.png">    </p:cNvPr>
          <p:cNvPicPr>
            <a:picLocks noChangeAspect="1"/>
          </p:cNvPicPr>
          <p:nvPr/>
        </p:nvPicPr>
        <p:blipFill>
          <a:blip r:embed="rId1"/>
          <a:stretch>
            <a:fillRect/>
          </a:stretch>
        </p:blipFill>
        <p:spPr>
          <a:xfrm>
            <a:off x="899038" y="1721998"/>
            <a:ext cx="323332" cy="323332"/>
          </a:xfrm>
          <a:prstGeom prst="rect">
            <a:avLst/>
          </a:prstGeom>
        </p:spPr>
      </p:pic>
      <p:sp>
        <p:nvSpPr>
          <p:cNvPr id="6" name="Text 3"/>
          <p:cNvSpPr txBox="1"/>
          <p:nvPr/>
        </p:nvSpPr>
        <p:spPr>
          <a:xfrm>
            <a:off x="749808" y="228600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Kotlin 2.0.21 + Jetpack Compose</a:t>
            </a:r>
            <a:endParaRPr lang="en-US" sz="1500" dirty="0"/>
          </a:p>
        </p:txBody>
      </p:sp>
      <p:sp>
        <p:nvSpPr>
          <p:cNvPr id="7" name="Text 4"/>
          <p:cNvSpPr txBox="1"/>
          <p:nvPr/>
        </p:nvSpPr>
        <p:spPr>
          <a:xfrm>
            <a:off x="749808" y="283464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Material 3, Navigation Compose; minSdk 26, targetSdk 35</a:t>
            </a:r>
            <a:endParaRPr lang="en-US" sz="1300" dirty="0"/>
          </a:p>
        </p:txBody>
      </p:sp>
      <p:sp>
        <p:nvSpPr>
          <p:cNvPr id="8" name="tarjeta"/>
          <p:cNvSpPr/>
          <p:nvPr/>
        </p:nvSpPr>
        <p:spPr>
          <a:xfrm>
            <a:off x="3364992" y="1371600"/>
            <a:ext cx="2615184" cy="2121408"/>
          </a:xfrm>
          <a:prstGeom prst="roundRect">
            <a:avLst>
              <a:gd name="adj" fmla="val 4310"/>
            </a:avLst>
          </a:prstGeom>
          <a:solidFill>
            <a:schemeClr val="bg2"/>
          </a:solidFill>
          <a:ln/>
        </p:spPr>
        <p:txBody>
          <a:bodyPr/>
          <a:p/>
        </p:txBody>
      </p:sp>
      <p:sp>
        <p:nvSpPr>
          <p:cNvPr id="9" name="círculo de icono"/>
          <p:cNvSpPr/>
          <p:nvPr/>
        </p:nvSpPr>
        <p:spPr>
          <a:xfrm>
            <a:off x="3566160" y="1572768"/>
            <a:ext cx="621792" cy="621792"/>
          </a:xfrm>
          <a:prstGeom prst="ellipse">
            <a:avLst/>
          </a:prstGeom>
          <a:solidFill>
            <a:schemeClr val="tx2"/>
          </a:solidFill>
          <a:ln/>
        </p:spPr>
        <p:txBody>
          <a:bodyPr/>
          <a:p/>
        </p:txBody>
      </p:sp>
      <p:pic>
        <p:nvPicPr>
          <p:cNvPr id="10" name="icono" descr="preencoded.png">    </p:cNvPr>
          <p:cNvPicPr>
            <a:picLocks noChangeAspect="1"/>
          </p:cNvPicPr>
          <p:nvPr/>
        </p:nvPicPr>
        <p:blipFill>
          <a:blip r:embed="rId2"/>
          <a:stretch>
            <a:fillRect/>
          </a:stretch>
        </p:blipFill>
        <p:spPr>
          <a:xfrm>
            <a:off x="3715390" y="1721998"/>
            <a:ext cx="323332" cy="323332"/>
          </a:xfrm>
          <a:prstGeom prst="rect">
            <a:avLst/>
          </a:prstGeom>
        </p:spPr>
      </p:pic>
      <p:sp>
        <p:nvSpPr>
          <p:cNvPr id="11" name="Text 7"/>
          <p:cNvSpPr txBox="1"/>
          <p:nvPr/>
        </p:nvSpPr>
        <p:spPr>
          <a:xfrm>
            <a:off x="3566160" y="228600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MVVM + StateFlow</a:t>
            </a:r>
            <a:endParaRPr lang="en-US" sz="1500" dirty="0"/>
          </a:p>
        </p:txBody>
      </p:sp>
      <p:sp>
        <p:nvSpPr>
          <p:cNvPr id="12" name="Text 8"/>
          <p:cNvSpPr txBox="1"/>
          <p:nvPr/>
        </p:nvSpPr>
        <p:spPr>
          <a:xfrm>
            <a:off x="3566160" y="283464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ViewModel con un estado único por pantalla</a:t>
            </a:r>
            <a:endParaRPr lang="en-US" sz="1300" dirty="0"/>
          </a:p>
        </p:txBody>
      </p:sp>
      <p:sp>
        <p:nvSpPr>
          <p:cNvPr id="13" name="tarjeta"/>
          <p:cNvSpPr/>
          <p:nvPr/>
        </p:nvSpPr>
        <p:spPr>
          <a:xfrm>
            <a:off x="6181344" y="1371600"/>
            <a:ext cx="2615184" cy="2121408"/>
          </a:xfrm>
          <a:prstGeom prst="roundRect">
            <a:avLst>
              <a:gd name="adj" fmla="val 4310"/>
            </a:avLst>
          </a:prstGeom>
          <a:solidFill>
            <a:schemeClr val="bg2"/>
          </a:solidFill>
          <a:ln/>
        </p:spPr>
        <p:txBody>
          <a:bodyPr/>
          <a:p/>
        </p:txBody>
      </p:sp>
      <p:sp>
        <p:nvSpPr>
          <p:cNvPr id="14" name="círculo de icono"/>
          <p:cNvSpPr/>
          <p:nvPr/>
        </p:nvSpPr>
        <p:spPr>
          <a:xfrm>
            <a:off x="6382512" y="1572768"/>
            <a:ext cx="621792" cy="621792"/>
          </a:xfrm>
          <a:prstGeom prst="ellipse">
            <a:avLst/>
          </a:prstGeom>
          <a:solidFill>
            <a:schemeClr val="tx2"/>
          </a:solidFill>
          <a:ln/>
        </p:spPr>
        <p:txBody>
          <a:bodyPr/>
          <a:p/>
        </p:txBody>
      </p:sp>
      <p:pic>
        <p:nvPicPr>
          <p:cNvPr id="15" name="icono" descr="preencoded.png">    </p:cNvPr>
          <p:cNvPicPr>
            <a:picLocks noChangeAspect="1"/>
          </p:cNvPicPr>
          <p:nvPr/>
        </p:nvPicPr>
        <p:blipFill>
          <a:blip r:embed="rId3"/>
          <a:stretch>
            <a:fillRect/>
          </a:stretch>
        </p:blipFill>
        <p:spPr>
          <a:xfrm>
            <a:off x="6531742" y="1721998"/>
            <a:ext cx="323332" cy="323332"/>
          </a:xfrm>
          <a:prstGeom prst="rect">
            <a:avLst/>
          </a:prstGeom>
        </p:spPr>
      </p:pic>
      <p:sp>
        <p:nvSpPr>
          <p:cNvPr id="16" name="Text 11"/>
          <p:cNvSpPr txBox="1"/>
          <p:nvPr/>
        </p:nvSpPr>
        <p:spPr>
          <a:xfrm>
            <a:off x="6382512" y="228600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Room 2.6.1 + DataStore 1.1.1</a:t>
            </a:r>
            <a:endParaRPr lang="en-US" sz="1500" dirty="0"/>
          </a:p>
        </p:txBody>
      </p:sp>
      <p:sp>
        <p:nvSpPr>
          <p:cNvPr id="17" name="Text 12"/>
          <p:cNvSpPr txBox="1"/>
          <p:nvPr/>
        </p:nvSpPr>
        <p:spPr>
          <a:xfrm>
            <a:off x="6382512" y="283464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Caché local y preferencias; patrón Repository</a:t>
            </a:r>
            <a:endParaRPr lang="en-US" sz="1300" dirty="0"/>
          </a:p>
        </p:txBody>
      </p:sp>
      <p:sp>
        <p:nvSpPr>
          <p:cNvPr id="18" name="tarjeta"/>
          <p:cNvSpPr/>
          <p:nvPr/>
        </p:nvSpPr>
        <p:spPr>
          <a:xfrm>
            <a:off x="8997696" y="1371600"/>
            <a:ext cx="2615184" cy="2121408"/>
          </a:xfrm>
          <a:prstGeom prst="roundRect">
            <a:avLst>
              <a:gd name="adj" fmla="val 4310"/>
            </a:avLst>
          </a:prstGeom>
          <a:solidFill>
            <a:schemeClr val="bg2"/>
          </a:solidFill>
          <a:ln/>
        </p:spPr>
        <p:txBody>
          <a:bodyPr/>
          <a:p/>
        </p:txBody>
      </p:sp>
      <p:sp>
        <p:nvSpPr>
          <p:cNvPr id="19" name="círculo de icono"/>
          <p:cNvSpPr/>
          <p:nvPr/>
        </p:nvSpPr>
        <p:spPr>
          <a:xfrm>
            <a:off x="9198864" y="1572768"/>
            <a:ext cx="621792" cy="621792"/>
          </a:xfrm>
          <a:prstGeom prst="ellipse">
            <a:avLst/>
          </a:prstGeom>
          <a:solidFill>
            <a:schemeClr val="tx2"/>
          </a:solidFill>
          <a:ln/>
        </p:spPr>
        <p:txBody>
          <a:bodyPr/>
          <a:p/>
        </p:txBody>
      </p:sp>
      <p:pic>
        <p:nvPicPr>
          <p:cNvPr id="20" name="icono" descr="preencoded.png">    </p:cNvPr>
          <p:cNvPicPr>
            <a:picLocks noChangeAspect="1"/>
          </p:cNvPicPr>
          <p:nvPr/>
        </p:nvPicPr>
        <p:blipFill>
          <a:blip r:embed="rId4"/>
          <a:stretch>
            <a:fillRect/>
          </a:stretch>
        </p:blipFill>
        <p:spPr>
          <a:xfrm>
            <a:off x="9348094" y="1721998"/>
            <a:ext cx="323332" cy="323332"/>
          </a:xfrm>
          <a:prstGeom prst="rect">
            <a:avLst/>
          </a:prstGeom>
        </p:spPr>
      </p:pic>
      <p:sp>
        <p:nvSpPr>
          <p:cNvPr id="21" name="Text 15"/>
          <p:cNvSpPr txBox="1"/>
          <p:nvPr/>
        </p:nvSpPr>
        <p:spPr>
          <a:xfrm>
            <a:off x="9198864" y="228600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Retrofit 2.11 + OkHttp 4.12</a:t>
            </a:r>
            <a:endParaRPr lang="en-US" sz="1500" dirty="0"/>
          </a:p>
        </p:txBody>
      </p:sp>
      <p:sp>
        <p:nvSpPr>
          <p:cNvPr id="22" name="Text 16"/>
          <p:cNvSpPr txBox="1"/>
          <p:nvPr/>
        </p:nvSpPr>
        <p:spPr>
          <a:xfrm>
            <a:off x="9198864" y="283464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Cliente HTTP con token en la cabecera</a:t>
            </a:r>
            <a:endParaRPr lang="en-US" sz="1300" dirty="0"/>
          </a:p>
        </p:txBody>
      </p:sp>
      <p:sp>
        <p:nvSpPr>
          <p:cNvPr id="23" name="tarjeta"/>
          <p:cNvSpPr/>
          <p:nvPr/>
        </p:nvSpPr>
        <p:spPr>
          <a:xfrm>
            <a:off x="548640" y="3703320"/>
            <a:ext cx="2615184" cy="2121408"/>
          </a:xfrm>
          <a:prstGeom prst="roundRect">
            <a:avLst>
              <a:gd name="adj" fmla="val 4310"/>
            </a:avLst>
          </a:prstGeom>
          <a:solidFill>
            <a:schemeClr val="bg2"/>
          </a:solidFill>
          <a:ln/>
        </p:spPr>
        <p:txBody>
          <a:bodyPr/>
          <a:p/>
        </p:txBody>
      </p:sp>
      <p:sp>
        <p:nvSpPr>
          <p:cNvPr id="24" name="círculo de icono"/>
          <p:cNvSpPr/>
          <p:nvPr/>
        </p:nvSpPr>
        <p:spPr>
          <a:xfrm>
            <a:off x="749808" y="3904488"/>
            <a:ext cx="621792" cy="621792"/>
          </a:xfrm>
          <a:prstGeom prst="ellipse">
            <a:avLst/>
          </a:prstGeom>
          <a:solidFill>
            <a:schemeClr val="tx2"/>
          </a:solidFill>
          <a:ln/>
        </p:spPr>
        <p:txBody>
          <a:bodyPr/>
          <a:p/>
        </p:txBody>
      </p:sp>
      <p:pic>
        <p:nvPicPr>
          <p:cNvPr id="25" name="icono" descr="preencoded.png">    </p:cNvPr>
          <p:cNvPicPr>
            <a:picLocks noChangeAspect="1"/>
          </p:cNvPicPr>
          <p:nvPr/>
        </p:nvPicPr>
        <p:blipFill>
          <a:blip r:embed="rId5"/>
          <a:stretch>
            <a:fillRect/>
          </a:stretch>
        </p:blipFill>
        <p:spPr>
          <a:xfrm>
            <a:off x="899038" y="4053718"/>
            <a:ext cx="323332" cy="323332"/>
          </a:xfrm>
          <a:prstGeom prst="rect">
            <a:avLst/>
          </a:prstGeom>
        </p:spPr>
      </p:pic>
      <p:sp>
        <p:nvSpPr>
          <p:cNvPr id="26" name="Text 19"/>
          <p:cNvSpPr txBox="1"/>
          <p:nvPr/>
        </p:nvSpPr>
        <p:spPr>
          <a:xfrm>
            <a:off x="749808" y="461772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Node.js 20 + Express 5</a:t>
            </a:r>
            <a:endParaRPr lang="en-US" sz="1500" dirty="0"/>
          </a:p>
        </p:txBody>
      </p:sp>
      <p:sp>
        <p:nvSpPr>
          <p:cNvPr id="27" name="Text 20"/>
          <p:cNvSpPr txBox="1"/>
          <p:nvPr/>
        </p:nvSpPr>
        <p:spPr>
          <a:xfrm>
            <a:off x="749808" y="516636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API REST con 21 operaciones y OpenAPI 3.0.3</a:t>
            </a:r>
            <a:endParaRPr lang="en-US" sz="1300" dirty="0"/>
          </a:p>
        </p:txBody>
      </p:sp>
      <p:sp>
        <p:nvSpPr>
          <p:cNvPr id="28" name="tarjeta"/>
          <p:cNvSpPr/>
          <p:nvPr/>
        </p:nvSpPr>
        <p:spPr>
          <a:xfrm>
            <a:off x="3364992" y="3703320"/>
            <a:ext cx="2615184" cy="2121408"/>
          </a:xfrm>
          <a:prstGeom prst="roundRect">
            <a:avLst>
              <a:gd name="adj" fmla="val 4310"/>
            </a:avLst>
          </a:prstGeom>
          <a:solidFill>
            <a:schemeClr val="bg2"/>
          </a:solidFill>
          <a:ln/>
        </p:spPr>
        <p:txBody>
          <a:bodyPr/>
          <a:p/>
        </p:txBody>
      </p:sp>
      <p:sp>
        <p:nvSpPr>
          <p:cNvPr id="29" name="círculo de icono"/>
          <p:cNvSpPr/>
          <p:nvPr/>
        </p:nvSpPr>
        <p:spPr>
          <a:xfrm>
            <a:off x="3566160" y="3904488"/>
            <a:ext cx="621792" cy="621792"/>
          </a:xfrm>
          <a:prstGeom prst="ellipse">
            <a:avLst/>
          </a:prstGeom>
          <a:solidFill>
            <a:schemeClr val="tx2"/>
          </a:solidFill>
          <a:ln/>
        </p:spPr>
        <p:txBody>
          <a:bodyPr/>
          <a:p/>
        </p:txBody>
      </p:sp>
      <p:pic>
        <p:nvPicPr>
          <p:cNvPr id="30" name="icono" descr="preencoded.png">    </p:cNvPr>
          <p:cNvPicPr>
            <a:picLocks noChangeAspect="1"/>
          </p:cNvPicPr>
          <p:nvPr/>
        </p:nvPicPr>
        <p:blipFill>
          <a:blip r:embed="rId6"/>
          <a:stretch>
            <a:fillRect/>
          </a:stretch>
        </p:blipFill>
        <p:spPr>
          <a:xfrm>
            <a:off x="3715390" y="4053718"/>
            <a:ext cx="323332" cy="323332"/>
          </a:xfrm>
          <a:prstGeom prst="rect">
            <a:avLst/>
          </a:prstGeom>
        </p:spPr>
      </p:pic>
      <p:sp>
        <p:nvSpPr>
          <p:cNvPr id="31" name="Text 23"/>
          <p:cNvSpPr txBox="1"/>
          <p:nvPr/>
        </p:nvSpPr>
        <p:spPr>
          <a:xfrm>
            <a:off x="3566160" y="461772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Firebase Auth + Firestore</a:t>
            </a:r>
            <a:endParaRPr lang="en-US" sz="1500" dirty="0"/>
          </a:p>
        </p:txBody>
      </p:sp>
      <p:sp>
        <p:nvSpPr>
          <p:cNvPr id="32" name="Text 24"/>
          <p:cNvSpPr txBox="1"/>
          <p:nvPr/>
        </p:nvSpPr>
        <p:spPr>
          <a:xfrm>
            <a:off x="3566160" y="516636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Inicio de sesión, favoritos y consentimiento</a:t>
            </a:r>
            <a:endParaRPr lang="en-US" sz="1300" dirty="0"/>
          </a:p>
        </p:txBody>
      </p:sp>
      <p:sp>
        <p:nvSpPr>
          <p:cNvPr id="33" name="tarjeta"/>
          <p:cNvSpPr/>
          <p:nvPr/>
        </p:nvSpPr>
        <p:spPr>
          <a:xfrm>
            <a:off x="6181344" y="3703320"/>
            <a:ext cx="2615184" cy="2121408"/>
          </a:xfrm>
          <a:prstGeom prst="roundRect">
            <a:avLst>
              <a:gd name="adj" fmla="val 4310"/>
            </a:avLst>
          </a:prstGeom>
          <a:solidFill>
            <a:schemeClr val="bg2"/>
          </a:solidFill>
          <a:ln/>
        </p:spPr>
        <p:txBody>
          <a:bodyPr/>
          <a:p/>
        </p:txBody>
      </p:sp>
      <p:sp>
        <p:nvSpPr>
          <p:cNvPr id="34" name="círculo de icono"/>
          <p:cNvSpPr/>
          <p:nvPr/>
        </p:nvSpPr>
        <p:spPr>
          <a:xfrm>
            <a:off x="6382512" y="3904488"/>
            <a:ext cx="621792" cy="621792"/>
          </a:xfrm>
          <a:prstGeom prst="ellipse">
            <a:avLst/>
          </a:prstGeom>
          <a:solidFill>
            <a:schemeClr val="tx2"/>
          </a:solidFill>
          <a:ln/>
        </p:spPr>
        <p:txBody>
          <a:bodyPr/>
          <a:p/>
        </p:txBody>
      </p:sp>
      <p:pic>
        <p:nvPicPr>
          <p:cNvPr id="35" name="icono" descr="preencoded.png">    </p:cNvPr>
          <p:cNvPicPr>
            <a:picLocks noChangeAspect="1"/>
          </p:cNvPicPr>
          <p:nvPr/>
        </p:nvPicPr>
        <p:blipFill>
          <a:blip r:embed="rId7"/>
          <a:stretch>
            <a:fillRect/>
          </a:stretch>
        </p:blipFill>
        <p:spPr>
          <a:xfrm>
            <a:off x="6531742" y="4053718"/>
            <a:ext cx="323332" cy="323332"/>
          </a:xfrm>
          <a:prstGeom prst="rect">
            <a:avLst/>
          </a:prstGeom>
        </p:spPr>
      </p:pic>
      <p:sp>
        <p:nvSpPr>
          <p:cNvPr id="36" name="Text 27"/>
          <p:cNvSpPr txBox="1"/>
          <p:nvPr/>
        </p:nvSpPr>
        <p:spPr>
          <a:xfrm>
            <a:off x="6382512" y="461772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Maps Compose + Fused Location</a:t>
            </a:r>
            <a:endParaRPr lang="en-US" sz="1500" dirty="0"/>
          </a:p>
        </p:txBody>
      </p:sp>
      <p:sp>
        <p:nvSpPr>
          <p:cNvPr id="37" name="Text 28"/>
          <p:cNvSpPr txBox="1"/>
          <p:nvPr/>
        </p:nvSpPr>
        <p:spPr>
          <a:xfrm>
            <a:off x="6382512" y="516636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Mapa de equipos y búsqueda por cercanía</a:t>
            </a:r>
            <a:endParaRPr lang="en-US" sz="1300" dirty="0"/>
          </a:p>
        </p:txBody>
      </p:sp>
      <p:sp>
        <p:nvSpPr>
          <p:cNvPr id="38" name="tarjeta"/>
          <p:cNvSpPr/>
          <p:nvPr/>
        </p:nvSpPr>
        <p:spPr>
          <a:xfrm>
            <a:off x="8997696" y="3703320"/>
            <a:ext cx="2615184" cy="2121408"/>
          </a:xfrm>
          <a:prstGeom prst="roundRect">
            <a:avLst>
              <a:gd name="adj" fmla="val 4310"/>
            </a:avLst>
          </a:prstGeom>
          <a:solidFill>
            <a:schemeClr val="bg2"/>
          </a:solidFill>
          <a:ln/>
        </p:spPr>
        <p:txBody>
          <a:bodyPr/>
          <a:p/>
        </p:txBody>
      </p:sp>
      <p:sp>
        <p:nvSpPr>
          <p:cNvPr id="39" name="círculo de icono"/>
          <p:cNvSpPr/>
          <p:nvPr/>
        </p:nvSpPr>
        <p:spPr>
          <a:xfrm>
            <a:off x="9198864" y="3904488"/>
            <a:ext cx="621792" cy="621792"/>
          </a:xfrm>
          <a:prstGeom prst="ellipse">
            <a:avLst/>
          </a:prstGeom>
          <a:solidFill>
            <a:schemeClr val="tx2"/>
          </a:solidFill>
          <a:ln/>
        </p:spPr>
        <p:txBody>
          <a:bodyPr/>
          <a:p/>
        </p:txBody>
      </p:sp>
      <p:pic>
        <p:nvPicPr>
          <p:cNvPr id="40" name="icono" descr="preencoded.png">    </p:cNvPr>
          <p:cNvPicPr>
            <a:picLocks noChangeAspect="1"/>
          </p:cNvPicPr>
          <p:nvPr/>
        </p:nvPicPr>
        <p:blipFill>
          <a:blip r:embed="rId8"/>
          <a:stretch>
            <a:fillRect/>
          </a:stretch>
        </p:blipFill>
        <p:spPr>
          <a:xfrm>
            <a:off x="9348094" y="4053718"/>
            <a:ext cx="323332" cy="323332"/>
          </a:xfrm>
          <a:prstGeom prst="rect">
            <a:avLst/>
          </a:prstGeom>
        </p:spPr>
      </p:pic>
      <p:sp>
        <p:nvSpPr>
          <p:cNvPr id="41" name="Text 31"/>
          <p:cNvSpPr txBox="1"/>
          <p:nvPr/>
        </p:nvSpPr>
        <p:spPr>
          <a:xfrm>
            <a:off x="9198864" y="461772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Git, GitHub y pruebas</a:t>
            </a:r>
            <a:endParaRPr lang="en-US" sz="1500" dirty="0"/>
          </a:p>
        </p:txBody>
      </p:sp>
      <p:sp>
        <p:nvSpPr>
          <p:cNvPr id="42" name="Text 32"/>
          <p:cNvSpPr txBox="1"/>
          <p:nvPr/>
        </p:nvSpPr>
        <p:spPr>
          <a:xfrm>
            <a:off x="9198864" y="516636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node:test + supertest; JUnit en la app</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Restricciones realistas y decisiones</a:t>
            </a:r>
            <a:endParaRPr lang="en-US" sz="3400" dirty="0"/>
          </a:p>
        </p:txBody>
      </p:sp>
      <p:sp>
        <p:nvSpPr>
          <p:cNvPr id="3" name="tarjeta"/>
          <p:cNvSpPr/>
          <p:nvPr/>
        </p:nvSpPr>
        <p:spPr>
          <a:xfrm>
            <a:off x="548640" y="1325880"/>
            <a:ext cx="3520440" cy="2212848"/>
          </a:xfrm>
          <a:prstGeom prst="roundRect">
            <a:avLst>
              <a:gd name="adj" fmla="val 4132"/>
            </a:avLst>
          </a:prstGeom>
          <a:solidFill>
            <a:schemeClr val="bg2"/>
          </a:solidFill>
          <a:ln/>
        </p:spPr>
        <p:txBody>
          <a:bodyPr/>
          <a:p/>
        </p:txBody>
      </p:sp>
      <p:sp>
        <p:nvSpPr>
          <p:cNvPr id="4" name="círculo de icono"/>
          <p:cNvSpPr/>
          <p:nvPr/>
        </p:nvSpPr>
        <p:spPr>
          <a:xfrm>
            <a:off x="749808" y="1527048"/>
            <a:ext cx="621792" cy="621792"/>
          </a:xfrm>
          <a:prstGeom prst="ellipse">
            <a:avLst/>
          </a:prstGeom>
          <a:solidFill>
            <a:schemeClr val="accent2"/>
          </a:solidFill>
          <a:ln/>
        </p:spPr>
        <p:txBody>
          <a:bodyPr/>
          <a:p/>
        </p:txBody>
      </p:sp>
      <p:pic>
        <p:nvPicPr>
          <p:cNvPr id="5" name="icono" descr="preencoded.png">    </p:cNvPr>
          <p:cNvPicPr>
            <a:picLocks noChangeAspect="1"/>
          </p:cNvPicPr>
          <p:nvPr/>
        </p:nvPicPr>
        <p:blipFill>
          <a:blip r:embed="rId1"/>
          <a:stretch>
            <a:fillRect/>
          </a:stretch>
        </p:blipFill>
        <p:spPr>
          <a:xfrm>
            <a:off x="899038" y="1676278"/>
            <a:ext cx="323332" cy="323332"/>
          </a:xfrm>
          <a:prstGeom prst="rect">
            <a:avLst/>
          </a:prstGeom>
        </p:spPr>
      </p:pic>
      <p:sp>
        <p:nvSpPr>
          <p:cNvPr id="6" name="Text 3"/>
          <p:cNvSpPr txBox="1"/>
          <p:nvPr/>
        </p:nvSpPr>
        <p:spPr>
          <a:xfrm>
            <a:off x="1508760" y="1600200"/>
            <a:ext cx="2377440" cy="4572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Conectividad</a:t>
            </a:r>
            <a:endParaRPr lang="en-US" sz="1800" dirty="0"/>
          </a:p>
        </p:txBody>
      </p:sp>
      <p:sp>
        <p:nvSpPr>
          <p:cNvPr id="7" name="Text 4"/>
          <p:cNvSpPr txBox="1"/>
          <p:nvPr/>
        </p:nvSpPr>
        <p:spPr>
          <a:xfrm>
            <a:off x="749808"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Offline-first: catálogo y reservas desde Room, aviso «Sin conexión» y recarga al volver la red.</a:t>
            </a:r>
            <a:endParaRPr lang="en-US" sz="1400" dirty="0"/>
          </a:p>
        </p:txBody>
      </p:sp>
      <p:sp>
        <p:nvSpPr>
          <p:cNvPr id="8" name="tarjeta"/>
          <p:cNvSpPr/>
          <p:nvPr/>
        </p:nvSpPr>
        <p:spPr>
          <a:xfrm>
            <a:off x="4334256" y="1325880"/>
            <a:ext cx="3520440" cy="2212848"/>
          </a:xfrm>
          <a:prstGeom prst="roundRect">
            <a:avLst>
              <a:gd name="adj" fmla="val 4132"/>
            </a:avLst>
          </a:prstGeom>
          <a:solidFill>
            <a:schemeClr val="bg2"/>
          </a:solidFill>
          <a:ln/>
        </p:spPr>
        <p:txBody>
          <a:bodyPr/>
          <a:p/>
        </p:txBody>
      </p:sp>
      <p:sp>
        <p:nvSpPr>
          <p:cNvPr id="9" name="círculo de icono"/>
          <p:cNvSpPr/>
          <p:nvPr/>
        </p:nvSpPr>
        <p:spPr>
          <a:xfrm>
            <a:off x="4535424" y="1527048"/>
            <a:ext cx="621792" cy="621792"/>
          </a:xfrm>
          <a:prstGeom prst="ellipse">
            <a:avLst/>
          </a:prstGeom>
          <a:solidFill>
            <a:schemeClr val="accent2"/>
          </a:solidFill>
          <a:ln/>
        </p:spPr>
        <p:txBody>
          <a:bodyPr/>
          <a:p/>
        </p:txBody>
      </p:sp>
      <p:pic>
        <p:nvPicPr>
          <p:cNvPr id="10" name="icono" descr="preencoded.png">    </p:cNvPr>
          <p:cNvPicPr>
            <a:picLocks noChangeAspect="1"/>
          </p:cNvPicPr>
          <p:nvPr/>
        </p:nvPicPr>
        <p:blipFill>
          <a:blip r:embed="rId2"/>
          <a:stretch>
            <a:fillRect/>
          </a:stretch>
        </p:blipFill>
        <p:spPr>
          <a:xfrm>
            <a:off x="4684654" y="1676278"/>
            <a:ext cx="323332" cy="323332"/>
          </a:xfrm>
          <a:prstGeom prst="rect">
            <a:avLst/>
          </a:prstGeom>
        </p:spPr>
      </p:pic>
      <p:sp>
        <p:nvSpPr>
          <p:cNvPr id="11" name="Text 7"/>
          <p:cNvSpPr txBox="1"/>
          <p:nvPr/>
        </p:nvSpPr>
        <p:spPr>
          <a:xfrm>
            <a:off x="5294376" y="1600200"/>
            <a:ext cx="2377440" cy="4572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Seguridad</a:t>
            </a:r>
            <a:endParaRPr lang="en-US" sz="1800" dirty="0"/>
          </a:p>
        </p:txBody>
      </p:sp>
      <p:sp>
        <p:nvSpPr>
          <p:cNvPr id="12" name="Text 8"/>
          <p:cNvSpPr txBox="1"/>
          <p:nvPr/>
        </p:nvSpPr>
        <p:spPr>
          <a:xfrm>
            <a:off x="4535424"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El servidor verifica el token de Firebase y revalida todas las reglas; HTTPS en producción.</a:t>
            </a:r>
            <a:endParaRPr lang="en-US" sz="1400" dirty="0"/>
          </a:p>
        </p:txBody>
      </p:sp>
      <p:sp>
        <p:nvSpPr>
          <p:cNvPr id="13" name="tarjeta"/>
          <p:cNvSpPr/>
          <p:nvPr/>
        </p:nvSpPr>
        <p:spPr>
          <a:xfrm>
            <a:off x="8119872" y="1325880"/>
            <a:ext cx="3520440" cy="2212848"/>
          </a:xfrm>
          <a:prstGeom prst="roundRect">
            <a:avLst>
              <a:gd name="adj" fmla="val 4132"/>
            </a:avLst>
          </a:prstGeom>
          <a:solidFill>
            <a:schemeClr val="bg2"/>
          </a:solidFill>
          <a:ln/>
        </p:spPr>
        <p:txBody>
          <a:bodyPr/>
          <a:p/>
        </p:txBody>
      </p:sp>
      <p:sp>
        <p:nvSpPr>
          <p:cNvPr id="14" name="círculo de icono"/>
          <p:cNvSpPr/>
          <p:nvPr/>
        </p:nvSpPr>
        <p:spPr>
          <a:xfrm>
            <a:off x="8321040" y="1527048"/>
            <a:ext cx="621792" cy="621792"/>
          </a:xfrm>
          <a:prstGeom prst="ellipse">
            <a:avLst/>
          </a:prstGeom>
          <a:solidFill>
            <a:schemeClr val="accent2"/>
          </a:solidFill>
          <a:ln/>
        </p:spPr>
        <p:txBody>
          <a:bodyPr/>
          <a:p/>
        </p:txBody>
      </p:sp>
      <p:pic>
        <p:nvPicPr>
          <p:cNvPr id="15" name="icono" descr="preencoded.png">    </p:cNvPr>
          <p:cNvPicPr>
            <a:picLocks noChangeAspect="1"/>
          </p:cNvPicPr>
          <p:nvPr/>
        </p:nvPicPr>
        <p:blipFill>
          <a:blip r:embed="rId3"/>
          <a:stretch>
            <a:fillRect/>
          </a:stretch>
        </p:blipFill>
        <p:spPr>
          <a:xfrm>
            <a:off x="8470270" y="1676278"/>
            <a:ext cx="323332" cy="323332"/>
          </a:xfrm>
          <a:prstGeom prst="rect">
            <a:avLst/>
          </a:prstGeom>
        </p:spPr>
      </p:pic>
      <p:sp>
        <p:nvSpPr>
          <p:cNvPr id="16" name="Text 11"/>
          <p:cNvSpPr txBox="1"/>
          <p:nvPr/>
        </p:nvSpPr>
        <p:spPr>
          <a:xfrm>
            <a:off x="9079992" y="1600200"/>
            <a:ext cx="2377440" cy="4572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Privacidad</a:t>
            </a:r>
            <a:endParaRPr lang="en-US" sz="1800" dirty="0"/>
          </a:p>
        </p:txBody>
      </p:sp>
      <p:sp>
        <p:nvSpPr>
          <p:cNvPr id="17" name="Text 12"/>
          <p:cNvSpPr txBox="1"/>
          <p:nvPr/>
        </p:nvSpPr>
        <p:spPr>
          <a:xfrm>
            <a:off x="832104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Consentimiento sin casilla premarcada; ubicación opcional; selector de fotos sin permisos amplios.</a:t>
            </a:r>
            <a:endParaRPr lang="en-US" sz="1400" dirty="0"/>
          </a:p>
        </p:txBody>
      </p:sp>
      <p:sp>
        <p:nvSpPr>
          <p:cNvPr id="18" name="tarjeta"/>
          <p:cNvSpPr/>
          <p:nvPr/>
        </p:nvSpPr>
        <p:spPr>
          <a:xfrm>
            <a:off x="548640" y="3721608"/>
            <a:ext cx="3520440" cy="2212848"/>
          </a:xfrm>
          <a:prstGeom prst="roundRect">
            <a:avLst>
              <a:gd name="adj" fmla="val 4132"/>
            </a:avLst>
          </a:prstGeom>
          <a:solidFill>
            <a:schemeClr val="bg2"/>
          </a:solidFill>
          <a:ln/>
        </p:spPr>
        <p:txBody>
          <a:bodyPr/>
          <a:p/>
        </p:txBody>
      </p:sp>
      <p:sp>
        <p:nvSpPr>
          <p:cNvPr id="19" name="círculo de icono"/>
          <p:cNvSpPr/>
          <p:nvPr/>
        </p:nvSpPr>
        <p:spPr>
          <a:xfrm>
            <a:off x="749808" y="3922776"/>
            <a:ext cx="621792" cy="621792"/>
          </a:xfrm>
          <a:prstGeom prst="ellipse">
            <a:avLst/>
          </a:prstGeom>
          <a:solidFill>
            <a:schemeClr val="accent2"/>
          </a:solidFill>
          <a:ln/>
        </p:spPr>
        <p:txBody>
          <a:bodyPr/>
          <a:p/>
        </p:txBody>
      </p:sp>
      <p:pic>
        <p:nvPicPr>
          <p:cNvPr id="20" name="icono" descr="preencoded.png">    </p:cNvPr>
          <p:cNvPicPr>
            <a:picLocks noChangeAspect="1"/>
          </p:cNvPicPr>
          <p:nvPr/>
        </p:nvPicPr>
        <p:blipFill>
          <a:blip r:embed="rId4"/>
          <a:stretch>
            <a:fillRect/>
          </a:stretch>
        </p:blipFill>
        <p:spPr>
          <a:xfrm>
            <a:off x="899038" y="4072006"/>
            <a:ext cx="323332" cy="323332"/>
          </a:xfrm>
          <a:prstGeom prst="rect">
            <a:avLst/>
          </a:prstGeom>
        </p:spPr>
      </p:pic>
      <p:sp>
        <p:nvSpPr>
          <p:cNvPr id="21" name="Text 15"/>
          <p:cNvSpPr txBox="1"/>
          <p:nvPr/>
        </p:nvSpPr>
        <p:spPr>
          <a:xfrm>
            <a:off x="1508760" y="3995928"/>
            <a:ext cx="2377440" cy="4572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Accesibilidad</a:t>
            </a:r>
            <a:endParaRPr lang="en-US" sz="1800" dirty="0"/>
          </a:p>
        </p:txBody>
      </p:sp>
      <p:sp>
        <p:nvSpPr>
          <p:cNvPr id="22" name="Text 16"/>
          <p:cNvSpPr txBox="1"/>
          <p:nvPr/>
        </p:nvSpPr>
        <p:spPr>
          <a:xfrm>
            <a:off x="749808" y="4681728"/>
            <a:ext cx="310896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Contraste ≥ 4,5:1, objetivos táctiles de 48 dp y errores en texto, no solo en color.</a:t>
            </a:r>
            <a:endParaRPr lang="en-US" sz="1400" dirty="0"/>
          </a:p>
        </p:txBody>
      </p:sp>
      <p:sp>
        <p:nvSpPr>
          <p:cNvPr id="23" name="tarjeta"/>
          <p:cNvSpPr/>
          <p:nvPr/>
        </p:nvSpPr>
        <p:spPr>
          <a:xfrm>
            <a:off x="4334256" y="3721608"/>
            <a:ext cx="3520440" cy="2212848"/>
          </a:xfrm>
          <a:prstGeom prst="roundRect">
            <a:avLst>
              <a:gd name="adj" fmla="val 4132"/>
            </a:avLst>
          </a:prstGeom>
          <a:solidFill>
            <a:schemeClr val="bg2"/>
          </a:solidFill>
          <a:ln/>
        </p:spPr>
        <p:txBody>
          <a:bodyPr/>
          <a:p/>
        </p:txBody>
      </p:sp>
      <p:sp>
        <p:nvSpPr>
          <p:cNvPr id="24" name="círculo de icono"/>
          <p:cNvSpPr/>
          <p:nvPr/>
        </p:nvSpPr>
        <p:spPr>
          <a:xfrm>
            <a:off x="4535424" y="3922776"/>
            <a:ext cx="621792" cy="621792"/>
          </a:xfrm>
          <a:prstGeom prst="ellipse">
            <a:avLst/>
          </a:prstGeom>
          <a:solidFill>
            <a:schemeClr val="accent2"/>
          </a:solidFill>
          <a:ln/>
        </p:spPr>
        <p:txBody>
          <a:bodyPr/>
          <a:p/>
        </p:txBody>
      </p:sp>
      <p:pic>
        <p:nvPicPr>
          <p:cNvPr id="25" name="icono" descr="preencoded.png">    </p:cNvPr>
          <p:cNvPicPr>
            <a:picLocks noChangeAspect="1"/>
          </p:cNvPicPr>
          <p:nvPr/>
        </p:nvPicPr>
        <p:blipFill>
          <a:blip r:embed="rId5"/>
          <a:stretch>
            <a:fillRect/>
          </a:stretch>
        </p:blipFill>
        <p:spPr>
          <a:xfrm>
            <a:off x="4684654" y="4072006"/>
            <a:ext cx="323332" cy="323332"/>
          </a:xfrm>
          <a:prstGeom prst="rect">
            <a:avLst/>
          </a:prstGeom>
        </p:spPr>
      </p:pic>
      <p:sp>
        <p:nvSpPr>
          <p:cNvPr id="26" name="Text 19"/>
          <p:cNvSpPr txBox="1"/>
          <p:nvPr/>
        </p:nvSpPr>
        <p:spPr>
          <a:xfrm>
            <a:off x="5294376" y="3995928"/>
            <a:ext cx="2377440" cy="4572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Rendimiento</a:t>
            </a:r>
            <a:endParaRPr lang="en-US" sz="1800" dirty="0"/>
          </a:p>
        </p:txBody>
      </p:sp>
      <p:sp>
        <p:nvSpPr>
          <p:cNvPr id="27" name="Text 20"/>
          <p:cNvSpPr txBox="1"/>
          <p:nvPr/>
        </p:nvSpPr>
        <p:spPr>
          <a:xfrm>
            <a:off x="4535424" y="4681728"/>
            <a:ext cx="310896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Listas perezosas, búsqueda con espera de 400 ms e imágenes reducidas a 1 600 px.</a:t>
            </a:r>
            <a:endParaRPr lang="en-US" sz="1400" dirty="0"/>
          </a:p>
        </p:txBody>
      </p:sp>
      <p:sp>
        <p:nvSpPr>
          <p:cNvPr id="28" name="tarjeta"/>
          <p:cNvSpPr/>
          <p:nvPr/>
        </p:nvSpPr>
        <p:spPr>
          <a:xfrm>
            <a:off x="8119872" y="3721608"/>
            <a:ext cx="3520440" cy="2212848"/>
          </a:xfrm>
          <a:prstGeom prst="roundRect">
            <a:avLst>
              <a:gd name="adj" fmla="val 4132"/>
            </a:avLst>
          </a:prstGeom>
          <a:solidFill>
            <a:schemeClr val="bg2"/>
          </a:solidFill>
          <a:ln/>
        </p:spPr>
        <p:txBody>
          <a:bodyPr/>
          <a:p/>
        </p:txBody>
      </p:sp>
      <p:sp>
        <p:nvSpPr>
          <p:cNvPr id="29" name="círculo de icono"/>
          <p:cNvSpPr/>
          <p:nvPr/>
        </p:nvSpPr>
        <p:spPr>
          <a:xfrm>
            <a:off x="8321040" y="3922776"/>
            <a:ext cx="621792" cy="621792"/>
          </a:xfrm>
          <a:prstGeom prst="ellipse">
            <a:avLst/>
          </a:prstGeom>
          <a:solidFill>
            <a:schemeClr val="accent2"/>
          </a:solidFill>
          <a:ln/>
        </p:spPr>
        <p:txBody>
          <a:bodyPr/>
          <a:p/>
        </p:txBody>
      </p:sp>
      <p:pic>
        <p:nvPicPr>
          <p:cNvPr id="30" name="icono" descr="preencoded.png">    </p:cNvPr>
          <p:cNvPicPr>
            <a:picLocks noChangeAspect="1"/>
          </p:cNvPicPr>
          <p:nvPr/>
        </p:nvPicPr>
        <p:blipFill>
          <a:blip r:embed="rId6"/>
          <a:stretch>
            <a:fillRect/>
          </a:stretch>
        </p:blipFill>
        <p:spPr>
          <a:xfrm>
            <a:off x="8470270" y="4072006"/>
            <a:ext cx="323332" cy="323332"/>
          </a:xfrm>
          <a:prstGeom prst="rect">
            <a:avLst/>
          </a:prstGeom>
        </p:spPr>
      </p:pic>
      <p:sp>
        <p:nvSpPr>
          <p:cNvPr id="31" name="Text 23"/>
          <p:cNvSpPr txBox="1"/>
          <p:nvPr/>
        </p:nvSpPr>
        <p:spPr>
          <a:xfrm>
            <a:off x="9079992" y="3995928"/>
            <a:ext cx="2377440" cy="4572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Uso responsable</a:t>
            </a:r>
            <a:endParaRPr lang="en-US" sz="1800" dirty="0"/>
          </a:p>
        </p:txBody>
      </p:sp>
      <p:sp>
        <p:nvSpPr>
          <p:cNvPr id="32" name="Text 24"/>
          <p:cNvSpPr txBox="1"/>
          <p:nvPr/>
        </p:nvSpPr>
        <p:spPr>
          <a:xfrm>
            <a:off x="8321040" y="4681728"/>
            <a:ext cx="310896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Planes gratuitos, fotos comprimidas y ubicación de prioridad balanceada, sin rastreo en segundo plano.</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Product Backlog y reglas de negocio</a:t>
            </a:r>
            <a:endParaRPr lang="en-US" sz="3400" dirty="0"/>
          </a:p>
        </p:txBody>
      </p:sp>
      <p:sp>
        <p:nvSpPr>
          <p:cNvPr id="3" name="tarjeta"/>
          <p:cNvSpPr/>
          <p:nvPr/>
        </p:nvSpPr>
        <p:spPr>
          <a:xfrm>
            <a:off x="548640" y="1325880"/>
            <a:ext cx="3749040" cy="987552"/>
          </a:xfrm>
          <a:prstGeom prst="roundRect">
            <a:avLst>
              <a:gd name="adj" fmla="val 9259"/>
            </a:avLst>
          </a:prstGeom>
          <a:solidFill>
            <a:schemeClr val="bg2"/>
          </a:solidFill>
          <a:ln/>
        </p:spPr>
        <p:txBody>
          <a:bodyPr/>
          <a:p/>
        </p:txBody>
      </p:sp>
      <p:sp>
        <p:nvSpPr>
          <p:cNvPr id="4" name="Text 2"/>
          <p:cNvSpPr txBox="1"/>
          <p:nvPr/>
        </p:nvSpPr>
        <p:spPr>
          <a:xfrm>
            <a:off x="731520" y="1417320"/>
            <a:ext cx="1005840" cy="804672"/>
          </a:xfrm>
          <a:prstGeom prst="rect">
            <a:avLst/>
          </a:prstGeom>
          <a:noFill/>
          <a:ln/>
        </p:spPr>
        <p:txBody>
          <a:bodyPr wrap="square" lIns="0" tIns="0" rIns="0" bIns="0" rtlCol="0" anchor="ctr"/>
          <a:lstStyle/>
          <a:p>
            <a:pPr indent="0" marL="0">
              <a:spcAft>
                <a:spcPts val="400"/>
              </a:spcAft>
              <a:buNone/>
            </a:pPr>
            <a:r>
              <a:rPr lang="en-US" sz="3600" b="1" dirty="0">
                <a:solidFill>
                  <a:schemeClr val="tx2"/>
                </a:solidFill>
                <a:latin typeface="Cambria" pitchFamily="34" charset="0"/>
                <a:ea typeface="Cambria" pitchFamily="34" charset="-122"/>
                <a:cs typeface="Cambria" pitchFamily="34" charset="-120"/>
              </a:rPr>
              <a:t>16</a:t>
            </a:r>
            <a:endParaRPr lang="en-US" sz="3600" dirty="0"/>
          </a:p>
        </p:txBody>
      </p:sp>
      <p:sp>
        <p:nvSpPr>
          <p:cNvPr id="5" name="Text 3"/>
          <p:cNvSpPr txBox="1"/>
          <p:nvPr/>
        </p:nvSpPr>
        <p:spPr>
          <a:xfrm>
            <a:off x="1783080" y="1417320"/>
            <a:ext cx="2377440" cy="804672"/>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historias de usuario (107 puntos)</a:t>
            </a:r>
            <a:endParaRPr lang="en-US" sz="1500" dirty="0"/>
          </a:p>
        </p:txBody>
      </p:sp>
      <p:sp>
        <p:nvSpPr>
          <p:cNvPr id="6" name="tarjeta"/>
          <p:cNvSpPr/>
          <p:nvPr/>
        </p:nvSpPr>
        <p:spPr>
          <a:xfrm>
            <a:off x="548640" y="2468880"/>
            <a:ext cx="3749040" cy="987552"/>
          </a:xfrm>
          <a:prstGeom prst="roundRect">
            <a:avLst>
              <a:gd name="adj" fmla="val 9259"/>
            </a:avLst>
          </a:prstGeom>
          <a:solidFill>
            <a:schemeClr val="bg2"/>
          </a:solidFill>
          <a:ln/>
        </p:spPr>
        <p:txBody>
          <a:bodyPr/>
          <a:p/>
        </p:txBody>
      </p:sp>
      <p:sp>
        <p:nvSpPr>
          <p:cNvPr id="7" name="Text 5"/>
          <p:cNvSpPr txBox="1"/>
          <p:nvPr/>
        </p:nvSpPr>
        <p:spPr>
          <a:xfrm>
            <a:off x="731520" y="2560320"/>
            <a:ext cx="1005840" cy="804672"/>
          </a:xfrm>
          <a:prstGeom prst="rect">
            <a:avLst/>
          </a:prstGeom>
          <a:noFill/>
          <a:ln/>
        </p:spPr>
        <p:txBody>
          <a:bodyPr wrap="square" lIns="0" tIns="0" rIns="0" bIns="0" rtlCol="0" anchor="ctr"/>
          <a:lstStyle/>
          <a:p>
            <a:pPr indent="0" marL="0">
              <a:spcAft>
                <a:spcPts val="400"/>
              </a:spcAft>
              <a:buNone/>
            </a:pPr>
            <a:r>
              <a:rPr lang="en-US" sz="3600" b="1" dirty="0">
                <a:solidFill>
                  <a:schemeClr val="accent3"/>
                </a:solidFill>
                <a:latin typeface="Cambria" pitchFamily="34" charset="0"/>
                <a:ea typeface="Cambria" pitchFamily="34" charset="-122"/>
                <a:cs typeface="Cambria" pitchFamily="34" charset="-120"/>
              </a:rPr>
              <a:t>12</a:t>
            </a:r>
            <a:endParaRPr lang="en-US" sz="3600" dirty="0"/>
          </a:p>
        </p:txBody>
      </p:sp>
      <p:sp>
        <p:nvSpPr>
          <p:cNvPr id="8" name="Text 6"/>
          <p:cNvSpPr txBox="1"/>
          <p:nvPr/>
        </p:nvSpPr>
        <p:spPr>
          <a:xfrm>
            <a:off x="1783080" y="2560320"/>
            <a:ext cx="2377440" cy="804672"/>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historias implementadas</a:t>
            </a:r>
            <a:endParaRPr lang="en-US" sz="1500" dirty="0"/>
          </a:p>
        </p:txBody>
      </p:sp>
      <p:sp>
        <p:nvSpPr>
          <p:cNvPr id="9" name="tarjeta"/>
          <p:cNvSpPr/>
          <p:nvPr/>
        </p:nvSpPr>
        <p:spPr>
          <a:xfrm>
            <a:off x="548640" y="3611880"/>
            <a:ext cx="3749040" cy="987552"/>
          </a:xfrm>
          <a:prstGeom prst="roundRect">
            <a:avLst>
              <a:gd name="adj" fmla="val 9259"/>
            </a:avLst>
          </a:prstGeom>
          <a:solidFill>
            <a:schemeClr val="bg2"/>
          </a:solidFill>
          <a:ln/>
        </p:spPr>
        <p:txBody>
          <a:bodyPr/>
          <a:p/>
        </p:txBody>
      </p:sp>
      <p:sp>
        <p:nvSpPr>
          <p:cNvPr id="10" name="Text 8"/>
          <p:cNvSpPr txBox="1"/>
          <p:nvPr/>
        </p:nvSpPr>
        <p:spPr>
          <a:xfrm>
            <a:off x="731520" y="3703320"/>
            <a:ext cx="1005840" cy="804672"/>
          </a:xfrm>
          <a:prstGeom prst="rect">
            <a:avLst/>
          </a:prstGeom>
          <a:noFill/>
          <a:ln/>
        </p:spPr>
        <p:txBody>
          <a:bodyPr wrap="square" lIns="0" tIns="0" rIns="0" bIns="0" rtlCol="0" anchor="ctr"/>
          <a:lstStyle/>
          <a:p>
            <a:pPr indent="0" marL="0">
              <a:spcAft>
                <a:spcPts val="400"/>
              </a:spcAft>
              <a:buNone/>
            </a:pPr>
            <a:r>
              <a:rPr lang="en-US" sz="3600" b="1" dirty="0">
                <a:solidFill>
                  <a:schemeClr val="accent2"/>
                </a:solidFill>
                <a:latin typeface="Cambria" pitchFamily="34" charset="0"/>
                <a:ea typeface="Cambria" pitchFamily="34" charset="-122"/>
                <a:cs typeface="Cambria" pitchFamily="34" charset="-120"/>
              </a:rPr>
              <a:t>1</a:t>
            </a:r>
            <a:endParaRPr lang="en-US" sz="3600" dirty="0"/>
          </a:p>
        </p:txBody>
      </p:sp>
      <p:sp>
        <p:nvSpPr>
          <p:cNvPr id="11" name="Text 9"/>
          <p:cNvSpPr txBox="1"/>
          <p:nvPr/>
        </p:nvSpPr>
        <p:spPr>
          <a:xfrm>
            <a:off x="1783080" y="3703320"/>
            <a:ext cx="2377440" cy="804672"/>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parcial: fotos (validación por reglas; ML a futuro)</a:t>
            </a:r>
            <a:endParaRPr lang="en-US" sz="1500" dirty="0"/>
          </a:p>
        </p:txBody>
      </p:sp>
      <p:sp>
        <p:nvSpPr>
          <p:cNvPr id="12" name="tarjeta"/>
          <p:cNvSpPr/>
          <p:nvPr/>
        </p:nvSpPr>
        <p:spPr>
          <a:xfrm>
            <a:off x="548640" y="4754880"/>
            <a:ext cx="3749040" cy="987552"/>
          </a:xfrm>
          <a:prstGeom prst="roundRect">
            <a:avLst>
              <a:gd name="adj" fmla="val 9259"/>
            </a:avLst>
          </a:prstGeom>
          <a:solidFill>
            <a:schemeClr val="bg2"/>
          </a:solidFill>
          <a:ln/>
        </p:spPr>
        <p:txBody>
          <a:bodyPr/>
          <a:p/>
        </p:txBody>
      </p:sp>
      <p:sp>
        <p:nvSpPr>
          <p:cNvPr id="13" name="Text 11"/>
          <p:cNvSpPr txBox="1"/>
          <p:nvPr/>
        </p:nvSpPr>
        <p:spPr>
          <a:xfrm>
            <a:off x="731520" y="4846320"/>
            <a:ext cx="1005840" cy="804672"/>
          </a:xfrm>
          <a:prstGeom prst="rect">
            <a:avLst/>
          </a:prstGeom>
          <a:noFill/>
          <a:ln/>
        </p:spPr>
        <p:txBody>
          <a:bodyPr wrap="square" lIns="0" tIns="0" rIns="0" bIns="0" rtlCol="0" anchor="ctr"/>
          <a:lstStyle/>
          <a:p>
            <a:pPr indent="0" marL="0">
              <a:spcAft>
                <a:spcPts val="400"/>
              </a:spcAft>
              <a:buNone/>
            </a:pPr>
            <a:r>
              <a:rPr lang="en-US" sz="3600" b="1" dirty="0">
                <a:solidFill>
                  <a:schemeClr val="accent4"/>
                </a:solidFill>
                <a:latin typeface="Cambria" pitchFamily="34" charset="0"/>
                <a:ea typeface="Cambria" pitchFamily="34" charset="-122"/>
                <a:cs typeface="Cambria" pitchFamily="34" charset="-120"/>
              </a:rPr>
              <a:t>3</a:t>
            </a:r>
            <a:endParaRPr lang="en-US" sz="3600" dirty="0"/>
          </a:p>
        </p:txBody>
      </p:sp>
      <p:sp>
        <p:nvSpPr>
          <p:cNvPr id="14" name="Text 12"/>
          <p:cNvSpPr txBox="1"/>
          <p:nvPr/>
        </p:nvSpPr>
        <p:spPr>
          <a:xfrm>
            <a:off x="1783080" y="4846320"/>
            <a:ext cx="2377440" cy="804672"/>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como trabajo futuro (avisos, pagos y panel)</a:t>
            </a:r>
            <a:endParaRPr lang="en-US" sz="1500" dirty="0"/>
          </a:p>
        </p:txBody>
      </p:sp>
      <p:sp>
        <p:nvSpPr>
          <p:cNvPr id="15" name="tarjeta"/>
          <p:cNvSpPr/>
          <p:nvPr/>
        </p:nvSpPr>
        <p:spPr>
          <a:xfrm>
            <a:off x="4617720" y="1325880"/>
            <a:ext cx="3364992" cy="987552"/>
          </a:xfrm>
          <a:prstGeom prst="roundRect">
            <a:avLst>
              <a:gd name="adj" fmla="val 9259"/>
            </a:avLst>
          </a:prstGeom>
          <a:solidFill>
            <a:schemeClr val="bg2"/>
          </a:solidFill>
          <a:ln/>
        </p:spPr>
        <p:txBody>
          <a:bodyPr/>
          <a:p/>
        </p:txBody>
      </p:sp>
      <p:sp>
        <p:nvSpPr>
          <p:cNvPr id="16" name="Text 14"/>
          <p:cNvSpPr txBox="1"/>
          <p:nvPr/>
        </p:nvSpPr>
        <p:spPr>
          <a:xfrm>
            <a:off x="4782312" y="1435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RN-01</a:t>
            </a:r>
            <a:endParaRPr lang="en-US" sz="1500" dirty="0"/>
          </a:p>
        </p:txBody>
      </p:sp>
      <p:sp>
        <p:nvSpPr>
          <p:cNvPr id="17" name="Text 15"/>
          <p:cNvSpPr txBox="1"/>
          <p:nvPr/>
        </p:nvSpPr>
        <p:spPr>
          <a:xfrm>
            <a:off x="4782312" y="1783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RUC válido (módulo 11) para operar</a:t>
            </a:r>
            <a:endParaRPr lang="en-US" sz="1400" dirty="0"/>
          </a:p>
        </p:txBody>
      </p:sp>
      <p:sp>
        <p:nvSpPr>
          <p:cNvPr id="18" name="tarjeta"/>
          <p:cNvSpPr/>
          <p:nvPr/>
        </p:nvSpPr>
        <p:spPr>
          <a:xfrm>
            <a:off x="8165592" y="1325880"/>
            <a:ext cx="3364992" cy="987552"/>
          </a:xfrm>
          <a:prstGeom prst="roundRect">
            <a:avLst>
              <a:gd name="adj" fmla="val 9259"/>
            </a:avLst>
          </a:prstGeom>
          <a:solidFill>
            <a:schemeClr val="bg2"/>
          </a:solidFill>
          <a:ln/>
        </p:spPr>
        <p:txBody>
          <a:bodyPr/>
          <a:p/>
        </p:txBody>
      </p:sp>
      <p:sp>
        <p:nvSpPr>
          <p:cNvPr id="19" name="Text 17"/>
          <p:cNvSpPr txBox="1"/>
          <p:nvPr/>
        </p:nvSpPr>
        <p:spPr>
          <a:xfrm>
            <a:off x="8330184" y="1435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RN-02</a:t>
            </a:r>
            <a:endParaRPr lang="en-US" sz="1500" dirty="0"/>
          </a:p>
        </p:txBody>
      </p:sp>
      <p:sp>
        <p:nvSpPr>
          <p:cNvPr id="20" name="Text 18"/>
          <p:cNvSpPr txBox="1"/>
          <p:nvPr/>
        </p:nvSpPr>
        <p:spPr>
          <a:xfrm>
            <a:off x="8330184" y="1783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Sin reservas que se crucen en fechas</a:t>
            </a:r>
            <a:endParaRPr lang="en-US" sz="1400" dirty="0"/>
          </a:p>
        </p:txBody>
      </p:sp>
      <p:sp>
        <p:nvSpPr>
          <p:cNvPr id="21" name="tarjeta"/>
          <p:cNvSpPr/>
          <p:nvPr/>
        </p:nvSpPr>
        <p:spPr>
          <a:xfrm>
            <a:off x="4617720" y="2468880"/>
            <a:ext cx="3364992" cy="987552"/>
          </a:xfrm>
          <a:prstGeom prst="roundRect">
            <a:avLst>
              <a:gd name="adj" fmla="val 9259"/>
            </a:avLst>
          </a:prstGeom>
          <a:solidFill>
            <a:schemeClr val="bg2"/>
          </a:solidFill>
          <a:ln/>
        </p:spPr>
        <p:txBody>
          <a:bodyPr/>
          <a:p/>
        </p:txBody>
      </p:sp>
      <p:sp>
        <p:nvSpPr>
          <p:cNvPr id="22" name="Text 20"/>
          <p:cNvSpPr txBox="1"/>
          <p:nvPr/>
        </p:nvSpPr>
        <p:spPr>
          <a:xfrm>
            <a:off x="4782312" y="2578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RN-03</a:t>
            </a:r>
            <a:endParaRPr lang="en-US" sz="1500" dirty="0"/>
          </a:p>
        </p:txBody>
      </p:sp>
      <p:sp>
        <p:nvSpPr>
          <p:cNvPr id="23" name="Text 21"/>
          <p:cNvSpPr txBox="1"/>
          <p:nvPr/>
        </p:nvSpPr>
        <p:spPr>
          <a:xfrm>
            <a:off x="4782312" y="2926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Comisión del 12 % a cargo del arrendador</a:t>
            </a:r>
            <a:endParaRPr lang="en-US" sz="1400" dirty="0"/>
          </a:p>
        </p:txBody>
      </p:sp>
      <p:sp>
        <p:nvSpPr>
          <p:cNvPr id="24" name="tarjeta"/>
          <p:cNvSpPr/>
          <p:nvPr/>
        </p:nvSpPr>
        <p:spPr>
          <a:xfrm>
            <a:off x="8165592" y="2468880"/>
            <a:ext cx="3364992" cy="987552"/>
          </a:xfrm>
          <a:prstGeom prst="roundRect">
            <a:avLst>
              <a:gd name="adj" fmla="val 9259"/>
            </a:avLst>
          </a:prstGeom>
          <a:solidFill>
            <a:schemeClr val="bg2"/>
          </a:solidFill>
          <a:ln/>
        </p:spPr>
        <p:txBody>
          <a:bodyPr/>
          <a:p/>
        </p:txBody>
      </p:sp>
      <p:sp>
        <p:nvSpPr>
          <p:cNvPr id="25" name="Text 23"/>
          <p:cNvSpPr txBox="1"/>
          <p:nvPr/>
        </p:nvSpPr>
        <p:spPr>
          <a:xfrm>
            <a:off x="8330184" y="2578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RN-04</a:t>
            </a:r>
            <a:endParaRPr lang="en-US" sz="1500" dirty="0"/>
          </a:p>
        </p:txBody>
      </p:sp>
      <p:sp>
        <p:nvSpPr>
          <p:cNvPr id="26" name="Text 24"/>
          <p:cNvSpPr txBox="1"/>
          <p:nvPr/>
        </p:nvSpPr>
        <p:spPr>
          <a:xfrm>
            <a:off x="8330184" y="2926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Foto validada: formato, peso y resolución</a:t>
            </a:r>
            <a:endParaRPr lang="en-US" sz="1400" dirty="0"/>
          </a:p>
        </p:txBody>
      </p:sp>
      <p:sp>
        <p:nvSpPr>
          <p:cNvPr id="27" name="tarjeta"/>
          <p:cNvSpPr/>
          <p:nvPr/>
        </p:nvSpPr>
        <p:spPr>
          <a:xfrm>
            <a:off x="4617720" y="3611880"/>
            <a:ext cx="3364992" cy="987552"/>
          </a:xfrm>
          <a:prstGeom prst="roundRect">
            <a:avLst>
              <a:gd name="adj" fmla="val 9259"/>
            </a:avLst>
          </a:prstGeom>
          <a:solidFill>
            <a:schemeClr val="bg2"/>
          </a:solidFill>
          <a:ln/>
        </p:spPr>
        <p:txBody>
          <a:bodyPr/>
          <a:p/>
        </p:txBody>
      </p:sp>
      <p:sp>
        <p:nvSpPr>
          <p:cNvPr id="28" name="Text 26"/>
          <p:cNvSpPr txBox="1"/>
          <p:nvPr/>
        </p:nvSpPr>
        <p:spPr>
          <a:xfrm>
            <a:off x="4782312" y="3721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RN-05</a:t>
            </a:r>
            <a:endParaRPr lang="en-US" sz="1500" dirty="0"/>
          </a:p>
        </p:txBody>
      </p:sp>
      <p:sp>
        <p:nvSpPr>
          <p:cNvPr id="29" name="Text 27"/>
          <p:cNvSpPr txBox="1"/>
          <p:nvPr/>
        </p:nvSpPr>
        <p:spPr>
          <a:xfrm>
            <a:off x="4782312" y="4069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Calificación 1–5 hasta 48 h tras devolver</a:t>
            </a:r>
            <a:endParaRPr lang="en-US" sz="1400" dirty="0"/>
          </a:p>
        </p:txBody>
      </p:sp>
      <p:sp>
        <p:nvSpPr>
          <p:cNvPr id="30" name="tarjeta"/>
          <p:cNvSpPr/>
          <p:nvPr/>
        </p:nvSpPr>
        <p:spPr>
          <a:xfrm>
            <a:off x="8165592" y="3611880"/>
            <a:ext cx="3364992" cy="987552"/>
          </a:xfrm>
          <a:prstGeom prst="roundRect">
            <a:avLst>
              <a:gd name="adj" fmla="val 9259"/>
            </a:avLst>
          </a:prstGeom>
          <a:solidFill>
            <a:schemeClr val="bg2"/>
          </a:solidFill>
          <a:ln/>
        </p:spPr>
        <p:txBody>
          <a:bodyPr/>
          <a:p/>
        </p:txBody>
      </p:sp>
      <p:sp>
        <p:nvSpPr>
          <p:cNvPr id="31" name="Text 29"/>
          <p:cNvSpPr txBox="1"/>
          <p:nvPr/>
        </p:nvSpPr>
        <p:spPr>
          <a:xfrm>
            <a:off x="8330184" y="3721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RN-06</a:t>
            </a:r>
            <a:endParaRPr lang="en-US" sz="1500" dirty="0"/>
          </a:p>
        </p:txBody>
      </p:sp>
      <p:sp>
        <p:nvSpPr>
          <p:cNvPr id="32" name="Text 30"/>
          <p:cNvSpPr txBox="1"/>
          <p:nvPr/>
        </p:nvSpPr>
        <p:spPr>
          <a:xfrm>
            <a:off x="8330184" y="4069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Promedio &lt; 3,0 tras 5 reseñas → revisión</a:t>
            </a:r>
            <a:endParaRPr lang="en-US" sz="1400" dirty="0"/>
          </a:p>
        </p:txBody>
      </p:sp>
      <p:sp>
        <p:nvSpPr>
          <p:cNvPr id="33" name="tarjeta"/>
          <p:cNvSpPr/>
          <p:nvPr/>
        </p:nvSpPr>
        <p:spPr>
          <a:xfrm>
            <a:off x="4617720" y="4754880"/>
            <a:ext cx="3364992" cy="987552"/>
          </a:xfrm>
          <a:prstGeom prst="roundRect">
            <a:avLst>
              <a:gd name="adj" fmla="val 9259"/>
            </a:avLst>
          </a:prstGeom>
          <a:solidFill>
            <a:schemeClr val="bg2"/>
          </a:solidFill>
          <a:ln/>
        </p:spPr>
        <p:txBody>
          <a:bodyPr/>
          <a:p/>
        </p:txBody>
      </p:sp>
      <p:sp>
        <p:nvSpPr>
          <p:cNvPr id="34" name="Text 32"/>
          <p:cNvSpPr txBox="1"/>
          <p:nvPr/>
        </p:nvSpPr>
        <p:spPr>
          <a:xfrm>
            <a:off x="4782312" y="4864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RN-07</a:t>
            </a:r>
            <a:endParaRPr lang="en-US" sz="1500" dirty="0"/>
          </a:p>
        </p:txBody>
      </p:sp>
      <p:sp>
        <p:nvSpPr>
          <p:cNvPr id="35" name="Text 33"/>
          <p:cNvSpPr txBox="1"/>
          <p:nvPr/>
        </p:nvSpPr>
        <p:spPr>
          <a:xfrm>
            <a:off x="4782312" y="5212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Reservar con 24 h de anticipación</a:t>
            </a:r>
            <a:endParaRPr lang="en-US" sz="1400" dirty="0"/>
          </a:p>
        </p:txBody>
      </p:sp>
      <p:sp>
        <p:nvSpPr>
          <p:cNvPr id="36" name="tarjeta"/>
          <p:cNvSpPr/>
          <p:nvPr/>
        </p:nvSpPr>
        <p:spPr>
          <a:xfrm>
            <a:off x="8165592" y="4754880"/>
            <a:ext cx="3364992" cy="987552"/>
          </a:xfrm>
          <a:prstGeom prst="roundRect">
            <a:avLst>
              <a:gd name="adj" fmla="val 9259"/>
            </a:avLst>
          </a:prstGeom>
          <a:solidFill>
            <a:schemeClr val="bg2"/>
          </a:solidFill>
          <a:ln/>
        </p:spPr>
        <p:txBody>
          <a:bodyPr/>
          <a:p/>
        </p:txBody>
      </p:sp>
      <p:sp>
        <p:nvSpPr>
          <p:cNvPr id="37" name="Text 35"/>
          <p:cNvSpPr txBox="1"/>
          <p:nvPr/>
        </p:nvSpPr>
        <p:spPr>
          <a:xfrm>
            <a:off x="8330184" y="4864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RN-08</a:t>
            </a:r>
            <a:endParaRPr lang="en-US" sz="1500" dirty="0"/>
          </a:p>
        </p:txBody>
      </p:sp>
      <p:sp>
        <p:nvSpPr>
          <p:cNvPr id="38" name="Text 36"/>
          <p:cNvSpPr txBox="1"/>
          <p:nvPr/>
        </p:nvSpPr>
        <p:spPr>
          <a:xfrm>
            <a:off x="8330184" y="5212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Cancelar con &lt; 12 h: penalidad del 20 %</a:t>
            </a:r>
            <a:endParaRPr lang="en-US" sz="1400" dirty="0"/>
          </a:p>
        </p:txBody>
      </p:sp>
      <p:sp>
        <p:nvSpPr>
          <p:cNvPr id="39" name="Text 37"/>
          <p:cNvSpPr txBox="1"/>
          <p:nvPr/>
        </p:nvSpPr>
        <p:spPr>
          <a:xfrm>
            <a:off x="548640" y="6053328"/>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Cada regla se valida en el servidor y se refleja en la app; los criterios de aceptación (Dado / Cuando / Entonces) están en el Anexo 2 del informe.</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Prototipos de alta fidelidad</a:t>
            </a:r>
            <a:endParaRPr lang="en-US" sz="3400" dirty="0"/>
          </a:p>
        </p:txBody>
      </p:sp>
      <p:pic>
        <p:nvPicPr>
          <p:cNvPr id="3" name="prototipo Registro con RUC" descr="/home/claude/EQUISHARE/docs/figuras/proto_2.png">    </p:cNvPr>
          <p:cNvPicPr>
            <a:picLocks noChangeAspect="1"/>
          </p:cNvPicPr>
          <p:nvPr/>
        </p:nvPicPr>
        <p:blipFill>
          <a:blip r:embed="rId1"/>
          <a:stretch>
            <a:fillRect/>
          </a:stretch>
        </p:blipFill>
        <p:spPr>
          <a:xfrm>
            <a:off x="579441" y="1234440"/>
            <a:ext cx="2014086" cy="4251960"/>
          </a:xfrm>
          <a:prstGeom prst="rect">
            <a:avLst/>
          </a:prstGeom>
        </p:spPr>
      </p:pic>
      <p:sp>
        <p:nvSpPr>
          <p:cNvPr id="4" name="Text 1"/>
          <p:cNvSpPr txBox="1"/>
          <p:nvPr/>
        </p:nvSpPr>
        <p:spPr>
          <a:xfrm>
            <a:off x="548640" y="5559552"/>
            <a:ext cx="2075688" cy="36576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Registro con RUC</a:t>
            </a:r>
            <a:endParaRPr lang="en-US" sz="1400" dirty="0"/>
          </a:p>
        </p:txBody>
      </p:sp>
      <p:pic>
        <p:nvPicPr>
          <p:cNvPr id="5" name="prototipo Catálogo" descr="/home/claude/EQUISHARE/docs/figuras/proto_3.png">    </p:cNvPr>
          <p:cNvPicPr>
            <a:picLocks noChangeAspect="1"/>
          </p:cNvPicPr>
          <p:nvPr/>
        </p:nvPicPr>
        <p:blipFill>
          <a:blip r:embed="rId2"/>
          <a:stretch>
            <a:fillRect/>
          </a:stretch>
        </p:blipFill>
        <p:spPr>
          <a:xfrm>
            <a:off x="2838009" y="1234440"/>
            <a:ext cx="2014086" cy="4251960"/>
          </a:xfrm>
          <a:prstGeom prst="rect">
            <a:avLst/>
          </a:prstGeom>
        </p:spPr>
      </p:pic>
      <p:sp>
        <p:nvSpPr>
          <p:cNvPr id="6" name="Text 2"/>
          <p:cNvSpPr txBox="1"/>
          <p:nvPr/>
        </p:nvSpPr>
        <p:spPr>
          <a:xfrm>
            <a:off x="2807208" y="5559552"/>
            <a:ext cx="2075688" cy="36576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Catálogo</a:t>
            </a:r>
            <a:endParaRPr lang="en-US" sz="1400" dirty="0"/>
          </a:p>
        </p:txBody>
      </p:sp>
      <p:pic>
        <p:nvPicPr>
          <p:cNvPr id="7" name="prototipo Detalle del equipo" descr="/home/claude/EQUISHARE/docs/figuras/proto_4.png">    </p:cNvPr>
          <p:cNvPicPr>
            <a:picLocks noChangeAspect="1"/>
          </p:cNvPicPr>
          <p:nvPr/>
        </p:nvPicPr>
        <p:blipFill>
          <a:blip r:embed="rId3"/>
          <a:stretch>
            <a:fillRect/>
          </a:stretch>
        </p:blipFill>
        <p:spPr>
          <a:xfrm>
            <a:off x="5096577" y="1234440"/>
            <a:ext cx="2014086" cy="4251960"/>
          </a:xfrm>
          <a:prstGeom prst="rect">
            <a:avLst/>
          </a:prstGeom>
        </p:spPr>
      </p:pic>
      <p:sp>
        <p:nvSpPr>
          <p:cNvPr id="8" name="Text 3"/>
          <p:cNvSpPr txBox="1"/>
          <p:nvPr/>
        </p:nvSpPr>
        <p:spPr>
          <a:xfrm>
            <a:off x="5065776" y="5559552"/>
            <a:ext cx="2075688" cy="36576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Detalle del equipo</a:t>
            </a:r>
            <a:endParaRPr lang="en-US" sz="1400" dirty="0"/>
          </a:p>
        </p:txBody>
      </p:sp>
      <p:pic>
        <p:nvPicPr>
          <p:cNvPr id="9" name="prototipo Resumen de costos" descr="/home/claude/EQUISHARE/docs/figuras/proto_5.png">    </p:cNvPr>
          <p:cNvPicPr>
            <a:picLocks noChangeAspect="1"/>
          </p:cNvPicPr>
          <p:nvPr/>
        </p:nvPicPr>
        <p:blipFill>
          <a:blip r:embed="rId4"/>
          <a:stretch>
            <a:fillRect/>
          </a:stretch>
        </p:blipFill>
        <p:spPr>
          <a:xfrm>
            <a:off x="7355145" y="1234440"/>
            <a:ext cx="2014086" cy="4251960"/>
          </a:xfrm>
          <a:prstGeom prst="rect">
            <a:avLst/>
          </a:prstGeom>
        </p:spPr>
      </p:pic>
      <p:sp>
        <p:nvSpPr>
          <p:cNvPr id="10" name="Text 4"/>
          <p:cNvSpPr txBox="1"/>
          <p:nvPr/>
        </p:nvSpPr>
        <p:spPr>
          <a:xfrm>
            <a:off x="7324344" y="5559552"/>
            <a:ext cx="2075688" cy="36576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Resumen de costos</a:t>
            </a:r>
            <a:endParaRPr lang="en-US" sz="1400" dirty="0"/>
          </a:p>
        </p:txBody>
      </p:sp>
      <p:pic>
        <p:nvPicPr>
          <p:cNvPr id="11" name="prototipo Publicar equipo" descr="/home/claude/EQUISHARE/docs/figuras/proto_6.png">    </p:cNvPr>
          <p:cNvPicPr>
            <a:picLocks noChangeAspect="1"/>
          </p:cNvPicPr>
          <p:nvPr/>
        </p:nvPicPr>
        <p:blipFill>
          <a:blip r:embed="rId5"/>
          <a:stretch>
            <a:fillRect/>
          </a:stretch>
        </p:blipFill>
        <p:spPr>
          <a:xfrm>
            <a:off x="9613713" y="1234440"/>
            <a:ext cx="2014086" cy="4251960"/>
          </a:xfrm>
          <a:prstGeom prst="rect">
            <a:avLst/>
          </a:prstGeom>
        </p:spPr>
      </p:pic>
      <p:sp>
        <p:nvSpPr>
          <p:cNvPr id="12" name="Text 5"/>
          <p:cNvSpPr txBox="1"/>
          <p:nvPr/>
        </p:nvSpPr>
        <p:spPr>
          <a:xfrm>
            <a:off x="9582912" y="5559552"/>
            <a:ext cx="2075688" cy="36576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Publicar equipo</a:t>
            </a:r>
            <a:endParaRPr lang="en-US" sz="1400" dirty="0"/>
          </a:p>
        </p:txBody>
      </p:sp>
      <p:sp>
        <p:nvSpPr>
          <p:cNvPr id="13" name="Text 6"/>
          <p:cNvSpPr txBox="1"/>
          <p:nvPr/>
        </p:nvSpPr>
        <p:spPr>
          <a:xfrm>
            <a:off x="548640" y="5989320"/>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Datos de demostración ficticios. Las pantallas de reservas y mapa sin conexión se muestran en la demostración.</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Flujo de pantallas y navegación</a:t>
            </a:r>
            <a:endParaRPr lang="en-US" sz="3400" dirty="0"/>
          </a:p>
        </p:txBody>
      </p:sp>
      <p:pic>
        <p:nvPicPr>
          <p:cNvPr id="3" name="Flujo de pantallas" descr="/home/claude/EQUISHARE/docs/figuras/flujo_pantallas.png">    </p:cNvPr>
          <p:cNvPicPr>
            <a:picLocks noChangeAspect="1"/>
          </p:cNvPicPr>
          <p:nvPr/>
        </p:nvPicPr>
        <p:blipFill>
          <a:blip r:embed="rId1"/>
          <a:stretch>
            <a:fillRect/>
          </a:stretch>
        </p:blipFill>
        <p:spPr>
          <a:xfrm>
            <a:off x="548640" y="1280160"/>
            <a:ext cx="11064240" cy="3198447"/>
          </a:xfrm>
          <a:prstGeom prst="rect">
            <a:avLst/>
          </a:prstGeom>
        </p:spPr>
      </p:pic>
      <p:sp>
        <p:nvSpPr>
          <p:cNvPr id="4" name="tarjeta"/>
          <p:cNvSpPr/>
          <p:nvPr/>
        </p:nvSpPr>
        <p:spPr>
          <a:xfrm>
            <a:off x="548640" y="4892040"/>
            <a:ext cx="3520440" cy="1051560"/>
          </a:xfrm>
          <a:prstGeom prst="roundRect">
            <a:avLst>
              <a:gd name="adj" fmla="val 8696"/>
            </a:avLst>
          </a:prstGeom>
          <a:solidFill>
            <a:schemeClr val="bg2"/>
          </a:solidFill>
          <a:ln/>
        </p:spPr>
        <p:txBody>
          <a:bodyPr/>
          <a:p/>
        </p:txBody>
      </p:sp>
      <p:sp>
        <p:nvSpPr>
          <p:cNvPr id="5" name="Text 2"/>
          <p:cNvSpPr txBox="1"/>
          <p:nvPr/>
        </p:nvSpPr>
        <p:spPr>
          <a:xfrm>
            <a:off x="731520" y="4956048"/>
            <a:ext cx="3154680" cy="914400"/>
          </a:xfrm>
          <a:prstGeom prst="rect">
            <a:avLst/>
          </a:prstGeom>
          <a:noFill/>
          <a:ln/>
        </p:spPr>
        <p:txBody>
          <a:bodyPr wrap="square" lIns="0" tIns="0" rIns="0" bIns="0" rtlCol="0" anchor="ctr"/>
          <a:lstStyle/>
          <a:p>
            <a:pPr indent="0" marL="0">
              <a:buNone/>
            </a:pPr>
            <a:r>
              <a:rPr lang="en-US" sz="1300" b="1" dirty="0">
                <a:solidFill>
                  <a:schemeClr val="tx2"/>
                </a:solidFill>
              </a:rPr>
              <a:t>Inicio</a:t>
            </a:r>
            <a:endParaRPr lang="en-US" sz="1300" dirty="0"/>
          </a:p>
          <a:p>
            <a:pPr indent="0" marL="0">
              <a:buNone/>
            </a:pPr>
            <a:r>
              <a:rPr lang="en-US" sz="1300" dirty="0">
                <a:solidFill>
                  <a:schemeClr val="tx1"/>
                </a:solidFill>
              </a:rPr>
              <a:t>Sin servidor configurado → ajuste de URL; sin sesión → inicio de sesión o registro.</a:t>
            </a:r>
            <a:endParaRPr lang="en-US" sz="1300" dirty="0"/>
          </a:p>
        </p:txBody>
      </p:sp>
      <p:sp>
        <p:nvSpPr>
          <p:cNvPr id="6" name="tarjeta"/>
          <p:cNvSpPr/>
          <p:nvPr/>
        </p:nvSpPr>
        <p:spPr>
          <a:xfrm>
            <a:off x="4334256" y="4892040"/>
            <a:ext cx="3520440" cy="1051560"/>
          </a:xfrm>
          <a:prstGeom prst="roundRect">
            <a:avLst>
              <a:gd name="adj" fmla="val 8696"/>
            </a:avLst>
          </a:prstGeom>
          <a:solidFill>
            <a:schemeClr val="bg2"/>
          </a:solidFill>
          <a:ln/>
        </p:spPr>
        <p:txBody>
          <a:bodyPr/>
          <a:p/>
        </p:txBody>
      </p:sp>
      <p:sp>
        <p:nvSpPr>
          <p:cNvPr id="7" name="Text 4"/>
          <p:cNvSpPr txBox="1"/>
          <p:nvPr/>
        </p:nvSpPr>
        <p:spPr>
          <a:xfrm>
            <a:off x="4517136" y="4956048"/>
            <a:ext cx="3154680" cy="914400"/>
          </a:xfrm>
          <a:prstGeom prst="rect">
            <a:avLst/>
          </a:prstGeom>
          <a:noFill/>
          <a:ln/>
        </p:spPr>
        <p:txBody>
          <a:bodyPr wrap="square" lIns="0" tIns="0" rIns="0" bIns="0" rtlCol="0" anchor="ctr"/>
          <a:lstStyle/>
          <a:p>
            <a:pPr indent="0" marL="0">
              <a:buNone/>
            </a:pPr>
            <a:r>
              <a:rPr lang="en-US" sz="1300" b="1" dirty="0">
                <a:solidFill>
                  <a:schemeClr val="tx2"/>
                </a:solidFill>
              </a:rPr>
              <a:t>Perfil de empresa</a:t>
            </a:r>
            <a:endParaRPr lang="en-US" sz="1300" dirty="0"/>
          </a:p>
          <a:p>
            <a:pPr indent="0" marL="0">
              <a:buNone/>
            </a:pPr>
            <a:r>
              <a:rPr lang="en-US" sz="1300" dirty="0">
                <a:solidFill>
                  <a:schemeClr val="tx1"/>
                </a:solidFill>
              </a:rPr>
              <a:t>Sin RUC verificado → «Registra tu empresa» antes de usar la app (RN-01).</a:t>
            </a:r>
            <a:endParaRPr lang="en-US" sz="1300" dirty="0"/>
          </a:p>
        </p:txBody>
      </p:sp>
      <p:sp>
        <p:nvSpPr>
          <p:cNvPr id="8" name="tarjeta"/>
          <p:cNvSpPr/>
          <p:nvPr/>
        </p:nvSpPr>
        <p:spPr>
          <a:xfrm>
            <a:off x="8119872" y="4892040"/>
            <a:ext cx="3520440" cy="1051560"/>
          </a:xfrm>
          <a:prstGeom prst="roundRect">
            <a:avLst>
              <a:gd name="adj" fmla="val 8696"/>
            </a:avLst>
          </a:prstGeom>
          <a:solidFill>
            <a:schemeClr val="bg2"/>
          </a:solidFill>
          <a:ln/>
        </p:spPr>
        <p:txBody>
          <a:bodyPr/>
          <a:p/>
        </p:txBody>
      </p:sp>
      <p:sp>
        <p:nvSpPr>
          <p:cNvPr id="9" name="Text 6"/>
          <p:cNvSpPr txBox="1"/>
          <p:nvPr/>
        </p:nvSpPr>
        <p:spPr>
          <a:xfrm>
            <a:off x="8302752" y="4956048"/>
            <a:ext cx="3154680" cy="914400"/>
          </a:xfrm>
          <a:prstGeom prst="rect">
            <a:avLst/>
          </a:prstGeom>
          <a:noFill/>
          <a:ln/>
        </p:spPr>
        <p:txBody>
          <a:bodyPr wrap="square" lIns="0" tIns="0" rIns="0" bIns="0" rtlCol="0" anchor="ctr"/>
          <a:lstStyle/>
          <a:p>
            <a:pPr indent="0" marL="0">
              <a:buNone/>
            </a:pPr>
            <a:r>
              <a:rPr lang="en-US" sz="1300" b="1" dirty="0">
                <a:solidFill>
                  <a:schemeClr val="tx2"/>
                </a:solidFill>
              </a:rPr>
              <a:t>App principal</a:t>
            </a:r>
            <a:endParaRPr lang="en-US" sz="1300" dirty="0"/>
          </a:p>
          <a:p>
            <a:pPr indent="0" marL="0">
              <a:buNone/>
            </a:pPr>
            <a:r>
              <a:rPr lang="en-US" sz="1300" dirty="0">
                <a:solidFill>
                  <a:schemeClr val="tx1"/>
                </a:solidFill>
              </a:rPr>
              <a:t>5 pestañas: Catálogo, Mapa, Reservas, Mis equipos y Perfil; 11 pantallas en total.</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Arquitectura de la solución</a:t>
            </a:r>
            <a:endParaRPr lang="en-US" sz="3400" dirty="0"/>
          </a:p>
        </p:txBody>
      </p:sp>
      <p:pic>
        <p:nvPicPr>
          <p:cNvPr id="3" name="Arquitectura general" descr="/home/claude/EQUISHARE/docs/figuras/arquitectura.png">    </p:cNvPr>
          <p:cNvPicPr>
            <a:picLocks noChangeAspect="1"/>
          </p:cNvPicPr>
          <p:nvPr/>
        </p:nvPicPr>
        <p:blipFill>
          <a:blip r:embed="rId1"/>
          <a:stretch>
            <a:fillRect/>
          </a:stretch>
        </p:blipFill>
        <p:spPr>
          <a:xfrm>
            <a:off x="548640" y="1280160"/>
            <a:ext cx="11064240" cy="3352260"/>
          </a:xfrm>
          <a:prstGeom prst="rect">
            <a:avLst/>
          </a:prstGeom>
        </p:spPr>
      </p:pic>
      <p:sp>
        <p:nvSpPr>
          <p:cNvPr id="4" name="tarjeta"/>
          <p:cNvSpPr/>
          <p:nvPr/>
        </p:nvSpPr>
        <p:spPr>
          <a:xfrm>
            <a:off x="548640" y="4892040"/>
            <a:ext cx="3520440" cy="1051560"/>
          </a:xfrm>
          <a:prstGeom prst="roundRect">
            <a:avLst>
              <a:gd name="adj" fmla="val 8696"/>
            </a:avLst>
          </a:prstGeom>
          <a:solidFill>
            <a:schemeClr val="bg2"/>
          </a:solidFill>
          <a:ln/>
        </p:spPr>
        <p:txBody>
          <a:bodyPr/>
          <a:p/>
        </p:txBody>
      </p:sp>
      <p:sp>
        <p:nvSpPr>
          <p:cNvPr id="5" name="Text 2"/>
          <p:cNvSpPr txBox="1"/>
          <p:nvPr/>
        </p:nvSpPr>
        <p:spPr>
          <a:xfrm>
            <a:off x="731520" y="4956048"/>
            <a:ext cx="3154680" cy="914400"/>
          </a:xfrm>
          <a:prstGeom prst="rect">
            <a:avLst/>
          </a:prstGeom>
          <a:noFill/>
          <a:ln/>
        </p:spPr>
        <p:txBody>
          <a:bodyPr wrap="square" lIns="0" tIns="0" rIns="0" bIns="0" rtlCol="0" anchor="ctr"/>
          <a:lstStyle/>
          <a:p>
            <a:pPr indent="0" marL="0">
              <a:buNone/>
            </a:pPr>
            <a:r>
              <a:rPr lang="en-US" sz="1300" b="1" dirty="0">
                <a:solidFill>
                  <a:schemeClr val="tx2"/>
                </a:solidFill>
              </a:rPr>
              <a:t>App Android</a:t>
            </a:r>
            <a:endParaRPr lang="en-US" sz="1300" dirty="0"/>
          </a:p>
          <a:p>
            <a:pPr indent="0" marL="0">
              <a:buNone/>
            </a:pPr>
            <a:r>
              <a:rPr lang="en-US" sz="1300" dirty="0">
                <a:solidFill>
                  <a:schemeClr val="tx1"/>
                </a:solidFill>
              </a:rPr>
              <a:t>Compose + MVVM + Repository; Room como fuente única de verdad; Retrofit con token.</a:t>
            </a:r>
            <a:endParaRPr lang="en-US" sz="1300" dirty="0"/>
          </a:p>
        </p:txBody>
      </p:sp>
      <p:sp>
        <p:nvSpPr>
          <p:cNvPr id="6" name="tarjeta"/>
          <p:cNvSpPr/>
          <p:nvPr/>
        </p:nvSpPr>
        <p:spPr>
          <a:xfrm>
            <a:off x="4334256" y="4892040"/>
            <a:ext cx="3520440" cy="1051560"/>
          </a:xfrm>
          <a:prstGeom prst="roundRect">
            <a:avLst>
              <a:gd name="adj" fmla="val 8696"/>
            </a:avLst>
          </a:prstGeom>
          <a:solidFill>
            <a:schemeClr val="bg2"/>
          </a:solidFill>
          <a:ln/>
        </p:spPr>
        <p:txBody>
          <a:bodyPr/>
          <a:p/>
        </p:txBody>
      </p:sp>
      <p:sp>
        <p:nvSpPr>
          <p:cNvPr id="7" name="Text 4"/>
          <p:cNvSpPr txBox="1"/>
          <p:nvPr/>
        </p:nvSpPr>
        <p:spPr>
          <a:xfrm>
            <a:off x="4517136" y="4956048"/>
            <a:ext cx="3154680" cy="914400"/>
          </a:xfrm>
          <a:prstGeom prst="rect">
            <a:avLst/>
          </a:prstGeom>
          <a:noFill/>
          <a:ln/>
        </p:spPr>
        <p:txBody>
          <a:bodyPr wrap="square" lIns="0" tIns="0" rIns="0" bIns="0" rtlCol="0" anchor="ctr"/>
          <a:lstStyle/>
          <a:p>
            <a:pPr indent="0" marL="0">
              <a:buNone/>
            </a:pPr>
            <a:r>
              <a:rPr lang="en-US" sz="1300" b="1" dirty="0">
                <a:solidFill>
                  <a:schemeClr val="tx2"/>
                </a:solidFill>
              </a:rPr>
              <a:t>API REST (Node.js)</a:t>
            </a:r>
            <a:endParaRPr lang="en-US" sz="1300" dirty="0"/>
          </a:p>
          <a:p>
            <a:pPr indent="0" marL="0">
              <a:buNone/>
            </a:pPr>
            <a:r>
              <a:rPr lang="en-US" sz="1300" dirty="0">
                <a:solidFill>
                  <a:schemeClr val="tx1"/>
                </a:solidFill>
              </a:rPr>
              <a:t>Reglas de negocio, validación de fotos y verificación del token de Firebase.</a:t>
            </a:r>
            <a:endParaRPr lang="en-US" sz="1300" dirty="0"/>
          </a:p>
        </p:txBody>
      </p:sp>
      <p:sp>
        <p:nvSpPr>
          <p:cNvPr id="8" name="tarjeta"/>
          <p:cNvSpPr/>
          <p:nvPr/>
        </p:nvSpPr>
        <p:spPr>
          <a:xfrm>
            <a:off x="8119872" y="4892040"/>
            <a:ext cx="3520440" cy="1051560"/>
          </a:xfrm>
          <a:prstGeom prst="roundRect">
            <a:avLst>
              <a:gd name="adj" fmla="val 8696"/>
            </a:avLst>
          </a:prstGeom>
          <a:solidFill>
            <a:schemeClr val="bg2"/>
          </a:solidFill>
          <a:ln/>
        </p:spPr>
        <p:txBody>
          <a:bodyPr/>
          <a:p/>
        </p:txBody>
      </p:sp>
      <p:sp>
        <p:nvSpPr>
          <p:cNvPr id="9" name="Text 6"/>
          <p:cNvSpPr txBox="1"/>
          <p:nvPr/>
        </p:nvSpPr>
        <p:spPr>
          <a:xfrm>
            <a:off x="8302752" y="4956048"/>
            <a:ext cx="3154680" cy="914400"/>
          </a:xfrm>
          <a:prstGeom prst="rect">
            <a:avLst/>
          </a:prstGeom>
          <a:noFill/>
          <a:ln/>
        </p:spPr>
        <p:txBody>
          <a:bodyPr wrap="square" lIns="0" tIns="0" rIns="0" bIns="0" rtlCol="0" anchor="ctr"/>
          <a:lstStyle/>
          <a:p>
            <a:pPr indent="0" marL="0">
              <a:buNone/>
            </a:pPr>
            <a:r>
              <a:rPr lang="en-US" sz="1300" b="1" dirty="0">
                <a:solidFill>
                  <a:schemeClr val="tx2"/>
                </a:solidFill>
              </a:rPr>
              <a:t>Servicios de Google</a:t>
            </a:r>
            <a:endParaRPr lang="en-US" sz="1300" dirty="0"/>
          </a:p>
          <a:p>
            <a:pPr indent="0" marL="0">
              <a:buNone/>
            </a:pPr>
            <a:r>
              <a:rPr lang="en-US" sz="1300" dirty="0">
                <a:solidFill>
                  <a:schemeClr val="tx1"/>
                </a:solidFill>
              </a:rPr>
              <a:t>Firebase Auth, Cloud Firestore, Maps SDK y ubicación de Google Play.</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MVVM y estados de la interfaz</a:t>
            </a:r>
            <a:endParaRPr lang="en-US" sz="3400" dirty="0"/>
          </a:p>
        </p:txBody>
      </p:sp>
      <p:pic>
        <p:nvPicPr>
          <p:cNvPr id="3" name="Patrón MVVM" descr="/home/claude/EQUISHARE/docs/figuras/mvvm.png">    </p:cNvPr>
          <p:cNvPicPr>
            <a:picLocks noChangeAspect="1"/>
          </p:cNvPicPr>
          <p:nvPr/>
        </p:nvPicPr>
        <p:blipFill>
          <a:blip r:embed="rId1"/>
          <a:stretch>
            <a:fillRect/>
          </a:stretch>
        </p:blipFill>
        <p:spPr>
          <a:xfrm>
            <a:off x="1827874" y="1234440"/>
            <a:ext cx="8505771" cy="3383280"/>
          </a:xfrm>
          <a:prstGeom prst="rect">
            <a:avLst/>
          </a:prstGeom>
        </p:spPr>
      </p:pic>
      <p:sp>
        <p:nvSpPr>
          <p:cNvPr id="4" name="tarjeta"/>
          <p:cNvSpPr/>
          <p:nvPr/>
        </p:nvSpPr>
        <p:spPr>
          <a:xfrm>
            <a:off x="548640" y="4800600"/>
            <a:ext cx="2075688" cy="1143000"/>
          </a:xfrm>
          <a:prstGeom prst="roundRect">
            <a:avLst>
              <a:gd name="adj" fmla="val 8000"/>
            </a:avLst>
          </a:prstGeom>
          <a:solidFill>
            <a:schemeClr val="bg2"/>
          </a:solidFill>
          <a:ln/>
        </p:spPr>
        <p:txBody>
          <a:bodyPr/>
          <a:p/>
        </p:txBody>
      </p:sp>
      <p:sp>
        <p:nvSpPr>
          <p:cNvPr id="5" name="círculo de icono"/>
          <p:cNvSpPr/>
          <p:nvPr/>
        </p:nvSpPr>
        <p:spPr>
          <a:xfrm>
            <a:off x="713232" y="4956048"/>
            <a:ext cx="502920" cy="502920"/>
          </a:xfrm>
          <a:prstGeom prst="ellipse">
            <a:avLst/>
          </a:prstGeom>
          <a:solidFill>
            <a:schemeClr val="tx2"/>
          </a:solidFill>
          <a:ln/>
        </p:spPr>
        <p:txBody>
          <a:bodyPr/>
          <a:p/>
        </p:txBody>
      </p:sp>
      <p:pic>
        <p:nvPicPr>
          <p:cNvPr id="6" name="icono" descr="preencoded.png">    </p:cNvPr>
          <p:cNvPicPr>
            <a:picLocks noChangeAspect="1"/>
          </p:cNvPicPr>
          <p:nvPr/>
        </p:nvPicPr>
        <p:blipFill>
          <a:blip r:embed="rId2"/>
          <a:stretch>
            <a:fillRect/>
          </a:stretch>
        </p:blipFill>
        <p:spPr>
          <a:xfrm>
            <a:off x="833933" y="5076749"/>
            <a:ext cx="261518" cy="261518"/>
          </a:xfrm>
          <a:prstGeom prst="rect">
            <a:avLst/>
          </a:prstGeom>
        </p:spPr>
      </p:pic>
      <p:sp>
        <p:nvSpPr>
          <p:cNvPr id="7" name="Text 3"/>
          <p:cNvSpPr txBox="1"/>
          <p:nvPr/>
        </p:nvSpPr>
        <p:spPr>
          <a:xfrm>
            <a:off x="1325880" y="4956048"/>
            <a:ext cx="123444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Cargando</a:t>
            </a:r>
            <a:endParaRPr lang="en-US" sz="1500" dirty="0"/>
          </a:p>
        </p:txBody>
      </p:sp>
      <p:sp>
        <p:nvSpPr>
          <p:cNvPr id="8" name="Text 4"/>
          <p:cNvSpPr txBox="1"/>
          <p:nvPr/>
        </p:nvSpPr>
        <p:spPr>
          <a:xfrm>
            <a:off x="713232" y="5504688"/>
            <a:ext cx="1828800" cy="41148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Indicador y botones deshabilitados</a:t>
            </a:r>
            <a:endParaRPr lang="en-US" sz="1200" dirty="0"/>
          </a:p>
        </p:txBody>
      </p:sp>
      <p:sp>
        <p:nvSpPr>
          <p:cNvPr id="9" name="tarjeta"/>
          <p:cNvSpPr/>
          <p:nvPr/>
        </p:nvSpPr>
        <p:spPr>
          <a:xfrm>
            <a:off x="2807208" y="4800600"/>
            <a:ext cx="2075688" cy="1143000"/>
          </a:xfrm>
          <a:prstGeom prst="roundRect">
            <a:avLst>
              <a:gd name="adj" fmla="val 8000"/>
            </a:avLst>
          </a:prstGeom>
          <a:solidFill>
            <a:schemeClr val="bg2"/>
          </a:solidFill>
          <a:ln/>
        </p:spPr>
        <p:txBody>
          <a:bodyPr/>
          <a:p/>
        </p:txBody>
      </p:sp>
      <p:sp>
        <p:nvSpPr>
          <p:cNvPr id="10" name="círculo de icono"/>
          <p:cNvSpPr/>
          <p:nvPr/>
        </p:nvSpPr>
        <p:spPr>
          <a:xfrm>
            <a:off x="2971800" y="4956048"/>
            <a:ext cx="502920" cy="502920"/>
          </a:xfrm>
          <a:prstGeom prst="ellipse">
            <a:avLst/>
          </a:prstGeom>
          <a:solidFill>
            <a:schemeClr val="accent3"/>
          </a:solidFill>
          <a:ln/>
        </p:spPr>
        <p:txBody>
          <a:bodyPr/>
          <a:p/>
        </p:txBody>
      </p:sp>
      <p:pic>
        <p:nvPicPr>
          <p:cNvPr id="11" name="icono" descr="preencoded.png">    </p:cNvPr>
          <p:cNvPicPr>
            <a:picLocks noChangeAspect="1"/>
          </p:cNvPicPr>
          <p:nvPr/>
        </p:nvPicPr>
        <p:blipFill>
          <a:blip r:embed="rId3"/>
          <a:stretch>
            <a:fillRect/>
          </a:stretch>
        </p:blipFill>
        <p:spPr>
          <a:xfrm>
            <a:off x="3092501" y="5076749"/>
            <a:ext cx="261518" cy="261518"/>
          </a:xfrm>
          <a:prstGeom prst="rect">
            <a:avLst/>
          </a:prstGeom>
        </p:spPr>
      </p:pic>
      <p:sp>
        <p:nvSpPr>
          <p:cNvPr id="12" name="Text 7"/>
          <p:cNvSpPr txBox="1"/>
          <p:nvPr/>
        </p:nvSpPr>
        <p:spPr>
          <a:xfrm>
            <a:off x="3584448" y="4956048"/>
            <a:ext cx="123444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Contenido</a:t>
            </a:r>
            <a:endParaRPr lang="en-US" sz="1500" dirty="0"/>
          </a:p>
        </p:txBody>
      </p:sp>
      <p:sp>
        <p:nvSpPr>
          <p:cNvPr id="13" name="Text 8"/>
          <p:cNvSpPr txBox="1"/>
          <p:nvPr/>
        </p:nvSpPr>
        <p:spPr>
          <a:xfrm>
            <a:off x="2971800" y="5504688"/>
            <a:ext cx="1828800" cy="41148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Datos de Room o de la API</a:t>
            </a:r>
            <a:endParaRPr lang="en-US" sz="1200" dirty="0"/>
          </a:p>
        </p:txBody>
      </p:sp>
      <p:sp>
        <p:nvSpPr>
          <p:cNvPr id="14" name="tarjeta"/>
          <p:cNvSpPr/>
          <p:nvPr/>
        </p:nvSpPr>
        <p:spPr>
          <a:xfrm>
            <a:off x="5065776" y="4800600"/>
            <a:ext cx="2075688" cy="1143000"/>
          </a:xfrm>
          <a:prstGeom prst="roundRect">
            <a:avLst>
              <a:gd name="adj" fmla="val 8000"/>
            </a:avLst>
          </a:prstGeom>
          <a:solidFill>
            <a:schemeClr val="bg2"/>
          </a:solidFill>
          <a:ln/>
        </p:spPr>
        <p:txBody>
          <a:bodyPr/>
          <a:p/>
        </p:txBody>
      </p:sp>
      <p:sp>
        <p:nvSpPr>
          <p:cNvPr id="15" name="círculo de icono"/>
          <p:cNvSpPr/>
          <p:nvPr/>
        </p:nvSpPr>
        <p:spPr>
          <a:xfrm>
            <a:off x="5230368" y="4956048"/>
            <a:ext cx="502920" cy="502920"/>
          </a:xfrm>
          <a:prstGeom prst="ellipse">
            <a:avLst/>
          </a:prstGeom>
          <a:solidFill>
            <a:schemeClr val="accent4"/>
          </a:solidFill>
          <a:ln/>
        </p:spPr>
        <p:txBody>
          <a:bodyPr/>
          <a:p/>
        </p:txBody>
      </p:sp>
      <p:pic>
        <p:nvPicPr>
          <p:cNvPr id="16" name="icono" descr="preencoded.png">    </p:cNvPr>
          <p:cNvPicPr>
            <a:picLocks noChangeAspect="1"/>
          </p:cNvPicPr>
          <p:nvPr/>
        </p:nvPicPr>
        <p:blipFill>
          <a:blip r:embed="rId4"/>
          <a:stretch>
            <a:fillRect/>
          </a:stretch>
        </p:blipFill>
        <p:spPr>
          <a:xfrm>
            <a:off x="5351069" y="5076749"/>
            <a:ext cx="261518" cy="261518"/>
          </a:xfrm>
          <a:prstGeom prst="rect">
            <a:avLst/>
          </a:prstGeom>
        </p:spPr>
      </p:pic>
      <p:sp>
        <p:nvSpPr>
          <p:cNvPr id="17" name="Text 11"/>
          <p:cNvSpPr txBox="1"/>
          <p:nvPr/>
        </p:nvSpPr>
        <p:spPr>
          <a:xfrm>
            <a:off x="5843016" y="4956048"/>
            <a:ext cx="123444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Vacío</a:t>
            </a:r>
            <a:endParaRPr lang="en-US" sz="1500" dirty="0"/>
          </a:p>
        </p:txBody>
      </p:sp>
      <p:sp>
        <p:nvSpPr>
          <p:cNvPr id="18" name="Text 12"/>
          <p:cNvSpPr txBox="1"/>
          <p:nvPr/>
        </p:nvSpPr>
        <p:spPr>
          <a:xfrm>
            <a:off x="5230368" y="5504688"/>
            <a:ext cx="1828800" cy="41148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Mensaje y acción sugerida</a:t>
            </a:r>
            <a:endParaRPr lang="en-US" sz="1200" dirty="0"/>
          </a:p>
        </p:txBody>
      </p:sp>
      <p:sp>
        <p:nvSpPr>
          <p:cNvPr id="19" name="tarjeta"/>
          <p:cNvSpPr/>
          <p:nvPr/>
        </p:nvSpPr>
        <p:spPr>
          <a:xfrm>
            <a:off x="7324344" y="4800600"/>
            <a:ext cx="2075688" cy="1143000"/>
          </a:xfrm>
          <a:prstGeom prst="roundRect">
            <a:avLst>
              <a:gd name="adj" fmla="val 8000"/>
            </a:avLst>
          </a:prstGeom>
          <a:solidFill>
            <a:schemeClr val="bg2"/>
          </a:solidFill>
          <a:ln/>
        </p:spPr>
        <p:txBody>
          <a:bodyPr/>
          <a:p/>
        </p:txBody>
      </p:sp>
      <p:sp>
        <p:nvSpPr>
          <p:cNvPr id="20" name="círculo de icono"/>
          <p:cNvSpPr/>
          <p:nvPr/>
        </p:nvSpPr>
        <p:spPr>
          <a:xfrm>
            <a:off x="7488936" y="4956048"/>
            <a:ext cx="502920" cy="502920"/>
          </a:xfrm>
          <a:prstGeom prst="ellipse">
            <a:avLst/>
          </a:prstGeom>
          <a:solidFill>
            <a:schemeClr val="accent5"/>
          </a:solidFill>
          <a:ln/>
        </p:spPr>
        <p:txBody>
          <a:bodyPr/>
          <a:p/>
        </p:txBody>
      </p:sp>
      <p:pic>
        <p:nvPicPr>
          <p:cNvPr id="21" name="icono" descr="preencoded.png">    </p:cNvPr>
          <p:cNvPicPr>
            <a:picLocks noChangeAspect="1"/>
          </p:cNvPicPr>
          <p:nvPr/>
        </p:nvPicPr>
        <p:blipFill>
          <a:blip r:embed="rId5"/>
          <a:stretch>
            <a:fillRect/>
          </a:stretch>
        </p:blipFill>
        <p:spPr>
          <a:xfrm>
            <a:off x="7609637" y="5076749"/>
            <a:ext cx="261518" cy="261518"/>
          </a:xfrm>
          <a:prstGeom prst="rect">
            <a:avLst/>
          </a:prstGeom>
        </p:spPr>
      </p:pic>
      <p:sp>
        <p:nvSpPr>
          <p:cNvPr id="22" name="Text 15"/>
          <p:cNvSpPr txBox="1"/>
          <p:nvPr/>
        </p:nvSpPr>
        <p:spPr>
          <a:xfrm>
            <a:off x="8101584" y="4956048"/>
            <a:ext cx="123444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Error</a:t>
            </a:r>
            <a:endParaRPr lang="en-US" sz="1500" dirty="0"/>
          </a:p>
        </p:txBody>
      </p:sp>
      <p:sp>
        <p:nvSpPr>
          <p:cNvPr id="23" name="Text 16"/>
          <p:cNvSpPr txBox="1"/>
          <p:nvPr/>
        </p:nvSpPr>
        <p:spPr>
          <a:xfrm>
            <a:off x="7488936" y="5504688"/>
            <a:ext cx="1828800" cy="41148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Mensaje claro y «Reintentar»</a:t>
            </a:r>
            <a:endParaRPr lang="en-US" sz="1200" dirty="0"/>
          </a:p>
        </p:txBody>
      </p:sp>
      <p:sp>
        <p:nvSpPr>
          <p:cNvPr id="24" name="tarjeta"/>
          <p:cNvSpPr/>
          <p:nvPr/>
        </p:nvSpPr>
        <p:spPr>
          <a:xfrm>
            <a:off x="9582912" y="4800600"/>
            <a:ext cx="2075688" cy="1143000"/>
          </a:xfrm>
          <a:prstGeom prst="roundRect">
            <a:avLst>
              <a:gd name="adj" fmla="val 8000"/>
            </a:avLst>
          </a:prstGeom>
          <a:solidFill>
            <a:schemeClr val="bg2"/>
          </a:solidFill>
          <a:ln/>
        </p:spPr>
        <p:txBody>
          <a:bodyPr/>
          <a:p/>
        </p:txBody>
      </p:sp>
      <p:sp>
        <p:nvSpPr>
          <p:cNvPr id="25" name="círculo de icono"/>
          <p:cNvSpPr/>
          <p:nvPr/>
        </p:nvSpPr>
        <p:spPr>
          <a:xfrm>
            <a:off x="9747504" y="4956048"/>
            <a:ext cx="502920" cy="502920"/>
          </a:xfrm>
          <a:prstGeom prst="ellipse">
            <a:avLst/>
          </a:prstGeom>
          <a:solidFill>
            <a:schemeClr val="accent2"/>
          </a:solidFill>
          <a:ln/>
        </p:spPr>
        <p:txBody>
          <a:bodyPr/>
          <a:p/>
        </p:txBody>
      </p:sp>
      <p:pic>
        <p:nvPicPr>
          <p:cNvPr id="26" name="icono" descr="preencoded.png">    </p:cNvPr>
          <p:cNvPicPr>
            <a:picLocks noChangeAspect="1"/>
          </p:cNvPicPr>
          <p:nvPr/>
        </p:nvPicPr>
        <p:blipFill>
          <a:blip r:embed="rId6"/>
          <a:stretch>
            <a:fillRect/>
          </a:stretch>
        </p:blipFill>
        <p:spPr>
          <a:xfrm>
            <a:off x="9868205" y="5076749"/>
            <a:ext cx="261518" cy="261518"/>
          </a:xfrm>
          <a:prstGeom prst="rect">
            <a:avLst/>
          </a:prstGeom>
        </p:spPr>
      </p:pic>
      <p:sp>
        <p:nvSpPr>
          <p:cNvPr id="27" name="Text 19"/>
          <p:cNvSpPr txBox="1"/>
          <p:nvPr/>
        </p:nvSpPr>
        <p:spPr>
          <a:xfrm>
            <a:off x="10360152" y="4956048"/>
            <a:ext cx="123444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Sin conexión</a:t>
            </a:r>
            <a:endParaRPr lang="en-US" sz="1500" dirty="0"/>
          </a:p>
        </p:txBody>
      </p:sp>
      <p:sp>
        <p:nvSpPr>
          <p:cNvPr id="28" name="Text 20"/>
          <p:cNvSpPr txBox="1"/>
          <p:nvPr/>
        </p:nvSpPr>
        <p:spPr>
          <a:xfrm>
            <a:off x="9747504" y="5504688"/>
            <a:ext cx="1828800" cy="41148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Aviso y datos guardados</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Persistencia local y API REST</a:t>
            </a:r>
            <a:endParaRPr lang="en-US" sz="3400" dirty="0"/>
          </a:p>
        </p:txBody>
      </p:sp>
      <p:sp>
        <p:nvSpPr>
          <p:cNvPr id="3" name="tarjeta"/>
          <p:cNvSpPr/>
          <p:nvPr/>
        </p:nvSpPr>
        <p:spPr>
          <a:xfrm>
            <a:off x="548640" y="1325880"/>
            <a:ext cx="5257800" cy="4617720"/>
          </a:xfrm>
          <a:prstGeom prst="roundRect">
            <a:avLst>
              <a:gd name="adj" fmla="val 1980"/>
            </a:avLst>
          </a:prstGeom>
          <a:solidFill>
            <a:schemeClr val="bg2"/>
          </a:solidFill>
          <a:ln/>
        </p:spPr>
        <p:txBody>
          <a:bodyPr/>
          <a:p/>
        </p:txBody>
      </p:sp>
      <p:sp>
        <p:nvSpPr>
          <p:cNvPr id="4" name="círculo de icono"/>
          <p:cNvSpPr/>
          <p:nvPr/>
        </p:nvSpPr>
        <p:spPr>
          <a:xfrm>
            <a:off x="777240" y="1554480"/>
            <a:ext cx="621792" cy="621792"/>
          </a:xfrm>
          <a:prstGeom prst="ellipse">
            <a:avLst/>
          </a:prstGeom>
          <a:solidFill>
            <a:schemeClr val="tx2"/>
          </a:solidFill>
          <a:ln/>
        </p:spPr>
        <p:txBody>
          <a:bodyPr/>
          <a:p/>
        </p:txBody>
      </p:sp>
      <p:pic>
        <p:nvPicPr>
          <p:cNvPr id="5" name="icono" descr="preencoded.png">    </p:cNvPr>
          <p:cNvPicPr>
            <a:picLocks noChangeAspect="1"/>
          </p:cNvPicPr>
          <p:nvPr/>
        </p:nvPicPr>
        <p:blipFill>
          <a:blip r:embed="rId1"/>
          <a:stretch>
            <a:fillRect/>
          </a:stretch>
        </p:blipFill>
        <p:spPr>
          <a:xfrm>
            <a:off x="926470" y="1703710"/>
            <a:ext cx="323332" cy="323332"/>
          </a:xfrm>
          <a:prstGeom prst="rect">
            <a:avLst/>
          </a:prstGeom>
        </p:spPr>
      </p:pic>
      <p:sp>
        <p:nvSpPr>
          <p:cNvPr id="6" name="Text 3"/>
          <p:cNvSpPr txBox="1"/>
          <p:nvPr/>
        </p:nvSpPr>
        <p:spPr>
          <a:xfrm>
            <a:off x="1554480" y="1627632"/>
            <a:ext cx="4023360" cy="457200"/>
          </a:xfrm>
          <a:prstGeom prst="rect">
            <a:avLst/>
          </a:prstGeom>
          <a:noFill/>
          <a:ln/>
        </p:spPr>
        <p:txBody>
          <a:bodyPr wrap="square" lIns="0" tIns="0" rIns="0" bIns="0" rtlCol="0" anchor="ctr"/>
          <a:lstStyle/>
          <a:p>
            <a:pPr indent="0" marL="0">
              <a:spcAft>
                <a:spcPts val="400"/>
              </a:spcAft>
              <a:buNone/>
            </a:pPr>
            <a:r>
              <a:rPr lang="en-US" sz="2000" b="1" dirty="0">
                <a:solidFill>
                  <a:schemeClr val="tx2"/>
                </a:solidFill>
              </a:rPr>
              <a:t>En el teléfono</a:t>
            </a:r>
            <a:endParaRPr lang="en-US" sz="2000" dirty="0"/>
          </a:p>
        </p:txBody>
      </p:sp>
      <p:sp>
        <p:nvSpPr>
          <p:cNvPr id="7" name="Text 4"/>
          <p:cNvSpPr txBox="1"/>
          <p:nvPr/>
        </p:nvSpPr>
        <p:spPr>
          <a:xfrm>
            <a:off x="777240" y="2377440"/>
            <a:ext cx="4800600" cy="3429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Room: equipos y reservas por lista y por rol; la UI observa Flow y funciona sin conexión.</a:t>
            </a:r>
            <a:endParaRPr lang="en-US" sz="1500" dirty="0"/>
          </a:p>
          <a:p>
            <a:pPr marL="342900" indent="-342900">
              <a:spcAft>
                <a:spcPts val="800"/>
              </a:spcAft>
              <a:buSzPct val="100000"/>
              <a:buChar char="•"/>
            </a:pPr>
            <a:r>
              <a:rPr lang="en-US" sz="1500" dirty="0">
                <a:solidFill>
                  <a:schemeClr val="tx1"/>
                </a:solidFill>
              </a:rPr>
              <a:t>DataStore: URL del servidor y preferencias.</a:t>
            </a:r>
            <a:endParaRPr lang="en-US" sz="1500" dirty="0"/>
          </a:p>
          <a:p>
            <a:pPr marL="342900" indent="-342900">
              <a:spcAft>
                <a:spcPts val="800"/>
              </a:spcAft>
              <a:buSzPct val="100000"/>
              <a:buChar char="•"/>
            </a:pPr>
            <a:r>
              <a:rPr lang="en-US" sz="1500" dirty="0">
                <a:solidFill>
                  <a:schemeClr val="tx1"/>
                </a:solidFill>
              </a:rPr>
              <a:t>Repository: consulta la API, reemplaza la caché en una transacción y nunca deja la pantalla vacía si hay datos guardados.</a:t>
            </a:r>
            <a:endParaRPr lang="en-US" sz="1500" dirty="0"/>
          </a:p>
          <a:p>
            <a:pPr marL="342900" indent="-342900">
              <a:spcAft>
                <a:spcPts val="800"/>
              </a:spcAft>
              <a:buSzPct val="100000"/>
              <a:buChar char="•"/>
            </a:pPr>
            <a:r>
              <a:rPr lang="en-US" sz="1500" dirty="0">
                <a:solidFill>
                  <a:schemeClr val="tx1"/>
                </a:solidFill>
              </a:rPr>
              <a:t>La caché privada se borra al cerrar sesión.</a:t>
            </a:r>
            <a:endParaRPr lang="en-US" sz="1500" dirty="0"/>
          </a:p>
        </p:txBody>
      </p:sp>
      <p:sp>
        <p:nvSpPr>
          <p:cNvPr id="8" name="tarjeta"/>
          <p:cNvSpPr/>
          <p:nvPr/>
        </p:nvSpPr>
        <p:spPr>
          <a:xfrm>
            <a:off x="6355080" y="1325880"/>
            <a:ext cx="5257800" cy="4617720"/>
          </a:xfrm>
          <a:prstGeom prst="roundRect">
            <a:avLst>
              <a:gd name="adj" fmla="val 1980"/>
            </a:avLst>
          </a:prstGeom>
          <a:solidFill>
            <a:schemeClr val="bg2"/>
          </a:solidFill>
          <a:ln/>
        </p:spPr>
        <p:txBody>
          <a:bodyPr/>
          <a:p/>
        </p:txBody>
      </p:sp>
      <p:sp>
        <p:nvSpPr>
          <p:cNvPr id="9" name="círculo de icono"/>
          <p:cNvSpPr/>
          <p:nvPr/>
        </p:nvSpPr>
        <p:spPr>
          <a:xfrm>
            <a:off x="6583680" y="1554480"/>
            <a:ext cx="621792" cy="621792"/>
          </a:xfrm>
          <a:prstGeom prst="ellipse">
            <a:avLst/>
          </a:prstGeom>
          <a:solidFill>
            <a:schemeClr val="tx2"/>
          </a:solidFill>
          <a:ln/>
        </p:spPr>
        <p:txBody>
          <a:bodyPr/>
          <a:p/>
        </p:txBody>
      </p:sp>
      <p:pic>
        <p:nvPicPr>
          <p:cNvPr id="10" name="icono" descr="preencoded.png">    </p:cNvPr>
          <p:cNvPicPr>
            <a:picLocks noChangeAspect="1"/>
          </p:cNvPicPr>
          <p:nvPr/>
        </p:nvPicPr>
        <p:blipFill>
          <a:blip r:embed="rId2"/>
          <a:stretch>
            <a:fillRect/>
          </a:stretch>
        </p:blipFill>
        <p:spPr>
          <a:xfrm>
            <a:off x="6732910" y="1703710"/>
            <a:ext cx="323332" cy="323332"/>
          </a:xfrm>
          <a:prstGeom prst="rect">
            <a:avLst/>
          </a:prstGeom>
        </p:spPr>
      </p:pic>
      <p:sp>
        <p:nvSpPr>
          <p:cNvPr id="11" name="Text 7"/>
          <p:cNvSpPr txBox="1"/>
          <p:nvPr/>
        </p:nvSpPr>
        <p:spPr>
          <a:xfrm>
            <a:off x="7360920" y="1627632"/>
            <a:ext cx="4114800" cy="457200"/>
          </a:xfrm>
          <a:prstGeom prst="rect">
            <a:avLst/>
          </a:prstGeom>
          <a:noFill/>
          <a:ln/>
        </p:spPr>
        <p:txBody>
          <a:bodyPr wrap="square" lIns="0" tIns="0" rIns="0" bIns="0" rtlCol="0" anchor="ctr"/>
          <a:lstStyle/>
          <a:p>
            <a:pPr indent="0" marL="0">
              <a:spcAft>
                <a:spcPts val="400"/>
              </a:spcAft>
              <a:buNone/>
            </a:pPr>
            <a:r>
              <a:rPr lang="en-US" sz="2000" b="1" dirty="0">
                <a:solidFill>
                  <a:schemeClr val="tx2"/>
                </a:solidFill>
              </a:rPr>
              <a:t>API REST (Node.js + Express)</a:t>
            </a:r>
            <a:endParaRPr lang="en-US" sz="2000" dirty="0"/>
          </a:p>
        </p:txBody>
      </p:sp>
      <p:sp>
        <p:nvSpPr>
          <p:cNvPr id="12" name="Text 8"/>
          <p:cNvSpPr txBox="1"/>
          <p:nvPr/>
        </p:nvSpPr>
        <p:spPr>
          <a:xfrm>
            <a:off x="6583680" y="2331720"/>
            <a:ext cx="1188720" cy="868680"/>
          </a:xfrm>
          <a:prstGeom prst="rect">
            <a:avLst/>
          </a:prstGeom>
          <a:noFill/>
          <a:ln/>
        </p:spPr>
        <p:txBody>
          <a:bodyPr wrap="square" lIns="0" tIns="0" rIns="0" bIns="0" rtlCol="0" anchor="ctr"/>
          <a:lstStyle/>
          <a:p>
            <a:pPr indent="0" marL="0">
              <a:spcAft>
                <a:spcPts val="400"/>
              </a:spcAft>
              <a:buNone/>
            </a:pPr>
            <a:r>
              <a:rPr lang="en-US" sz="4800" b="1" dirty="0">
                <a:solidFill>
                  <a:schemeClr val="accent2"/>
                </a:solidFill>
                <a:latin typeface="Cambria" pitchFamily="34" charset="0"/>
                <a:ea typeface="Cambria" pitchFamily="34" charset="-122"/>
                <a:cs typeface="Cambria" pitchFamily="34" charset="-120"/>
              </a:rPr>
              <a:t>21</a:t>
            </a:r>
            <a:endParaRPr lang="en-US" sz="4800" dirty="0"/>
          </a:p>
        </p:txBody>
      </p:sp>
      <p:sp>
        <p:nvSpPr>
          <p:cNvPr id="13" name="Text 9"/>
          <p:cNvSpPr txBox="1"/>
          <p:nvPr/>
        </p:nvSpPr>
        <p:spPr>
          <a:xfrm>
            <a:off x="7818120" y="2331720"/>
            <a:ext cx="3611880" cy="86868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operaciones en 17 rutas documentadas con OpenAPI 3.0.3, con CRUD completo de equipos y ciclo de reservas</a:t>
            </a:r>
            <a:endParaRPr lang="en-US" sz="1400" dirty="0"/>
          </a:p>
        </p:txBody>
      </p:sp>
      <p:sp>
        <p:nvSpPr>
          <p:cNvPr id="14" name="código HTTP"/>
          <p:cNvSpPr/>
          <p:nvPr/>
        </p:nvSpPr>
        <p:spPr>
          <a:xfrm>
            <a:off x="6583680" y="3429000"/>
            <a:ext cx="594360" cy="384048"/>
          </a:xfrm>
          <a:prstGeom prst="roundRect">
            <a:avLst>
              <a:gd name="adj" fmla="val 19048"/>
            </a:avLst>
          </a:prstGeom>
          <a:solidFill>
            <a:schemeClr val="tx2"/>
          </a:solidFill>
          <a:ln/>
        </p:spPr>
        <p:txBody>
          <a:bodyPr/>
          <a:p/>
        </p:txBody>
      </p:sp>
      <p:sp>
        <p:nvSpPr>
          <p:cNvPr id="15" name="Text 11"/>
          <p:cNvSpPr txBox="1"/>
          <p:nvPr/>
        </p:nvSpPr>
        <p:spPr>
          <a:xfrm>
            <a:off x="65836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400</a:t>
            </a:r>
            <a:endParaRPr lang="en-US" sz="1300" dirty="0"/>
          </a:p>
        </p:txBody>
      </p:sp>
      <p:sp>
        <p:nvSpPr>
          <p:cNvPr id="16" name="código HTTP"/>
          <p:cNvSpPr/>
          <p:nvPr/>
        </p:nvSpPr>
        <p:spPr>
          <a:xfrm>
            <a:off x="7269480" y="3429000"/>
            <a:ext cx="594360" cy="384048"/>
          </a:xfrm>
          <a:prstGeom prst="roundRect">
            <a:avLst>
              <a:gd name="adj" fmla="val 19048"/>
            </a:avLst>
          </a:prstGeom>
          <a:solidFill>
            <a:schemeClr val="tx2"/>
          </a:solidFill>
          <a:ln/>
        </p:spPr>
        <p:txBody>
          <a:bodyPr/>
          <a:p/>
        </p:txBody>
      </p:sp>
      <p:sp>
        <p:nvSpPr>
          <p:cNvPr id="17" name="Text 13"/>
          <p:cNvSpPr txBox="1"/>
          <p:nvPr/>
        </p:nvSpPr>
        <p:spPr>
          <a:xfrm>
            <a:off x="72694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401</a:t>
            </a:r>
            <a:endParaRPr lang="en-US" sz="1300" dirty="0"/>
          </a:p>
        </p:txBody>
      </p:sp>
      <p:sp>
        <p:nvSpPr>
          <p:cNvPr id="18" name="código HTTP"/>
          <p:cNvSpPr/>
          <p:nvPr/>
        </p:nvSpPr>
        <p:spPr>
          <a:xfrm>
            <a:off x="7955280" y="3429000"/>
            <a:ext cx="594360" cy="384048"/>
          </a:xfrm>
          <a:prstGeom prst="roundRect">
            <a:avLst>
              <a:gd name="adj" fmla="val 19048"/>
            </a:avLst>
          </a:prstGeom>
          <a:solidFill>
            <a:schemeClr val="tx2"/>
          </a:solidFill>
          <a:ln/>
        </p:spPr>
        <p:txBody>
          <a:bodyPr/>
          <a:p/>
        </p:txBody>
      </p:sp>
      <p:sp>
        <p:nvSpPr>
          <p:cNvPr id="19" name="Text 15"/>
          <p:cNvSpPr txBox="1"/>
          <p:nvPr/>
        </p:nvSpPr>
        <p:spPr>
          <a:xfrm>
            <a:off x="79552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403</a:t>
            </a:r>
            <a:endParaRPr lang="en-US" sz="1300" dirty="0"/>
          </a:p>
        </p:txBody>
      </p:sp>
      <p:sp>
        <p:nvSpPr>
          <p:cNvPr id="20" name="código HTTP"/>
          <p:cNvSpPr/>
          <p:nvPr/>
        </p:nvSpPr>
        <p:spPr>
          <a:xfrm>
            <a:off x="8641080" y="3429000"/>
            <a:ext cx="594360" cy="384048"/>
          </a:xfrm>
          <a:prstGeom prst="roundRect">
            <a:avLst>
              <a:gd name="adj" fmla="val 19048"/>
            </a:avLst>
          </a:prstGeom>
          <a:solidFill>
            <a:schemeClr val="tx2"/>
          </a:solidFill>
          <a:ln/>
        </p:spPr>
        <p:txBody>
          <a:bodyPr/>
          <a:p/>
        </p:txBody>
      </p:sp>
      <p:sp>
        <p:nvSpPr>
          <p:cNvPr id="21" name="Text 17"/>
          <p:cNvSpPr txBox="1"/>
          <p:nvPr/>
        </p:nvSpPr>
        <p:spPr>
          <a:xfrm>
            <a:off x="86410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404</a:t>
            </a:r>
            <a:endParaRPr lang="en-US" sz="1300" dirty="0"/>
          </a:p>
        </p:txBody>
      </p:sp>
      <p:sp>
        <p:nvSpPr>
          <p:cNvPr id="22" name="código HTTP"/>
          <p:cNvSpPr/>
          <p:nvPr/>
        </p:nvSpPr>
        <p:spPr>
          <a:xfrm>
            <a:off x="9326880" y="3429000"/>
            <a:ext cx="594360" cy="384048"/>
          </a:xfrm>
          <a:prstGeom prst="roundRect">
            <a:avLst>
              <a:gd name="adj" fmla="val 19048"/>
            </a:avLst>
          </a:prstGeom>
          <a:solidFill>
            <a:schemeClr val="tx2"/>
          </a:solidFill>
          <a:ln/>
        </p:spPr>
        <p:txBody>
          <a:bodyPr/>
          <a:p/>
        </p:txBody>
      </p:sp>
      <p:sp>
        <p:nvSpPr>
          <p:cNvPr id="23" name="Text 19"/>
          <p:cNvSpPr txBox="1"/>
          <p:nvPr/>
        </p:nvSpPr>
        <p:spPr>
          <a:xfrm>
            <a:off x="93268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409</a:t>
            </a:r>
            <a:endParaRPr lang="en-US" sz="1300" dirty="0"/>
          </a:p>
        </p:txBody>
      </p:sp>
      <p:sp>
        <p:nvSpPr>
          <p:cNvPr id="24" name="código HTTP"/>
          <p:cNvSpPr/>
          <p:nvPr/>
        </p:nvSpPr>
        <p:spPr>
          <a:xfrm>
            <a:off x="10012680" y="3429000"/>
            <a:ext cx="594360" cy="384048"/>
          </a:xfrm>
          <a:prstGeom prst="roundRect">
            <a:avLst>
              <a:gd name="adj" fmla="val 19048"/>
            </a:avLst>
          </a:prstGeom>
          <a:solidFill>
            <a:schemeClr val="tx2"/>
          </a:solidFill>
          <a:ln/>
        </p:spPr>
        <p:txBody>
          <a:bodyPr/>
          <a:p/>
        </p:txBody>
      </p:sp>
      <p:sp>
        <p:nvSpPr>
          <p:cNvPr id="25" name="Text 21"/>
          <p:cNvSpPr txBox="1"/>
          <p:nvPr/>
        </p:nvSpPr>
        <p:spPr>
          <a:xfrm>
            <a:off x="100126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422</a:t>
            </a:r>
            <a:endParaRPr lang="en-US" sz="1300" dirty="0"/>
          </a:p>
        </p:txBody>
      </p:sp>
      <p:sp>
        <p:nvSpPr>
          <p:cNvPr id="26" name="código HTTP"/>
          <p:cNvSpPr/>
          <p:nvPr/>
        </p:nvSpPr>
        <p:spPr>
          <a:xfrm>
            <a:off x="10698480" y="3429000"/>
            <a:ext cx="594360" cy="384048"/>
          </a:xfrm>
          <a:prstGeom prst="roundRect">
            <a:avLst>
              <a:gd name="adj" fmla="val 19048"/>
            </a:avLst>
          </a:prstGeom>
          <a:solidFill>
            <a:schemeClr val="accent5"/>
          </a:solidFill>
          <a:ln/>
        </p:spPr>
        <p:txBody>
          <a:bodyPr/>
          <a:p/>
        </p:txBody>
      </p:sp>
      <p:sp>
        <p:nvSpPr>
          <p:cNvPr id="27" name="Text 23"/>
          <p:cNvSpPr txBox="1"/>
          <p:nvPr/>
        </p:nvSpPr>
        <p:spPr>
          <a:xfrm>
            <a:off x="106984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5xx</a:t>
            </a:r>
            <a:endParaRPr lang="en-US" sz="1300" dirty="0"/>
          </a:p>
        </p:txBody>
      </p:sp>
      <p:sp>
        <p:nvSpPr>
          <p:cNvPr id="28" name="Text 24"/>
          <p:cNvSpPr txBox="1"/>
          <p:nvPr/>
        </p:nvSpPr>
        <p:spPr>
          <a:xfrm>
            <a:off x="6583680" y="3977640"/>
            <a:ext cx="4846320" cy="5486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Todos los errores responden con el mismo formato y la app los traduce a mensajes comprensibles:</a:t>
            </a:r>
            <a:endParaRPr lang="en-US" sz="1400" dirty="0"/>
          </a:p>
        </p:txBody>
      </p:sp>
      <p:sp>
        <p:nvSpPr>
          <p:cNvPr id="29" name="fondo de código"/>
          <p:cNvSpPr/>
          <p:nvPr/>
        </p:nvSpPr>
        <p:spPr>
          <a:xfrm>
            <a:off x="6583680" y="4617720"/>
            <a:ext cx="4846320" cy="1097280"/>
          </a:xfrm>
          <a:prstGeom prst="roundRect">
            <a:avLst>
              <a:gd name="adj" fmla="val 6667"/>
            </a:avLst>
          </a:prstGeom>
          <a:solidFill>
            <a:schemeClr val="tx1"/>
          </a:solidFill>
          <a:ln/>
        </p:spPr>
        <p:txBody>
          <a:bodyPr/>
          <a:p/>
        </p:txBody>
      </p:sp>
      <p:sp>
        <p:nvSpPr>
          <p:cNvPr id="30" name="Text 26"/>
          <p:cNvSpPr txBox="1"/>
          <p:nvPr/>
        </p:nvSpPr>
        <p:spPr>
          <a:xfrm>
            <a:off x="6766560" y="4709160"/>
            <a:ext cx="4526280" cy="914400"/>
          </a:xfrm>
          <a:prstGeom prst="rect">
            <a:avLst/>
          </a:prstGeom>
          <a:noFill/>
          <a:ln/>
        </p:spPr>
        <p:txBody>
          <a:bodyPr wrap="square" lIns="0" tIns="0" rIns="0" bIns="0" rtlCol="0" anchor="ctr"/>
          <a:lstStyle/>
          <a:p>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 "error": { "codigo": "RESERVA_SOLAPADA",</a:t>
            </a:r>
            <a:endParaRPr lang="en-US" sz="1300" dirty="0"/>
          </a:p>
          <a:p>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  "mensaje": "El equipo ya tiene…",</a:t>
            </a:r>
            <a:endParaRPr lang="en-US" sz="1300" dirty="0"/>
          </a:p>
          <a:p>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  "detalles": [ … ] } }</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Firebase, Google Maps y privacidad</a:t>
            </a:r>
            <a:endParaRPr lang="en-US" sz="3400" dirty="0"/>
          </a:p>
        </p:txBody>
      </p:sp>
      <p:sp>
        <p:nvSpPr>
          <p:cNvPr id="3" name="tarjeta"/>
          <p:cNvSpPr/>
          <p:nvPr/>
        </p:nvSpPr>
        <p:spPr>
          <a:xfrm>
            <a:off x="548640" y="1325880"/>
            <a:ext cx="3520440" cy="3291840"/>
          </a:xfrm>
          <a:prstGeom prst="roundRect">
            <a:avLst>
              <a:gd name="adj" fmla="val 2778"/>
            </a:avLst>
          </a:prstGeom>
          <a:solidFill>
            <a:schemeClr val="bg2"/>
          </a:solidFill>
          <a:ln/>
        </p:spPr>
        <p:txBody>
          <a:bodyPr/>
          <a:p/>
        </p:txBody>
      </p:sp>
      <p:sp>
        <p:nvSpPr>
          <p:cNvPr id="4" name="círculo de icono"/>
          <p:cNvSpPr/>
          <p:nvPr/>
        </p:nvSpPr>
        <p:spPr>
          <a:xfrm>
            <a:off x="749808" y="1527048"/>
            <a:ext cx="685800" cy="685800"/>
          </a:xfrm>
          <a:prstGeom prst="ellipse">
            <a:avLst/>
          </a:prstGeom>
          <a:solidFill>
            <a:schemeClr val="accent2"/>
          </a:solidFill>
          <a:ln/>
        </p:spPr>
        <p:txBody>
          <a:bodyPr/>
          <a:p/>
        </p:txBody>
      </p:sp>
      <p:pic>
        <p:nvPicPr>
          <p:cNvPr id="5" name="icono" descr="preencoded.png">    </p:cNvPr>
          <p:cNvPicPr>
            <a:picLocks noChangeAspect="1"/>
          </p:cNvPicPr>
          <p:nvPr/>
        </p:nvPicPr>
        <p:blipFill>
          <a:blip r:embed="rId1"/>
          <a:stretch>
            <a:fillRect/>
          </a:stretch>
        </p:blipFill>
        <p:spPr>
          <a:xfrm>
            <a:off x="914400" y="1691640"/>
            <a:ext cx="356616" cy="356616"/>
          </a:xfrm>
          <a:prstGeom prst="rect">
            <a:avLst/>
          </a:prstGeom>
        </p:spPr>
      </p:pic>
      <p:sp>
        <p:nvSpPr>
          <p:cNvPr id="6" name="Text 3"/>
          <p:cNvSpPr txBox="1"/>
          <p:nvPr/>
        </p:nvSpPr>
        <p:spPr>
          <a:xfrm>
            <a:off x="749808" y="2377440"/>
            <a:ext cx="3108960" cy="4572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Firebase Authentication</a:t>
            </a:r>
            <a:endParaRPr lang="en-US" sz="1800" dirty="0"/>
          </a:p>
        </p:txBody>
      </p:sp>
      <p:sp>
        <p:nvSpPr>
          <p:cNvPr id="7" name="Text 4"/>
          <p:cNvSpPr txBox="1"/>
          <p:nvPr/>
        </p:nvSpPr>
        <p:spPr>
          <a:xfrm>
            <a:off x="749808" y="2880360"/>
            <a:ext cx="3108960" cy="164592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Correo y contraseña. La API verifica firma RS256, emisor y audiencia del token con las claves públicas de Google.</a:t>
            </a:r>
            <a:endParaRPr lang="en-US" sz="1500" dirty="0"/>
          </a:p>
        </p:txBody>
      </p:sp>
      <p:sp>
        <p:nvSpPr>
          <p:cNvPr id="8" name="tarjeta"/>
          <p:cNvSpPr/>
          <p:nvPr/>
        </p:nvSpPr>
        <p:spPr>
          <a:xfrm>
            <a:off x="4334256" y="1325880"/>
            <a:ext cx="3520440" cy="3291840"/>
          </a:xfrm>
          <a:prstGeom prst="roundRect">
            <a:avLst>
              <a:gd name="adj" fmla="val 2778"/>
            </a:avLst>
          </a:prstGeom>
          <a:solidFill>
            <a:schemeClr val="bg2"/>
          </a:solidFill>
          <a:ln/>
        </p:spPr>
        <p:txBody>
          <a:bodyPr/>
          <a:p/>
        </p:txBody>
      </p:sp>
      <p:sp>
        <p:nvSpPr>
          <p:cNvPr id="9" name="círculo de icono"/>
          <p:cNvSpPr/>
          <p:nvPr/>
        </p:nvSpPr>
        <p:spPr>
          <a:xfrm>
            <a:off x="4535424" y="1527048"/>
            <a:ext cx="685800" cy="685800"/>
          </a:xfrm>
          <a:prstGeom prst="ellipse">
            <a:avLst/>
          </a:prstGeom>
          <a:solidFill>
            <a:schemeClr val="accent2"/>
          </a:solidFill>
          <a:ln/>
        </p:spPr>
        <p:txBody>
          <a:bodyPr/>
          <a:p/>
        </p:txBody>
      </p:sp>
      <p:pic>
        <p:nvPicPr>
          <p:cNvPr id="10" name="icono" descr="preencoded.png">    </p:cNvPr>
          <p:cNvPicPr>
            <a:picLocks noChangeAspect="1"/>
          </p:cNvPicPr>
          <p:nvPr/>
        </p:nvPicPr>
        <p:blipFill>
          <a:blip r:embed="rId2"/>
          <a:stretch>
            <a:fillRect/>
          </a:stretch>
        </p:blipFill>
        <p:spPr>
          <a:xfrm>
            <a:off x="4700016" y="1691640"/>
            <a:ext cx="356616" cy="356616"/>
          </a:xfrm>
          <a:prstGeom prst="rect">
            <a:avLst/>
          </a:prstGeom>
        </p:spPr>
      </p:pic>
      <p:sp>
        <p:nvSpPr>
          <p:cNvPr id="11" name="Text 7"/>
          <p:cNvSpPr txBox="1"/>
          <p:nvPr/>
        </p:nvSpPr>
        <p:spPr>
          <a:xfrm>
            <a:off x="4535424" y="2377440"/>
            <a:ext cx="3108960" cy="4572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Cloud Firestore</a:t>
            </a:r>
            <a:endParaRPr lang="en-US" sz="1800" dirty="0"/>
          </a:p>
        </p:txBody>
      </p:sp>
      <p:sp>
        <p:nvSpPr>
          <p:cNvPr id="12" name="Text 8"/>
          <p:cNvSpPr txBox="1"/>
          <p:nvPr/>
        </p:nvSpPr>
        <p:spPr>
          <a:xfrm>
            <a:off x="4535424" y="2880360"/>
            <a:ext cx="3108960" cy="164592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Favoritos y registro del consentimiento por usuario; las reglas solo permiten leer y escribir el propio documento.</a:t>
            </a:r>
            <a:endParaRPr lang="en-US" sz="1500" dirty="0"/>
          </a:p>
        </p:txBody>
      </p:sp>
      <p:sp>
        <p:nvSpPr>
          <p:cNvPr id="13" name="tarjeta"/>
          <p:cNvSpPr/>
          <p:nvPr/>
        </p:nvSpPr>
        <p:spPr>
          <a:xfrm>
            <a:off x="8119872" y="1325880"/>
            <a:ext cx="3520440" cy="3291840"/>
          </a:xfrm>
          <a:prstGeom prst="roundRect">
            <a:avLst>
              <a:gd name="adj" fmla="val 2778"/>
            </a:avLst>
          </a:prstGeom>
          <a:solidFill>
            <a:schemeClr val="bg2"/>
          </a:solidFill>
          <a:ln/>
        </p:spPr>
        <p:txBody>
          <a:bodyPr/>
          <a:p/>
        </p:txBody>
      </p:sp>
      <p:sp>
        <p:nvSpPr>
          <p:cNvPr id="14" name="círculo de icono"/>
          <p:cNvSpPr/>
          <p:nvPr/>
        </p:nvSpPr>
        <p:spPr>
          <a:xfrm>
            <a:off x="8321040" y="1527048"/>
            <a:ext cx="685800" cy="685800"/>
          </a:xfrm>
          <a:prstGeom prst="ellipse">
            <a:avLst/>
          </a:prstGeom>
          <a:solidFill>
            <a:schemeClr val="accent2"/>
          </a:solidFill>
          <a:ln/>
        </p:spPr>
        <p:txBody>
          <a:bodyPr/>
          <a:p/>
        </p:txBody>
      </p:sp>
      <p:pic>
        <p:nvPicPr>
          <p:cNvPr id="15" name="icono" descr="preencoded.png">    </p:cNvPr>
          <p:cNvPicPr>
            <a:picLocks noChangeAspect="1"/>
          </p:cNvPicPr>
          <p:nvPr/>
        </p:nvPicPr>
        <p:blipFill>
          <a:blip r:embed="rId3"/>
          <a:stretch>
            <a:fillRect/>
          </a:stretch>
        </p:blipFill>
        <p:spPr>
          <a:xfrm>
            <a:off x="8485632" y="1691640"/>
            <a:ext cx="356616" cy="356616"/>
          </a:xfrm>
          <a:prstGeom prst="rect">
            <a:avLst/>
          </a:prstGeom>
        </p:spPr>
      </p:pic>
      <p:sp>
        <p:nvSpPr>
          <p:cNvPr id="16" name="Text 11"/>
          <p:cNvSpPr txBox="1"/>
          <p:nvPr/>
        </p:nvSpPr>
        <p:spPr>
          <a:xfrm>
            <a:off x="8321040" y="2377440"/>
            <a:ext cx="3108960" cy="4572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Google Maps</a:t>
            </a:r>
            <a:endParaRPr lang="en-US" sz="1800" dirty="0"/>
          </a:p>
        </p:txBody>
      </p:sp>
      <p:sp>
        <p:nvSpPr>
          <p:cNvPr id="17" name="Text 12"/>
          <p:cNvSpPr txBox="1"/>
          <p:nvPr/>
        </p:nvSpPr>
        <p:spPr>
          <a:xfrm>
            <a:off x="8321040" y="2880360"/>
            <a:ext cx="3108960" cy="164592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Marcadores de equipos y «Cerca de mí» (15 km). La ubicación aproximada basta, se pide en contexto y es opcional.</a:t>
            </a:r>
            <a:endParaRPr lang="en-US" sz="1500" dirty="0"/>
          </a:p>
        </p:txBody>
      </p:sp>
      <p:sp>
        <p:nvSpPr>
          <p:cNvPr id="18" name="nota de privacidad"/>
          <p:cNvSpPr/>
          <p:nvPr/>
        </p:nvSpPr>
        <p:spPr>
          <a:xfrm>
            <a:off x="548640" y="4846320"/>
            <a:ext cx="11064240" cy="1097280"/>
          </a:xfrm>
          <a:prstGeom prst="roundRect">
            <a:avLst>
              <a:gd name="adj" fmla="val 8333"/>
            </a:avLst>
          </a:prstGeom>
          <a:solidFill>
            <a:schemeClr val="tx2"/>
          </a:solidFill>
          <a:ln/>
        </p:spPr>
        <p:txBody>
          <a:bodyPr/>
          <a:p/>
        </p:txBody>
      </p:sp>
      <p:sp>
        <p:nvSpPr>
          <p:cNvPr id="19" name="círculo de icono"/>
          <p:cNvSpPr/>
          <p:nvPr/>
        </p:nvSpPr>
        <p:spPr>
          <a:xfrm>
            <a:off x="777240" y="5029200"/>
            <a:ext cx="731520" cy="731520"/>
          </a:xfrm>
          <a:prstGeom prst="ellipse">
            <a:avLst/>
          </a:prstGeom>
          <a:solidFill>
            <a:schemeClr val="accent2"/>
          </a:solidFill>
          <a:ln/>
        </p:spPr>
        <p:txBody>
          <a:bodyPr/>
          <a:p/>
        </p:txBody>
      </p:sp>
      <p:pic>
        <p:nvPicPr>
          <p:cNvPr id="20" name="icono" descr="preencoded.png">    </p:cNvPr>
          <p:cNvPicPr>
            <a:picLocks noChangeAspect="1"/>
          </p:cNvPicPr>
          <p:nvPr/>
        </p:nvPicPr>
        <p:blipFill>
          <a:blip r:embed="rId4"/>
          <a:stretch>
            <a:fillRect/>
          </a:stretch>
        </p:blipFill>
        <p:spPr>
          <a:xfrm>
            <a:off x="952805" y="5204765"/>
            <a:ext cx="380390" cy="380390"/>
          </a:xfrm>
          <a:prstGeom prst="rect">
            <a:avLst/>
          </a:prstGeom>
        </p:spPr>
      </p:pic>
      <p:sp>
        <p:nvSpPr>
          <p:cNvPr id="21" name="Text 15"/>
          <p:cNvSpPr txBox="1"/>
          <p:nvPr/>
        </p:nvSpPr>
        <p:spPr>
          <a:xfrm>
            <a:off x="1737360" y="4919472"/>
            <a:ext cx="9692640" cy="960120"/>
          </a:xfrm>
          <a:prstGeom prst="rect">
            <a:avLst/>
          </a:prstGeom>
          <a:noFill/>
          <a:ln/>
        </p:spPr>
        <p:txBody>
          <a:bodyPr wrap="square" lIns="0" tIns="0" rIns="0" bIns="0" rtlCol="0" anchor="ctr"/>
          <a:lstStyle/>
          <a:p>
            <a:pPr indent="0" marL="0">
              <a:spcAft>
                <a:spcPts val="400"/>
              </a:spcAft>
              <a:buNone/>
            </a:pPr>
            <a:r>
              <a:rPr lang="en-US" sz="1500" dirty="0">
                <a:solidFill>
                  <a:schemeClr val="bg1"/>
                </a:solidFill>
              </a:rPr>
              <a:t>Ley N.° 29733 y su reglamento (D.S. N.° 016-2024-JUS): consentimiento libre, previo, expreso, inequívoco e informado. La app muestra la política de privacidad, registra la aceptación con fecha y versión, y no recopila datos innecesarios.</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Pruebas y evidencias</a:t>
            </a:r>
            <a:endParaRPr lang="en-US" sz="3400" dirty="0"/>
          </a:p>
        </p:txBody>
      </p:sp>
      <p:sp>
        <p:nvSpPr>
          <p:cNvPr id="3" name="tarjeta"/>
          <p:cNvSpPr/>
          <p:nvPr/>
        </p:nvSpPr>
        <p:spPr>
          <a:xfrm>
            <a:off x="548640" y="1325880"/>
            <a:ext cx="5120640" cy="1005840"/>
          </a:xfrm>
          <a:prstGeom prst="roundRect">
            <a:avLst>
              <a:gd name="adj" fmla="val 9091"/>
            </a:avLst>
          </a:prstGeom>
          <a:solidFill>
            <a:schemeClr val="bg2"/>
          </a:solidFill>
          <a:ln/>
        </p:spPr>
        <p:txBody>
          <a:bodyPr/>
          <a:p/>
        </p:txBody>
      </p:sp>
      <p:sp>
        <p:nvSpPr>
          <p:cNvPr id="4" name="Text 2"/>
          <p:cNvSpPr txBox="1"/>
          <p:nvPr/>
        </p:nvSpPr>
        <p:spPr>
          <a:xfrm>
            <a:off x="731520" y="1417320"/>
            <a:ext cx="1600200" cy="822960"/>
          </a:xfrm>
          <a:prstGeom prst="rect">
            <a:avLst/>
          </a:prstGeom>
          <a:noFill/>
          <a:ln/>
        </p:spPr>
        <p:txBody>
          <a:bodyPr wrap="square" lIns="0" tIns="0" rIns="0" bIns="0" rtlCol="0" anchor="ctr"/>
          <a:lstStyle/>
          <a:p>
            <a:pPr indent="0" marL="0">
              <a:spcAft>
                <a:spcPts val="400"/>
              </a:spcAft>
              <a:buNone/>
            </a:pPr>
            <a:r>
              <a:rPr lang="en-US" sz="3400" b="1" dirty="0">
                <a:solidFill>
                  <a:schemeClr val="accent3"/>
                </a:solidFill>
                <a:latin typeface="Cambria" pitchFamily="34" charset="0"/>
                <a:ea typeface="Cambria" pitchFamily="34" charset="-122"/>
                <a:cs typeface="Cambria" pitchFamily="34" charset="-120"/>
              </a:rPr>
              <a:t>21/21</a:t>
            </a:r>
            <a:endParaRPr lang="en-US" sz="3400" dirty="0"/>
          </a:p>
        </p:txBody>
      </p:sp>
      <p:sp>
        <p:nvSpPr>
          <p:cNvPr id="5" name="Text 3"/>
          <p:cNvSpPr txBox="1"/>
          <p:nvPr/>
        </p:nvSpPr>
        <p:spPr>
          <a:xfrm>
            <a:off x="2377440" y="1417320"/>
            <a:ext cx="3154680" cy="82296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pruebas automatizadas de la API aprobadas (node:test + supertest)</a:t>
            </a:r>
            <a:endParaRPr lang="en-US" sz="1400" dirty="0"/>
          </a:p>
        </p:txBody>
      </p:sp>
      <p:sp>
        <p:nvSpPr>
          <p:cNvPr id="6" name="tarjeta"/>
          <p:cNvSpPr/>
          <p:nvPr/>
        </p:nvSpPr>
        <p:spPr>
          <a:xfrm>
            <a:off x="548640" y="2487168"/>
            <a:ext cx="5120640" cy="1005840"/>
          </a:xfrm>
          <a:prstGeom prst="roundRect">
            <a:avLst>
              <a:gd name="adj" fmla="val 9091"/>
            </a:avLst>
          </a:prstGeom>
          <a:solidFill>
            <a:schemeClr val="bg2"/>
          </a:solidFill>
          <a:ln/>
        </p:spPr>
        <p:txBody>
          <a:bodyPr/>
          <a:p/>
        </p:txBody>
      </p:sp>
      <p:sp>
        <p:nvSpPr>
          <p:cNvPr id="7" name="Text 5"/>
          <p:cNvSpPr txBox="1"/>
          <p:nvPr/>
        </p:nvSpPr>
        <p:spPr>
          <a:xfrm>
            <a:off x="731520" y="2578608"/>
            <a:ext cx="1600200" cy="822960"/>
          </a:xfrm>
          <a:prstGeom prst="rect">
            <a:avLst/>
          </a:prstGeom>
          <a:noFill/>
          <a:ln/>
        </p:spPr>
        <p:txBody>
          <a:bodyPr wrap="square" lIns="0" tIns="0" rIns="0" bIns="0" rtlCol="0" anchor="ctr"/>
          <a:lstStyle/>
          <a:p>
            <a:pPr indent="0" marL="0">
              <a:spcAft>
                <a:spcPts val="400"/>
              </a:spcAft>
              <a:buNone/>
            </a:pPr>
            <a:r>
              <a:rPr lang="en-US" sz="3400" b="1" dirty="0">
                <a:solidFill>
                  <a:schemeClr val="accent3"/>
                </a:solidFill>
                <a:latin typeface="Cambria" pitchFamily="34" charset="0"/>
                <a:ea typeface="Cambria" pitchFamily="34" charset="-122"/>
                <a:cs typeface="Cambria" pitchFamily="34" charset="-120"/>
              </a:rPr>
              <a:t>16/16</a:t>
            </a:r>
            <a:endParaRPr lang="en-US" sz="3400" dirty="0"/>
          </a:p>
        </p:txBody>
      </p:sp>
      <p:sp>
        <p:nvSpPr>
          <p:cNvPr id="8" name="Text 6"/>
          <p:cNvSpPr txBox="1"/>
          <p:nvPr/>
        </p:nvSpPr>
        <p:spPr>
          <a:xfrm>
            <a:off x="2377440" y="2578608"/>
            <a:ext cx="3154680" cy="82296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pruebas unitarias del dominio de la app aprobadas (reglas y validadores)</a:t>
            </a:r>
            <a:endParaRPr lang="en-US" sz="1400" dirty="0"/>
          </a:p>
        </p:txBody>
      </p:sp>
      <p:sp>
        <p:nvSpPr>
          <p:cNvPr id="9" name="tarjeta"/>
          <p:cNvSpPr/>
          <p:nvPr/>
        </p:nvSpPr>
        <p:spPr>
          <a:xfrm>
            <a:off x="548640" y="3648456"/>
            <a:ext cx="5120640" cy="1005840"/>
          </a:xfrm>
          <a:prstGeom prst="roundRect">
            <a:avLst>
              <a:gd name="adj" fmla="val 9091"/>
            </a:avLst>
          </a:prstGeom>
          <a:solidFill>
            <a:schemeClr val="bg2"/>
          </a:solidFill>
          <a:ln/>
        </p:spPr>
        <p:txBody>
          <a:bodyPr/>
          <a:p/>
        </p:txBody>
      </p:sp>
      <p:sp>
        <p:nvSpPr>
          <p:cNvPr id="10" name="Text 8"/>
          <p:cNvSpPr txBox="1"/>
          <p:nvPr/>
        </p:nvSpPr>
        <p:spPr>
          <a:xfrm>
            <a:off x="731520" y="3739896"/>
            <a:ext cx="1600200" cy="822960"/>
          </a:xfrm>
          <a:prstGeom prst="rect">
            <a:avLst/>
          </a:prstGeom>
          <a:noFill/>
          <a:ln/>
        </p:spPr>
        <p:txBody>
          <a:bodyPr wrap="square" lIns="0" tIns="0" rIns="0" bIns="0" rtlCol="0" anchor="ctr"/>
          <a:lstStyle/>
          <a:p>
            <a:pPr indent="0" marL="0">
              <a:spcAft>
                <a:spcPts val="400"/>
              </a:spcAft>
              <a:buNone/>
            </a:pPr>
            <a:r>
              <a:rPr lang="en-US" sz="3400" b="1" dirty="0">
                <a:solidFill>
                  <a:schemeClr val="tx2"/>
                </a:solidFill>
                <a:latin typeface="Cambria" pitchFamily="34" charset="0"/>
                <a:ea typeface="Cambria" pitchFamily="34" charset="-122"/>
                <a:cs typeface="Cambria" pitchFamily="34" charset="-120"/>
              </a:rPr>
              <a:t>12</a:t>
            </a:r>
            <a:endParaRPr lang="en-US" sz="3400" dirty="0"/>
          </a:p>
        </p:txBody>
      </p:sp>
      <p:sp>
        <p:nvSpPr>
          <p:cNvPr id="11" name="Text 9"/>
          <p:cNvSpPr txBox="1"/>
          <p:nvPr/>
        </p:nvSpPr>
        <p:spPr>
          <a:xfrm>
            <a:off x="2377440" y="3739896"/>
            <a:ext cx="3154680" cy="82296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casos funcionales: 9 en la API y con pruebas automatizadas, 3 en la app (emulador)</a:t>
            </a:r>
            <a:endParaRPr lang="en-US" sz="1400" dirty="0"/>
          </a:p>
        </p:txBody>
      </p:sp>
      <p:sp>
        <p:nvSpPr>
          <p:cNvPr id="12" name="tarjeta"/>
          <p:cNvSpPr/>
          <p:nvPr/>
        </p:nvSpPr>
        <p:spPr>
          <a:xfrm>
            <a:off x="548640" y="4809744"/>
            <a:ext cx="5120640" cy="1005840"/>
          </a:xfrm>
          <a:prstGeom prst="roundRect">
            <a:avLst>
              <a:gd name="adj" fmla="val 9091"/>
            </a:avLst>
          </a:prstGeom>
          <a:solidFill>
            <a:schemeClr val="bg2"/>
          </a:solidFill>
          <a:ln/>
        </p:spPr>
        <p:txBody>
          <a:bodyPr/>
          <a:p/>
        </p:txBody>
      </p:sp>
      <p:sp>
        <p:nvSpPr>
          <p:cNvPr id="13" name="Text 11"/>
          <p:cNvSpPr txBox="1"/>
          <p:nvPr/>
        </p:nvSpPr>
        <p:spPr>
          <a:xfrm>
            <a:off x="731520" y="4901184"/>
            <a:ext cx="1600200" cy="822960"/>
          </a:xfrm>
          <a:prstGeom prst="rect">
            <a:avLst/>
          </a:prstGeom>
          <a:noFill/>
          <a:ln/>
        </p:spPr>
        <p:txBody>
          <a:bodyPr wrap="square" lIns="0" tIns="0" rIns="0" bIns="0" rtlCol="0" anchor="ctr"/>
          <a:lstStyle/>
          <a:p>
            <a:pPr indent="0" marL="0">
              <a:spcAft>
                <a:spcPts val="400"/>
              </a:spcAft>
              <a:buNone/>
            </a:pPr>
            <a:r>
              <a:rPr lang="en-US" sz="3400" b="1" dirty="0">
                <a:solidFill>
                  <a:schemeClr val="accent2"/>
                </a:solidFill>
                <a:latin typeface="Cambria" pitchFamily="34" charset="0"/>
                <a:ea typeface="Cambria" pitchFamily="34" charset="-122"/>
                <a:cs typeface="Cambria" pitchFamily="34" charset="-120"/>
              </a:rPr>
              <a:t>7</a:t>
            </a:r>
            <a:endParaRPr lang="en-US" sz="3400" dirty="0"/>
          </a:p>
        </p:txBody>
      </p:sp>
      <p:sp>
        <p:nvSpPr>
          <p:cNvPr id="14" name="Text 12"/>
          <p:cNvSpPr txBox="1"/>
          <p:nvPr/>
        </p:nvSpPr>
        <p:spPr>
          <a:xfrm>
            <a:off x="2377440" y="4901184"/>
            <a:ext cx="3154680" cy="82296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pruebas de ViewModel con repositorios simulados (Android Studio)</a:t>
            </a:r>
            <a:endParaRPr lang="en-US" sz="1400" dirty="0"/>
          </a:p>
        </p:txBody>
      </p:sp>
      <p:pic>
        <p:nvPicPr>
          <p:cNvPr id="15" name="Evidencia de pruebas de la API" descr="/home/claude/EQUISHARE/docs/figuras/evid_pruebas_api.png">    </p:cNvPr>
          <p:cNvPicPr>
            <a:picLocks noChangeAspect="1"/>
          </p:cNvPicPr>
          <p:nvPr/>
        </p:nvPicPr>
        <p:blipFill>
          <a:blip r:embed="rId1"/>
          <a:stretch>
            <a:fillRect/>
          </a:stretch>
        </p:blipFill>
        <p:spPr>
          <a:xfrm>
            <a:off x="6105135" y="1325880"/>
            <a:ext cx="5391930" cy="2514600"/>
          </a:xfrm>
          <a:prstGeom prst="rect">
            <a:avLst/>
          </a:prstGeom>
        </p:spPr>
      </p:pic>
      <p:sp>
        <p:nvSpPr>
          <p:cNvPr id="16" name="Text 13"/>
          <p:cNvSpPr txBox="1"/>
          <p:nvPr/>
        </p:nvSpPr>
        <p:spPr>
          <a:xfrm>
            <a:off x="5989320" y="3904488"/>
            <a:ext cx="5623560" cy="274320"/>
          </a:xfrm>
          <a:prstGeom prst="rect">
            <a:avLst/>
          </a:prstGeom>
          <a:noFill/>
          <a:ln/>
        </p:spPr>
        <p:txBody>
          <a:bodyPr wrap="square" lIns="0" tIns="0" rIns="0" bIns="0" rtlCol="0" anchor="t"/>
          <a:lstStyle/>
          <a:p>
            <a:pPr algn="ctr" indent="0" marL="0">
              <a:spcAft>
                <a:spcPts val="400"/>
              </a:spcAft>
              <a:buNone/>
            </a:pPr>
            <a:r>
              <a:rPr lang="en-US" sz="1100" i="1" dirty="0">
                <a:solidFill>
                  <a:schemeClr val="accent4"/>
                </a:solidFill>
              </a:rPr>
              <a:t>Servidor: npm test (node:test + supertest), 21 de 21 aprobadas.</a:t>
            </a:r>
            <a:endParaRPr lang="en-US" sz="1100" dirty="0"/>
          </a:p>
        </p:txBody>
      </p:sp>
      <p:pic>
        <p:nvPicPr>
          <p:cNvPr id="17" name="Evidencia de pruebas del dominio" descr="/home/claude/EQUISHARE/docs/figuras/evid_pruebas_kotlin.png">    </p:cNvPr>
          <p:cNvPicPr>
            <a:picLocks noChangeAspect="1"/>
          </p:cNvPicPr>
          <p:nvPr/>
        </p:nvPicPr>
        <p:blipFill>
          <a:blip r:embed="rId2"/>
          <a:stretch>
            <a:fillRect/>
          </a:stretch>
        </p:blipFill>
        <p:spPr>
          <a:xfrm>
            <a:off x="7074163" y="4297680"/>
            <a:ext cx="3453874" cy="1481328"/>
          </a:xfrm>
          <a:prstGeom prst="rect">
            <a:avLst/>
          </a:prstGeom>
        </p:spPr>
      </p:pic>
      <p:sp>
        <p:nvSpPr>
          <p:cNvPr id="18" name="Text 14"/>
          <p:cNvSpPr txBox="1"/>
          <p:nvPr/>
        </p:nvSpPr>
        <p:spPr>
          <a:xfrm>
            <a:off x="5989320" y="5833872"/>
            <a:ext cx="5623560" cy="274320"/>
          </a:xfrm>
          <a:prstGeom prst="rect">
            <a:avLst/>
          </a:prstGeom>
          <a:noFill/>
          <a:ln/>
        </p:spPr>
        <p:txBody>
          <a:bodyPr wrap="square" lIns="0" tIns="0" rIns="0" bIns="0" rtlCol="0" anchor="t"/>
          <a:lstStyle/>
          <a:p>
            <a:pPr algn="ctr" indent="0" marL="0">
              <a:spcAft>
                <a:spcPts val="400"/>
              </a:spcAft>
              <a:buNone/>
            </a:pPr>
            <a:r>
              <a:rPr lang="en-US" sz="1100" i="1" dirty="0">
                <a:solidFill>
                  <a:schemeClr val="accent4"/>
                </a:solidFill>
              </a:rPr>
              <a:t>App: pruebas del dominio compiladas con Kotlin 2.0.21, 16 de 16 aprobadas.</a:t>
            </a:r>
            <a:endParaRPr lang="en-US" sz="11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Investigación 1: marketing ético</a:t>
            </a:r>
            <a:endParaRPr lang="en-US" sz="3400" dirty="0"/>
          </a:p>
        </p:txBody>
      </p:sp>
      <p:sp>
        <p:nvSpPr>
          <p:cNvPr id="3" name="dato de patrones oscuros"/>
          <p:cNvSpPr/>
          <p:nvPr/>
        </p:nvSpPr>
        <p:spPr>
          <a:xfrm>
            <a:off x="548640" y="1325880"/>
            <a:ext cx="3566160" cy="4617720"/>
          </a:xfrm>
          <a:prstGeom prst="roundRect">
            <a:avLst>
              <a:gd name="adj" fmla="val 2564"/>
            </a:avLst>
          </a:prstGeom>
          <a:solidFill>
            <a:schemeClr val="tx2"/>
          </a:solidFill>
          <a:ln/>
        </p:spPr>
        <p:txBody>
          <a:bodyPr/>
          <a:p/>
        </p:txBody>
      </p:sp>
      <p:sp>
        <p:nvSpPr>
          <p:cNvPr id="4" name="Text 2"/>
          <p:cNvSpPr txBox="1"/>
          <p:nvPr/>
        </p:nvSpPr>
        <p:spPr>
          <a:xfrm>
            <a:off x="777240" y="1554480"/>
            <a:ext cx="3108960" cy="914400"/>
          </a:xfrm>
          <a:prstGeom prst="rect">
            <a:avLst/>
          </a:prstGeom>
          <a:noFill/>
          <a:ln/>
        </p:spPr>
        <p:txBody>
          <a:bodyPr wrap="square" lIns="0" tIns="0" rIns="0" bIns="0" rtlCol="0" anchor="t"/>
          <a:lstStyle/>
          <a:p>
            <a:pPr indent="0" marL="0">
              <a:spcAft>
                <a:spcPts val="400"/>
              </a:spcAft>
              <a:buNone/>
            </a:pPr>
            <a:r>
              <a:rPr lang="en-US" sz="5400" b="1" dirty="0">
                <a:solidFill>
                  <a:schemeClr val="accent2"/>
                </a:solidFill>
                <a:latin typeface="Cambria" pitchFamily="34" charset="0"/>
                <a:ea typeface="Cambria" pitchFamily="34" charset="-122"/>
                <a:cs typeface="Cambria" pitchFamily="34" charset="-120"/>
              </a:rPr>
              <a:t>1 818</a:t>
            </a:r>
            <a:endParaRPr lang="en-US" sz="5400" dirty="0"/>
          </a:p>
        </p:txBody>
      </p:sp>
      <p:sp>
        <p:nvSpPr>
          <p:cNvPr id="5" name="Text 3"/>
          <p:cNvSpPr txBox="1"/>
          <p:nvPr/>
        </p:nvSpPr>
        <p:spPr>
          <a:xfrm>
            <a:off x="777240" y="2560320"/>
            <a:ext cx="3108960" cy="1463040"/>
          </a:xfrm>
          <a:prstGeom prst="rect">
            <a:avLst/>
          </a:prstGeom>
          <a:noFill/>
          <a:ln/>
        </p:spPr>
        <p:txBody>
          <a:bodyPr wrap="square" lIns="0" tIns="0" rIns="0" bIns="0" rtlCol="0" anchor="t"/>
          <a:lstStyle/>
          <a:p>
            <a:pPr indent="0" marL="0">
              <a:spcAft>
                <a:spcPts val="400"/>
              </a:spcAft>
              <a:buNone/>
            </a:pPr>
            <a:r>
              <a:rPr lang="en-US" sz="1600" dirty="0">
                <a:solidFill>
                  <a:schemeClr val="bg1"/>
                </a:solidFill>
              </a:rPr>
              <a:t>patrones oscuros de 15 tipos en 1 254 de ≈ 11 000 sitios de comercio electrónico analizados por Mathur et al. (2019).</a:t>
            </a:r>
            <a:endParaRPr lang="en-US" sz="1600" dirty="0"/>
          </a:p>
        </p:txBody>
      </p:sp>
      <p:sp>
        <p:nvSpPr>
          <p:cNvPr id="6" name="Text 4"/>
          <p:cNvSpPr txBox="1"/>
          <p:nvPr/>
        </p:nvSpPr>
        <p:spPr>
          <a:xfrm>
            <a:off x="777240" y="4160520"/>
            <a:ext cx="3108960" cy="1645920"/>
          </a:xfrm>
          <a:prstGeom prst="rect">
            <a:avLst/>
          </a:prstGeom>
          <a:noFill/>
          <a:ln/>
        </p:spPr>
        <p:txBody>
          <a:bodyPr wrap="square" lIns="0" tIns="0" rIns="0" bIns="0" rtlCol="0" anchor="t"/>
          <a:lstStyle/>
          <a:p>
            <a:pPr indent="0" marL="0">
              <a:spcAft>
                <a:spcPts val="400"/>
              </a:spcAft>
              <a:buNone/>
            </a:pPr>
            <a:r>
              <a:rPr lang="en-US" sz="1300" dirty="0">
                <a:solidFill>
                  <a:schemeClr val="accent6"/>
                </a:solidFill>
              </a:rPr>
              <a:t>Casos documentados: Amazon Prime (UE, 2022), sitios de reserva de hoteles (CMA, 2019), ebookers (TJUE, 2012), LinkedIn (2015) y WinRed (2021).</a:t>
            </a:r>
            <a:endParaRPr lang="en-US" sz="1300" dirty="0"/>
          </a:p>
        </p:txBody>
      </p:sp>
      <p:sp>
        <p:nvSpPr>
          <p:cNvPr id="7" name="tarjeta"/>
          <p:cNvSpPr/>
          <p:nvPr/>
        </p:nvSpPr>
        <p:spPr>
          <a:xfrm>
            <a:off x="4434840" y="1325880"/>
            <a:ext cx="3493008" cy="1417320"/>
          </a:xfrm>
          <a:prstGeom prst="roundRect">
            <a:avLst>
              <a:gd name="adj" fmla="val 6452"/>
            </a:avLst>
          </a:prstGeom>
          <a:solidFill>
            <a:schemeClr val="bg2"/>
          </a:solidFill>
          <a:ln/>
        </p:spPr>
        <p:txBody>
          <a:bodyPr/>
          <a:p/>
        </p:txBody>
      </p:sp>
      <p:sp>
        <p:nvSpPr>
          <p:cNvPr id="8" name="círculo de icono"/>
          <p:cNvSpPr/>
          <p:nvPr/>
        </p:nvSpPr>
        <p:spPr>
          <a:xfrm>
            <a:off x="4617720" y="1554480"/>
            <a:ext cx="566928" cy="566928"/>
          </a:xfrm>
          <a:prstGeom prst="ellipse">
            <a:avLst/>
          </a:prstGeom>
          <a:solidFill>
            <a:schemeClr val="accent2"/>
          </a:solidFill>
          <a:ln/>
        </p:spPr>
        <p:txBody>
          <a:bodyPr/>
          <a:p/>
        </p:txBody>
      </p:sp>
      <p:pic>
        <p:nvPicPr>
          <p:cNvPr id="9" name="icono" descr="preencoded.png">    </p:cNvPr>
          <p:cNvPicPr>
            <a:picLocks noChangeAspect="1"/>
          </p:cNvPicPr>
          <p:nvPr/>
        </p:nvPicPr>
        <p:blipFill>
          <a:blip r:embed="rId1"/>
          <a:stretch>
            <a:fillRect/>
          </a:stretch>
        </p:blipFill>
        <p:spPr>
          <a:xfrm>
            <a:off x="4753783" y="1690543"/>
            <a:ext cx="294803" cy="294803"/>
          </a:xfrm>
          <a:prstGeom prst="rect">
            <a:avLst/>
          </a:prstGeom>
        </p:spPr>
      </p:pic>
      <p:sp>
        <p:nvSpPr>
          <p:cNvPr id="10" name="Text 7"/>
          <p:cNvSpPr txBox="1"/>
          <p:nvPr/>
        </p:nvSpPr>
        <p:spPr>
          <a:xfrm>
            <a:off x="5303520" y="1508760"/>
            <a:ext cx="251460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Cancelación simétrica</a:t>
            </a:r>
            <a:endParaRPr lang="en-US" sz="1500" dirty="0"/>
          </a:p>
        </p:txBody>
      </p:sp>
      <p:sp>
        <p:nvSpPr>
          <p:cNvPr id="11" name="Text 8"/>
          <p:cNvSpPr txBox="1"/>
          <p:nvPr/>
        </p:nvSpPr>
        <p:spPr>
          <a:xfrm>
            <a:off x="5303520" y="2039112"/>
            <a:ext cx="251460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Cancelar toma un botón y una confirmación</a:t>
            </a:r>
            <a:endParaRPr lang="en-US" sz="1300" dirty="0"/>
          </a:p>
        </p:txBody>
      </p:sp>
      <p:sp>
        <p:nvSpPr>
          <p:cNvPr id="12" name="tarjeta"/>
          <p:cNvSpPr/>
          <p:nvPr/>
        </p:nvSpPr>
        <p:spPr>
          <a:xfrm>
            <a:off x="8074152" y="1325880"/>
            <a:ext cx="3493008" cy="1417320"/>
          </a:xfrm>
          <a:prstGeom prst="roundRect">
            <a:avLst>
              <a:gd name="adj" fmla="val 6452"/>
            </a:avLst>
          </a:prstGeom>
          <a:solidFill>
            <a:schemeClr val="bg2"/>
          </a:solidFill>
          <a:ln/>
        </p:spPr>
        <p:txBody>
          <a:bodyPr/>
          <a:p/>
        </p:txBody>
      </p:sp>
      <p:sp>
        <p:nvSpPr>
          <p:cNvPr id="13" name="círculo de icono"/>
          <p:cNvSpPr/>
          <p:nvPr/>
        </p:nvSpPr>
        <p:spPr>
          <a:xfrm>
            <a:off x="8257032" y="1554480"/>
            <a:ext cx="566928" cy="566928"/>
          </a:xfrm>
          <a:prstGeom prst="ellipse">
            <a:avLst/>
          </a:prstGeom>
          <a:solidFill>
            <a:schemeClr val="accent2"/>
          </a:solidFill>
          <a:ln/>
        </p:spPr>
        <p:txBody>
          <a:bodyPr/>
          <a:p/>
        </p:txBody>
      </p:sp>
      <p:pic>
        <p:nvPicPr>
          <p:cNvPr id="14" name="icono" descr="preencoded.png">    </p:cNvPr>
          <p:cNvPicPr>
            <a:picLocks noChangeAspect="1"/>
          </p:cNvPicPr>
          <p:nvPr/>
        </p:nvPicPr>
        <p:blipFill>
          <a:blip r:embed="rId2"/>
          <a:stretch>
            <a:fillRect/>
          </a:stretch>
        </p:blipFill>
        <p:spPr>
          <a:xfrm>
            <a:off x="8393095" y="1690543"/>
            <a:ext cx="294803" cy="294803"/>
          </a:xfrm>
          <a:prstGeom prst="rect">
            <a:avLst/>
          </a:prstGeom>
        </p:spPr>
      </p:pic>
      <p:sp>
        <p:nvSpPr>
          <p:cNvPr id="15" name="Text 11"/>
          <p:cNvSpPr txBox="1"/>
          <p:nvPr/>
        </p:nvSpPr>
        <p:spPr>
          <a:xfrm>
            <a:off x="8942832" y="1508760"/>
            <a:ext cx="251460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Disponibilidad real</a:t>
            </a:r>
            <a:endParaRPr lang="en-US" sz="1500" dirty="0"/>
          </a:p>
        </p:txBody>
      </p:sp>
      <p:sp>
        <p:nvSpPr>
          <p:cNvPr id="16" name="Text 12"/>
          <p:cNvSpPr txBox="1"/>
          <p:nvPr/>
        </p:nvSpPr>
        <p:spPr>
          <a:xfrm>
            <a:off x="8942832" y="2039112"/>
            <a:ext cx="251460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Sin mensajes de urgencia falsa</a:t>
            </a:r>
            <a:endParaRPr lang="en-US" sz="1300" dirty="0"/>
          </a:p>
        </p:txBody>
      </p:sp>
      <p:sp>
        <p:nvSpPr>
          <p:cNvPr id="17" name="tarjeta"/>
          <p:cNvSpPr/>
          <p:nvPr/>
        </p:nvSpPr>
        <p:spPr>
          <a:xfrm>
            <a:off x="4434840" y="2898648"/>
            <a:ext cx="3493008" cy="1417320"/>
          </a:xfrm>
          <a:prstGeom prst="roundRect">
            <a:avLst>
              <a:gd name="adj" fmla="val 6452"/>
            </a:avLst>
          </a:prstGeom>
          <a:solidFill>
            <a:schemeClr val="bg2"/>
          </a:solidFill>
          <a:ln/>
        </p:spPr>
        <p:txBody>
          <a:bodyPr/>
          <a:p/>
        </p:txBody>
      </p:sp>
      <p:sp>
        <p:nvSpPr>
          <p:cNvPr id="18" name="círculo de icono"/>
          <p:cNvSpPr/>
          <p:nvPr/>
        </p:nvSpPr>
        <p:spPr>
          <a:xfrm>
            <a:off x="4617720" y="3127248"/>
            <a:ext cx="566928" cy="566928"/>
          </a:xfrm>
          <a:prstGeom prst="ellipse">
            <a:avLst/>
          </a:prstGeom>
          <a:solidFill>
            <a:schemeClr val="accent2"/>
          </a:solidFill>
          <a:ln/>
        </p:spPr>
        <p:txBody>
          <a:bodyPr/>
          <a:p/>
        </p:txBody>
      </p:sp>
      <p:pic>
        <p:nvPicPr>
          <p:cNvPr id="19" name="icono" descr="preencoded.png">    </p:cNvPr>
          <p:cNvPicPr>
            <a:picLocks noChangeAspect="1"/>
          </p:cNvPicPr>
          <p:nvPr/>
        </p:nvPicPr>
        <p:blipFill>
          <a:blip r:embed="rId3"/>
          <a:stretch>
            <a:fillRect/>
          </a:stretch>
        </p:blipFill>
        <p:spPr>
          <a:xfrm>
            <a:off x="4753783" y="3263311"/>
            <a:ext cx="294803" cy="294803"/>
          </a:xfrm>
          <a:prstGeom prst="rect">
            <a:avLst/>
          </a:prstGeom>
        </p:spPr>
      </p:pic>
      <p:sp>
        <p:nvSpPr>
          <p:cNvPr id="20" name="Text 15"/>
          <p:cNvSpPr txBox="1"/>
          <p:nvPr/>
        </p:nvSpPr>
        <p:spPr>
          <a:xfrm>
            <a:off x="5303520" y="3081528"/>
            <a:ext cx="251460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Nada preseleccionado</a:t>
            </a:r>
            <a:endParaRPr lang="en-US" sz="1500" dirty="0"/>
          </a:p>
        </p:txBody>
      </p:sp>
      <p:sp>
        <p:nvSpPr>
          <p:cNvPr id="21" name="Text 16"/>
          <p:cNvSpPr txBox="1"/>
          <p:nvPr/>
        </p:nvSpPr>
        <p:spPr>
          <a:xfrm>
            <a:off x="5303520" y="3611880"/>
            <a:ext cx="251460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Casilla de privacidad sin marcar</a:t>
            </a:r>
            <a:endParaRPr lang="en-US" sz="1300" dirty="0"/>
          </a:p>
        </p:txBody>
      </p:sp>
      <p:sp>
        <p:nvSpPr>
          <p:cNvPr id="22" name="tarjeta"/>
          <p:cNvSpPr/>
          <p:nvPr/>
        </p:nvSpPr>
        <p:spPr>
          <a:xfrm>
            <a:off x="8074152" y="2898648"/>
            <a:ext cx="3493008" cy="1417320"/>
          </a:xfrm>
          <a:prstGeom prst="roundRect">
            <a:avLst>
              <a:gd name="adj" fmla="val 6452"/>
            </a:avLst>
          </a:prstGeom>
          <a:solidFill>
            <a:schemeClr val="bg2"/>
          </a:solidFill>
          <a:ln/>
        </p:spPr>
        <p:txBody>
          <a:bodyPr/>
          <a:p/>
        </p:txBody>
      </p:sp>
      <p:sp>
        <p:nvSpPr>
          <p:cNvPr id="23" name="círculo de icono"/>
          <p:cNvSpPr/>
          <p:nvPr/>
        </p:nvSpPr>
        <p:spPr>
          <a:xfrm>
            <a:off x="8257032" y="3127248"/>
            <a:ext cx="566928" cy="566928"/>
          </a:xfrm>
          <a:prstGeom prst="ellipse">
            <a:avLst/>
          </a:prstGeom>
          <a:solidFill>
            <a:schemeClr val="accent2"/>
          </a:solidFill>
          <a:ln/>
        </p:spPr>
        <p:txBody>
          <a:bodyPr/>
          <a:p/>
        </p:txBody>
      </p:sp>
      <p:pic>
        <p:nvPicPr>
          <p:cNvPr id="24" name="icono" descr="preencoded.png">    </p:cNvPr>
          <p:cNvPicPr>
            <a:picLocks noChangeAspect="1"/>
          </p:cNvPicPr>
          <p:nvPr/>
        </p:nvPicPr>
        <p:blipFill>
          <a:blip r:embed="rId4"/>
          <a:stretch>
            <a:fillRect/>
          </a:stretch>
        </p:blipFill>
        <p:spPr>
          <a:xfrm>
            <a:off x="8393095" y="3263311"/>
            <a:ext cx="294803" cy="294803"/>
          </a:xfrm>
          <a:prstGeom prst="rect">
            <a:avLst/>
          </a:prstGeom>
        </p:spPr>
      </p:pic>
      <p:sp>
        <p:nvSpPr>
          <p:cNvPr id="25" name="Text 19"/>
          <p:cNvSpPr txBox="1"/>
          <p:nvPr/>
        </p:nvSpPr>
        <p:spPr>
          <a:xfrm>
            <a:off x="8942832" y="3081528"/>
            <a:ext cx="251460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Permisos explícitos</a:t>
            </a:r>
            <a:endParaRPr lang="en-US" sz="1500" dirty="0"/>
          </a:p>
        </p:txBody>
      </p:sp>
      <p:sp>
        <p:nvSpPr>
          <p:cNvPr id="26" name="Text 20"/>
          <p:cNvSpPr txBox="1"/>
          <p:nvPr/>
        </p:nvSpPr>
        <p:spPr>
          <a:xfrm>
            <a:off x="8942832" y="3611880"/>
            <a:ext cx="251460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Sin acceso a contactos; ubicación opcional</a:t>
            </a:r>
            <a:endParaRPr lang="en-US" sz="1300" dirty="0"/>
          </a:p>
        </p:txBody>
      </p:sp>
      <p:sp>
        <p:nvSpPr>
          <p:cNvPr id="27" name="tarjeta"/>
          <p:cNvSpPr/>
          <p:nvPr/>
        </p:nvSpPr>
        <p:spPr>
          <a:xfrm>
            <a:off x="4434840" y="4471416"/>
            <a:ext cx="3493008" cy="1417320"/>
          </a:xfrm>
          <a:prstGeom prst="roundRect">
            <a:avLst>
              <a:gd name="adj" fmla="val 6452"/>
            </a:avLst>
          </a:prstGeom>
          <a:solidFill>
            <a:schemeClr val="bg2"/>
          </a:solidFill>
          <a:ln/>
        </p:spPr>
        <p:txBody>
          <a:bodyPr/>
          <a:p/>
        </p:txBody>
      </p:sp>
      <p:sp>
        <p:nvSpPr>
          <p:cNvPr id="28" name="círculo de icono"/>
          <p:cNvSpPr/>
          <p:nvPr/>
        </p:nvSpPr>
        <p:spPr>
          <a:xfrm>
            <a:off x="4617720" y="4700016"/>
            <a:ext cx="566928" cy="566928"/>
          </a:xfrm>
          <a:prstGeom prst="ellipse">
            <a:avLst/>
          </a:prstGeom>
          <a:solidFill>
            <a:schemeClr val="accent2"/>
          </a:solidFill>
          <a:ln/>
        </p:spPr>
        <p:txBody>
          <a:bodyPr/>
          <a:p/>
        </p:txBody>
      </p:sp>
      <p:pic>
        <p:nvPicPr>
          <p:cNvPr id="29" name="icono" descr="preencoded.png">    </p:cNvPr>
          <p:cNvPicPr>
            <a:picLocks noChangeAspect="1"/>
          </p:cNvPicPr>
          <p:nvPr/>
        </p:nvPicPr>
        <p:blipFill>
          <a:blip r:embed="rId5"/>
          <a:stretch>
            <a:fillRect/>
          </a:stretch>
        </p:blipFill>
        <p:spPr>
          <a:xfrm>
            <a:off x="4753783" y="4836079"/>
            <a:ext cx="294803" cy="294803"/>
          </a:xfrm>
          <a:prstGeom prst="rect">
            <a:avLst/>
          </a:prstGeom>
        </p:spPr>
      </p:pic>
      <p:sp>
        <p:nvSpPr>
          <p:cNvPr id="30" name="Text 23"/>
          <p:cNvSpPr txBox="1"/>
          <p:nvPr/>
        </p:nvSpPr>
        <p:spPr>
          <a:xfrm>
            <a:off x="5303520" y="4654296"/>
            <a:ext cx="251460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Costos en lenguaje simple</a:t>
            </a:r>
            <a:endParaRPr lang="en-US" sz="1500" dirty="0"/>
          </a:p>
        </p:txBody>
      </p:sp>
      <p:sp>
        <p:nvSpPr>
          <p:cNvPr id="31" name="Text 24"/>
          <p:cNvSpPr txBox="1"/>
          <p:nvPr/>
        </p:nvSpPr>
        <p:spPr>
          <a:xfrm>
            <a:off x="5303520" y="5184648"/>
            <a:ext cx="251460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Total, comisión y penalidad antes de confirmar</a:t>
            </a:r>
            <a:endParaRPr lang="en-US" sz="1300" dirty="0"/>
          </a:p>
        </p:txBody>
      </p:sp>
      <p:sp>
        <p:nvSpPr>
          <p:cNvPr id="32" name="tarjeta"/>
          <p:cNvSpPr/>
          <p:nvPr/>
        </p:nvSpPr>
        <p:spPr>
          <a:xfrm>
            <a:off x="8074152" y="4471416"/>
            <a:ext cx="3493008" cy="1417320"/>
          </a:xfrm>
          <a:prstGeom prst="roundRect">
            <a:avLst>
              <a:gd name="adj" fmla="val 6452"/>
            </a:avLst>
          </a:prstGeom>
          <a:solidFill>
            <a:schemeClr val="bg2"/>
          </a:solidFill>
          <a:ln/>
        </p:spPr>
        <p:txBody>
          <a:bodyPr/>
          <a:p/>
        </p:txBody>
      </p:sp>
      <p:sp>
        <p:nvSpPr>
          <p:cNvPr id="33" name="círculo de icono"/>
          <p:cNvSpPr/>
          <p:nvPr/>
        </p:nvSpPr>
        <p:spPr>
          <a:xfrm>
            <a:off x="8257032" y="4700016"/>
            <a:ext cx="566928" cy="566928"/>
          </a:xfrm>
          <a:prstGeom prst="ellipse">
            <a:avLst/>
          </a:prstGeom>
          <a:solidFill>
            <a:schemeClr val="accent2"/>
          </a:solidFill>
          <a:ln/>
        </p:spPr>
        <p:txBody>
          <a:bodyPr/>
          <a:p/>
        </p:txBody>
      </p:sp>
      <p:pic>
        <p:nvPicPr>
          <p:cNvPr id="34" name="icono" descr="preencoded.png">    </p:cNvPr>
          <p:cNvPicPr>
            <a:picLocks noChangeAspect="1"/>
          </p:cNvPicPr>
          <p:nvPr/>
        </p:nvPicPr>
        <p:blipFill>
          <a:blip r:embed="rId6"/>
          <a:stretch>
            <a:fillRect/>
          </a:stretch>
        </p:blipFill>
        <p:spPr>
          <a:xfrm>
            <a:off x="8393095" y="4836079"/>
            <a:ext cx="294803" cy="294803"/>
          </a:xfrm>
          <a:prstGeom prst="rect">
            <a:avLst/>
          </a:prstGeom>
        </p:spPr>
      </p:pic>
      <p:sp>
        <p:nvSpPr>
          <p:cNvPr id="35" name="Text 27"/>
          <p:cNvSpPr txBox="1"/>
          <p:nvPr/>
        </p:nvSpPr>
        <p:spPr>
          <a:xfrm>
            <a:off x="8942832" y="4654296"/>
            <a:ext cx="251460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Transparencia</a:t>
            </a:r>
            <a:endParaRPr lang="en-US" sz="1500" dirty="0"/>
          </a:p>
        </p:txBody>
      </p:sp>
      <p:sp>
        <p:nvSpPr>
          <p:cNvPr id="36" name="Text 28"/>
          <p:cNvSpPr txBox="1"/>
          <p:nvPr/>
        </p:nvSpPr>
        <p:spPr>
          <a:xfrm>
            <a:off x="8942832" y="5184648"/>
            <a:ext cx="251460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Cada foto rechazada explica el motivo</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Demostración en vivo</a:t>
            </a:r>
            <a:endParaRPr lang="en-US" sz="3400" dirty="0"/>
          </a:p>
        </p:txBody>
      </p:sp>
      <p:sp>
        <p:nvSpPr>
          <p:cNvPr id="3" name="paso"/>
          <p:cNvSpPr/>
          <p:nvPr/>
        </p:nvSpPr>
        <p:spPr>
          <a:xfrm>
            <a:off x="548640" y="1417320"/>
            <a:ext cx="640080" cy="640080"/>
          </a:xfrm>
          <a:prstGeom prst="ellipse">
            <a:avLst/>
          </a:prstGeom>
          <a:solidFill>
            <a:schemeClr val="accent2"/>
          </a:solidFill>
          <a:ln/>
        </p:spPr>
        <p:txBody>
          <a:bodyPr/>
          <a:p/>
        </p:txBody>
      </p:sp>
      <p:sp>
        <p:nvSpPr>
          <p:cNvPr id="4" name="Text 2"/>
          <p:cNvSpPr txBox="1"/>
          <p:nvPr/>
        </p:nvSpPr>
        <p:spPr>
          <a:xfrm>
            <a:off x="548640" y="1417320"/>
            <a:ext cx="640080" cy="640080"/>
          </a:xfrm>
          <a:prstGeom prst="rect">
            <a:avLst/>
          </a:prstGeom>
          <a:noFill/>
          <a:ln/>
        </p:spPr>
        <p:txBody>
          <a:bodyPr wrap="square" lIns="0" tIns="0" rIns="0" bIns="0" rtlCol="0" anchor="ctr"/>
          <a:lstStyle/>
          <a:p>
            <a:pPr algn="ctr" indent="0" marL="0">
              <a:spcAft>
                <a:spcPts val="400"/>
              </a:spcAft>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417320" y="1417320"/>
            <a:ext cx="1737360"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Servidor</a:t>
            </a:r>
            <a:endParaRPr lang="en-US" sz="1800" dirty="0"/>
          </a:p>
        </p:txBody>
      </p:sp>
      <p:sp>
        <p:nvSpPr>
          <p:cNvPr id="6" name="Text 4"/>
          <p:cNvSpPr txBox="1"/>
          <p:nvPr/>
        </p:nvSpPr>
        <p:spPr>
          <a:xfrm>
            <a:off x="3154680" y="1417320"/>
            <a:ext cx="5120640" cy="64008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npm start en la PC; desde el emulador la app se conecta a 10.0.2.2:3000.</a:t>
            </a:r>
            <a:endParaRPr lang="en-US" sz="1400" dirty="0"/>
          </a:p>
        </p:txBody>
      </p:sp>
      <p:sp>
        <p:nvSpPr>
          <p:cNvPr id="7" name="paso"/>
          <p:cNvSpPr/>
          <p:nvPr/>
        </p:nvSpPr>
        <p:spPr>
          <a:xfrm>
            <a:off x="548640" y="2350008"/>
            <a:ext cx="640080" cy="640080"/>
          </a:xfrm>
          <a:prstGeom prst="ellipse">
            <a:avLst/>
          </a:prstGeom>
          <a:solidFill>
            <a:schemeClr val="accent2"/>
          </a:solidFill>
          <a:ln/>
        </p:spPr>
        <p:txBody>
          <a:bodyPr/>
          <a:p/>
        </p:txBody>
      </p:sp>
      <p:sp>
        <p:nvSpPr>
          <p:cNvPr id="8" name="Text 6"/>
          <p:cNvSpPr txBox="1"/>
          <p:nvPr/>
        </p:nvSpPr>
        <p:spPr>
          <a:xfrm>
            <a:off x="548640" y="2350008"/>
            <a:ext cx="640080" cy="640080"/>
          </a:xfrm>
          <a:prstGeom prst="rect">
            <a:avLst/>
          </a:prstGeom>
          <a:noFill/>
          <a:ln/>
        </p:spPr>
        <p:txBody>
          <a:bodyPr wrap="square" lIns="0" tIns="0" rIns="0" bIns="0" rtlCol="0" anchor="ctr"/>
          <a:lstStyle/>
          <a:p>
            <a:pPr algn="ctr" indent="0" marL="0">
              <a:spcAft>
                <a:spcPts val="400"/>
              </a:spcAft>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1417320" y="2350008"/>
            <a:ext cx="1737360"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Publicar</a:t>
            </a:r>
            <a:endParaRPr lang="en-US" sz="1800" dirty="0"/>
          </a:p>
        </p:txBody>
      </p:sp>
      <p:sp>
        <p:nvSpPr>
          <p:cNvPr id="10" name="Text 8"/>
          <p:cNvSpPr txBox="1"/>
          <p:nvPr/>
        </p:nvSpPr>
        <p:spPr>
          <a:xfrm>
            <a:off x="3154680" y="2350008"/>
            <a:ext cx="5120640" cy="64008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Cuenta arrendadora: una foto pequeña se rechaza con su motivo; con una foto válida el equipo se publica.</a:t>
            </a:r>
            <a:endParaRPr lang="en-US" sz="1400" dirty="0"/>
          </a:p>
        </p:txBody>
      </p:sp>
      <p:sp>
        <p:nvSpPr>
          <p:cNvPr id="11" name="paso"/>
          <p:cNvSpPr/>
          <p:nvPr/>
        </p:nvSpPr>
        <p:spPr>
          <a:xfrm>
            <a:off x="548640" y="3282696"/>
            <a:ext cx="640080" cy="640080"/>
          </a:xfrm>
          <a:prstGeom prst="ellipse">
            <a:avLst/>
          </a:prstGeom>
          <a:solidFill>
            <a:schemeClr val="accent2"/>
          </a:solidFill>
          <a:ln/>
        </p:spPr>
        <p:txBody>
          <a:bodyPr/>
          <a:p/>
        </p:txBody>
      </p:sp>
      <p:sp>
        <p:nvSpPr>
          <p:cNvPr id="12" name="Text 10"/>
          <p:cNvSpPr txBox="1"/>
          <p:nvPr/>
        </p:nvSpPr>
        <p:spPr>
          <a:xfrm>
            <a:off x="548640" y="3282696"/>
            <a:ext cx="640080" cy="640080"/>
          </a:xfrm>
          <a:prstGeom prst="rect">
            <a:avLst/>
          </a:prstGeom>
          <a:noFill/>
          <a:ln/>
        </p:spPr>
        <p:txBody>
          <a:bodyPr wrap="square" lIns="0" tIns="0" rIns="0" bIns="0" rtlCol="0" anchor="ctr"/>
          <a:lstStyle/>
          <a:p>
            <a:pPr algn="ctr" indent="0" marL="0">
              <a:spcAft>
                <a:spcPts val="400"/>
              </a:spcAft>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3" name="Text 11"/>
          <p:cNvSpPr txBox="1"/>
          <p:nvPr/>
        </p:nvSpPr>
        <p:spPr>
          <a:xfrm>
            <a:off x="1417320" y="3282696"/>
            <a:ext cx="1737360"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Reservar</a:t>
            </a:r>
            <a:endParaRPr lang="en-US" sz="1800" dirty="0"/>
          </a:p>
        </p:txBody>
      </p:sp>
      <p:sp>
        <p:nvSpPr>
          <p:cNvPr id="14" name="Text 12"/>
          <p:cNvSpPr txBox="1"/>
          <p:nvPr/>
        </p:nvSpPr>
        <p:spPr>
          <a:xfrm>
            <a:off x="3154680" y="3282696"/>
            <a:ext cx="5120640" cy="64008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Cuenta arrendataria: buscar, ver días ocupados, cotizar y reservar; una reserva para mañana se rechaza.</a:t>
            </a:r>
            <a:endParaRPr lang="en-US" sz="1400" dirty="0"/>
          </a:p>
        </p:txBody>
      </p:sp>
      <p:sp>
        <p:nvSpPr>
          <p:cNvPr id="15" name="paso"/>
          <p:cNvSpPr/>
          <p:nvPr/>
        </p:nvSpPr>
        <p:spPr>
          <a:xfrm>
            <a:off x="548640" y="4215384"/>
            <a:ext cx="640080" cy="640080"/>
          </a:xfrm>
          <a:prstGeom prst="ellipse">
            <a:avLst/>
          </a:prstGeom>
          <a:solidFill>
            <a:schemeClr val="accent2"/>
          </a:solidFill>
          <a:ln/>
        </p:spPr>
        <p:txBody>
          <a:bodyPr/>
          <a:p/>
        </p:txBody>
      </p:sp>
      <p:sp>
        <p:nvSpPr>
          <p:cNvPr id="16" name="Text 14"/>
          <p:cNvSpPr txBox="1"/>
          <p:nvPr/>
        </p:nvSpPr>
        <p:spPr>
          <a:xfrm>
            <a:off x="548640" y="4215384"/>
            <a:ext cx="640080" cy="640080"/>
          </a:xfrm>
          <a:prstGeom prst="rect">
            <a:avLst/>
          </a:prstGeom>
          <a:noFill/>
          <a:ln/>
        </p:spPr>
        <p:txBody>
          <a:bodyPr wrap="square" lIns="0" tIns="0" rIns="0" bIns="0" rtlCol="0" anchor="ctr"/>
          <a:lstStyle/>
          <a:p>
            <a:pPr algn="ctr" indent="0" marL="0">
              <a:spcAft>
                <a:spcPts val="400"/>
              </a:spcAft>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17" name="Text 15"/>
          <p:cNvSpPr txBox="1"/>
          <p:nvPr/>
        </p:nvSpPr>
        <p:spPr>
          <a:xfrm>
            <a:off x="1417320" y="4215384"/>
            <a:ext cx="1737360"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Gestionar</a:t>
            </a:r>
            <a:endParaRPr lang="en-US" sz="1800" dirty="0"/>
          </a:p>
        </p:txBody>
      </p:sp>
      <p:sp>
        <p:nvSpPr>
          <p:cNvPr id="18" name="Text 16"/>
          <p:cNvSpPr txBox="1"/>
          <p:nvPr/>
        </p:nvSpPr>
        <p:spPr>
          <a:xfrm>
            <a:off x="3154680" y="4215384"/>
            <a:ext cx="5120640" cy="64008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Cuenta arrendadora: confirmar, marcar entregado y devuelto; luego se califica la transacción.</a:t>
            </a:r>
            <a:endParaRPr lang="en-US" sz="1400" dirty="0"/>
          </a:p>
        </p:txBody>
      </p:sp>
      <p:sp>
        <p:nvSpPr>
          <p:cNvPr id="19" name="paso"/>
          <p:cNvSpPr/>
          <p:nvPr/>
        </p:nvSpPr>
        <p:spPr>
          <a:xfrm>
            <a:off x="548640" y="5148072"/>
            <a:ext cx="640080" cy="640080"/>
          </a:xfrm>
          <a:prstGeom prst="ellipse">
            <a:avLst/>
          </a:prstGeom>
          <a:solidFill>
            <a:schemeClr val="accent2"/>
          </a:solidFill>
          <a:ln/>
        </p:spPr>
        <p:txBody>
          <a:bodyPr/>
          <a:p/>
        </p:txBody>
      </p:sp>
      <p:sp>
        <p:nvSpPr>
          <p:cNvPr id="20" name="Text 18"/>
          <p:cNvSpPr txBox="1"/>
          <p:nvPr/>
        </p:nvSpPr>
        <p:spPr>
          <a:xfrm>
            <a:off x="548640" y="5148072"/>
            <a:ext cx="640080" cy="640080"/>
          </a:xfrm>
          <a:prstGeom prst="rect">
            <a:avLst/>
          </a:prstGeom>
          <a:noFill/>
          <a:ln/>
        </p:spPr>
        <p:txBody>
          <a:bodyPr wrap="square" lIns="0" tIns="0" rIns="0" bIns="0" rtlCol="0" anchor="ctr"/>
          <a:lstStyle/>
          <a:p>
            <a:pPr algn="ctr" indent="0" marL="0">
              <a:spcAft>
                <a:spcPts val="400"/>
              </a:spcAft>
              <a:buNone/>
            </a:pPr>
            <a:r>
              <a:rPr lang="en-US" sz="2200" b="1" dirty="0">
                <a:solidFill>
                  <a:schemeClr val="bg1"/>
                </a:solidFill>
                <a:latin typeface="Cambria" pitchFamily="34" charset="0"/>
                <a:ea typeface="Cambria" pitchFamily="34" charset="-122"/>
                <a:cs typeface="Cambria" pitchFamily="34" charset="-120"/>
              </a:rPr>
              <a:t>5</a:t>
            </a:r>
            <a:endParaRPr lang="en-US" sz="2200" dirty="0"/>
          </a:p>
        </p:txBody>
      </p:sp>
      <p:sp>
        <p:nvSpPr>
          <p:cNvPr id="21" name="Text 19"/>
          <p:cNvSpPr txBox="1"/>
          <p:nvPr/>
        </p:nvSpPr>
        <p:spPr>
          <a:xfrm>
            <a:off x="1417320" y="5148072"/>
            <a:ext cx="1737360"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Sin conexión</a:t>
            </a:r>
            <a:endParaRPr lang="en-US" sz="1800" dirty="0"/>
          </a:p>
        </p:txBody>
      </p:sp>
      <p:sp>
        <p:nvSpPr>
          <p:cNvPr id="22" name="Text 20"/>
          <p:cNvSpPr txBox="1"/>
          <p:nvPr/>
        </p:nvSpPr>
        <p:spPr>
          <a:xfrm>
            <a:off x="3154680" y="5148072"/>
            <a:ext cx="5120640" cy="64008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Modo avión: catálogo y reservas desde Room con el aviso «Sin conexión».</a:t>
            </a:r>
            <a:endParaRPr lang="en-US" sz="1400" dirty="0"/>
          </a:p>
        </p:txBody>
      </p:sp>
      <p:pic>
        <p:nvPicPr>
          <p:cNvPr id="23" name="captura de reservas" descr="/home/claude/EQUISHARE/docs/figuras/proto_7.png">    </p:cNvPr>
          <p:cNvPicPr>
            <a:picLocks noChangeAspect="1"/>
          </p:cNvPicPr>
          <p:nvPr/>
        </p:nvPicPr>
        <p:blipFill>
          <a:blip r:embed="rId1"/>
          <a:stretch>
            <a:fillRect/>
          </a:stretch>
        </p:blipFill>
        <p:spPr>
          <a:xfrm>
            <a:off x="8732520" y="1234440"/>
            <a:ext cx="2194560" cy="4636008"/>
          </a:xfrm>
          <a:prstGeom prst="rect">
            <a:avLst/>
          </a:prstGeom>
        </p:spPr>
      </p:pic>
      <p:sp>
        <p:nvSpPr>
          <p:cNvPr id="24" name="Text 21"/>
          <p:cNvSpPr txBox="1"/>
          <p:nvPr/>
        </p:nvSpPr>
        <p:spPr>
          <a:xfrm>
            <a:off x="548640" y="6035040"/>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Inicio de sesión con cuentas reales de Firebase Authentication y mapa de Google Maps activo.</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Conclusiones</a:t>
            </a:r>
            <a:endParaRPr lang="en-US" sz="3400" dirty="0"/>
          </a:p>
        </p:txBody>
      </p:sp>
      <p:sp>
        <p:nvSpPr>
          <p:cNvPr id="3" name="Text 1"/>
          <p:cNvSpPr txBox="1"/>
          <p:nvPr/>
        </p:nvSpPr>
        <p:spPr>
          <a:xfrm>
            <a:off x="548640" y="1325880"/>
            <a:ext cx="5760720" cy="45720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Resultados</a:t>
            </a:r>
            <a:endParaRPr lang="en-US" sz="2000" dirty="0"/>
          </a:p>
        </p:txBody>
      </p:sp>
      <p:sp>
        <p:nvSpPr>
          <p:cNvPr id="4" name="Text 2"/>
          <p:cNvSpPr txBox="1"/>
          <p:nvPr/>
        </p:nvSpPr>
        <p:spPr>
          <a:xfrm>
            <a:off x="548640" y="1874520"/>
            <a:ext cx="576072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OE1 a OE6 cumplidos: backlog, diseño, interfaz, persistencia local, API REST, Firebase y Google Maps integrados.</a:t>
            </a:r>
            <a:endParaRPr lang="en-US" sz="1600" dirty="0"/>
          </a:p>
          <a:p>
            <a:pPr marL="342900" indent="-342900">
              <a:spcAft>
                <a:spcPts val="1000"/>
              </a:spcAft>
              <a:buSzPct val="100000"/>
              <a:buChar char="•"/>
            </a:pPr>
            <a:r>
              <a:rPr lang="en-US" sz="1600" dirty="0">
                <a:solidFill>
                  <a:schemeClr val="bg1"/>
                </a:solidFill>
              </a:rPr>
              <a:t>OE7: el 100 % de las reglas está cubierto por pruebas del servidor (21/21) y del dominio (16/16).</a:t>
            </a:r>
            <a:endParaRPr lang="en-US" sz="1600" dirty="0"/>
          </a:p>
          <a:p>
            <a:pPr marL="342900" indent="-342900">
              <a:spcAft>
                <a:spcPts val="1000"/>
              </a:spcAft>
              <a:buSzPct val="100000"/>
              <a:buChar char="•"/>
            </a:pPr>
            <a:r>
              <a:rPr lang="en-US" sz="1600" dirty="0">
                <a:solidFill>
                  <a:schemeClr val="bg1"/>
                </a:solidFill>
              </a:rPr>
              <a:t>Room como fuente única de verdad permite trabajar sin conexión, clave en obras con mala señal.</a:t>
            </a:r>
            <a:endParaRPr lang="en-US" sz="1600" dirty="0"/>
          </a:p>
        </p:txBody>
      </p:sp>
      <p:sp>
        <p:nvSpPr>
          <p:cNvPr id="5" name="Text 3"/>
          <p:cNvSpPr txBox="1"/>
          <p:nvPr/>
        </p:nvSpPr>
        <p:spPr>
          <a:xfrm>
            <a:off x="6720840" y="1325880"/>
            <a:ext cx="4937760" cy="45720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Trabajo futuro</a:t>
            </a:r>
            <a:endParaRPr lang="en-US" sz="2000" dirty="0"/>
          </a:p>
        </p:txBody>
      </p:sp>
      <p:sp>
        <p:nvSpPr>
          <p:cNvPr id="6" name="círculo de icono"/>
          <p:cNvSpPr/>
          <p:nvPr/>
        </p:nvSpPr>
        <p:spPr>
          <a:xfrm>
            <a:off x="6720840" y="1920240"/>
            <a:ext cx="566928" cy="566928"/>
          </a:xfrm>
          <a:prstGeom prst="ellipse">
            <a:avLst/>
          </a:prstGeom>
          <a:solidFill>
            <a:schemeClr val="accent2"/>
          </a:solidFill>
          <a:ln/>
        </p:spPr>
        <p:txBody>
          <a:bodyPr/>
          <a:p/>
        </p:txBody>
      </p:sp>
      <p:pic>
        <p:nvPicPr>
          <p:cNvPr id="7" name="icono" descr="preencoded.png">    </p:cNvPr>
          <p:cNvPicPr>
            <a:picLocks noChangeAspect="1"/>
          </p:cNvPicPr>
          <p:nvPr/>
        </p:nvPicPr>
        <p:blipFill>
          <a:blip r:embed="rId1"/>
          <a:stretch>
            <a:fillRect/>
          </a:stretch>
        </p:blipFill>
        <p:spPr>
          <a:xfrm>
            <a:off x="6856903" y="2056303"/>
            <a:ext cx="294803" cy="294803"/>
          </a:xfrm>
          <a:prstGeom prst="rect">
            <a:avLst/>
          </a:prstGeom>
        </p:spPr>
      </p:pic>
      <p:sp>
        <p:nvSpPr>
          <p:cNvPr id="8" name="Text 5"/>
          <p:cNvSpPr txBox="1"/>
          <p:nvPr/>
        </p:nvSpPr>
        <p:spPr>
          <a:xfrm>
            <a:off x="7498080" y="1920240"/>
            <a:ext cx="4114800" cy="566928"/>
          </a:xfrm>
          <a:prstGeom prst="rect">
            <a:avLst/>
          </a:prstGeom>
          <a:noFill/>
          <a:ln/>
        </p:spPr>
        <p:txBody>
          <a:bodyPr wrap="square" lIns="0" tIns="0" rIns="0" bIns="0" rtlCol="0" anchor="ctr"/>
          <a:lstStyle/>
          <a:p>
            <a:pPr indent="0" marL="0">
              <a:spcAft>
                <a:spcPts val="400"/>
              </a:spcAft>
              <a:buNone/>
            </a:pPr>
            <a:r>
              <a:rPr lang="en-US" sz="1600" dirty="0">
                <a:solidFill>
                  <a:schemeClr val="bg1"/>
                </a:solidFill>
              </a:rPr>
              <a:t>Verificación del RUC con el padrón de SUNAT</a:t>
            </a:r>
            <a:endParaRPr lang="en-US" sz="1600" dirty="0"/>
          </a:p>
        </p:txBody>
      </p:sp>
      <p:sp>
        <p:nvSpPr>
          <p:cNvPr id="9" name="círculo de icono"/>
          <p:cNvSpPr/>
          <p:nvPr/>
        </p:nvSpPr>
        <p:spPr>
          <a:xfrm>
            <a:off x="6720840" y="2761488"/>
            <a:ext cx="566928" cy="566928"/>
          </a:xfrm>
          <a:prstGeom prst="ellipse">
            <a:avLst/>
          </a:prstGeom>
          <a:solidFill>
            <a:schemeClr val="accent2"/>
          </a:solidFill>
          <a:ln/>
        </p:spPr>
        <p:txBody>
          <a:bodyPr/>
          <a:p/>
        </p:txBody>
      </p:sp>
      <p:pic>
        <p:nvPicPr>
          <p:cNvPr id="10" name="icono" descr="preencoded.png">    </p:cNvPr>
          <p:cNvPicPr>
            <a:picLocks noChangeAspect="1"/>
          </p:cNvPicPr>
          <p:nvPr/>
        </p:nvPicPr>
        <p:blipFill>
          <a:blip r:embed="rId2"/>
          <a:stretch>
            <a:fillRect/>
          </a:stretch>
        </p:blipFill>
        <p:spPr>
          <a:xfrm>
            <a:off x="6856903" y="2897551"/>
            <a:ext cx="294803" cy="294803"/>
          </a:xfrm>
          <a:prstGeom prst="rect">
            <a:avLst/>
          </a:prstGeom>
        </p:spPr>
      </p:pic>
      <p:sp>
        <p:nvSpPr>
          <p:cNvPr id="11" name="Text 7"/>
          <p:cNvSpPr txBox="1"/>
          <p:nvPr/>
        </p:nvSpPr>
        <p:spPr>
          <a:xfrm>
            <a:off x="7498080" y="2761488"/>
            <a:ext cx="4114800" cy="566928"/>
          </a:xfrm>
          <a:prstGeom prst="rect">
            <a:avLst/>
          </a:prstGeom>
          <a:noFill/>
          <a:ln/>
        </p:spPr>
        <p:txBody>
          <a:bodyPr wrap="square" lIns="0" tIns="0" rIns="0" bIns="0" rtlCol="0" anchor="ctr"/>
          <a:lstStyle/>
          <a:p>
            <a:pPr indent="0" marL="0">
              <a:spcAft>
                <a:spcPts val="400"/>
              </a:spcAft>
              <a:buNone/>
            </a:pPr>
            <a:r>
              <a:rPr lang="en-US" sz="1600" dirty="0">
                <a:solidFill>
                  <a:schemeClr val="bg1"/>
                </a:solidFill>
              </a:rPr>
              <a:t>Fotos con ML y notificaciones push</a:t>
            </a:r>
            <a:endParaRPr lang="en-US" sz="1600" dirty="0"/>
          </a:p>
        </p:txBody>
      </p:sp>
      <p:sp>
        <p:nvSpPr>
          <p:cNvPr id="12" name="círculo de icono"/>
          <p:cNvSpPr/>
          <p:nvPr/>
        </p:nvSpPr>
        <p:spPr>
          <a:xfrm>
            <a:off x="6720840" y="3602736"/>
            <a:ext cx="566928" cy="566928"/>
          </a:xfrm>
          <a:prstGeom prst="ellipse">
            <a:avLst/>
          </a:prstGeom>
          <a:solidFill>
            <a:schemeClr val="accent2"/>
          </a:solidFill>
          <a:ln/>
        </p:spPr>
        <p:txBody>
          <a:bodyPr/>
          <a:p/>
        </p:txBody>
      </p:sp>
      <p:pic>
        <p:nvPicPr>
          <p:cNvPr id="13" name="icono" descr="preencoded.png">    </p:cNvPr>
          <p:cNvPicPr>
            <a:picLocks noChangeAspect="1"/>
          </p:cNvPicPr>
          <p:nvPr/>
        </p:nvPicPr>
        <p:blipFill>
          <a:blip r:embed="rId3"/>
          <a:stretch>
            <a:fillRect/>
          </a:stretch>
        </p:blipFill>
        <p:spPr>
          <a:xfrm>
            <a:off x="6856903" y="3738799"/>
            <a:ext cx="294803" cy="294803"/>
          </a:xfrm>
          <a:prstGeom prst="rect">
            <a:avLst/>
          </a:prstGeom>
        </p:spPr>
      </p:pic>
      <p:sp>
        <p:nvSpPr>
          <p:cNvPr id="14" name="Text 9"/>
          <p:cNvSpPr txBox="1"/>
          <p:nvPr/>
        </p:nvSpPr>
        <p:spPr>
          <a:xfrm>
            <a:off x="7498080" y="3602736"/>
            <a:ext cx="4114800" cy="566928"/>
          </a:xfrm>
          <a:prstGeom prst="rect">
            <a:avLst/>
          </a:prstGeom>
          <a:noFill/>
          <a:ln/>
        </p:spPr>
        <p:txBody>
          <a:bodyPr wrap="square" lIns="0" tIns="0" rIns="0" bIns="0" rtlCol="0" anchor="ctr"/>
          <a:lstStyle/>
          <a:p>
            <a:pPr indent="0" marL="0">
              <a:spcAft>
                <a:spcPts val="400"/>
              </a:spcAft>
              <a:buNone/>
            </a:pPr>
            <a:r>
              <a:rPr lang="en-US" sz="1600" dirty="0">
                <a:solidFill>
                  <a:schemeClr val="bg1"/>
                </a:solidFill>
              </a:rPr>
              <a:t>Pagos simulados y panel administrativo</a:t>
            </a:r>
            <a:endParaRPr lang="en-US" sz="1600" dirty="0"/>
          </a:p>
        </p:txBody>
      </p:sp>
      <p:sp>
        <p:nvSpPr>
          <p:cNvPr id="15" name="círculo de icono"/>
          <p:cNvSpPr/>
          <p:nvPr/>
        </p:nvSpPr>
        <p:spPr>
          <a:xfrm>
            <a:off x="6720840" y="4443984"/>
            <a:ext cx="566928" cy="566928"/>
          </a:xfrm>
          <a:prstGeom prst="ellipse">
            <a:avLst/>
          </a:prstGeom>
          <a:solidFill>
            <a:schemeClr val="accent2"/>
          </a:solidFill>
          <a:ln/>
        </p:spPr>
        <p:txBody>
          <a:bodyPr/>
          <a:p/>
        </p:txBody>
      </p:sp>
      <p:pic>
        <p:nvPicPr>
          <p:cNvPr id="16" name="icono" descr="preencoded.png">    </p:cNvPr>
          <p:cNvPicPr>
            <a:picLocks noChangeAspect="1"/>
          </p:cNvPicPr>
          <p:nvPr/>
        </p:nvPicPr>
        <p:blipFill>
          <a:blip r:embed="rId4"/>
          <a:stretch>
            <a:fillRect/>
          </a:stretch>
        </p:blipFill>
        <p:spPr>
          <a:xfrm>
            <a:off x="6856903" y="4580047"/>
            <a:ext cx="294803" cy="294803"/>
          </a:xfrm>
          <a:prstGeom prst="rect">
            <a:avLst/>
          </a:prstGeom>
        </p:spPr>
      </p:pic>
      <p:sp>
        <p:nvSpPr>
          <p:cNvPr id="17" name="Text 11"/>
          <p:cNvSpPr txBox="1"/>
          <p:nvPr/>
        </p:nvSpPr>
        <p:spPr>
          <a:xfrm>
            <a:off x="7498080" y="4443984"/>
            <a:ext cx="4114800" cy="566928"/>
          </a:xfrm>
          <a:prstGeom prst="rect">
            <a:avLst/>
          </a:prstGeom>
          <a:noFill/>
          <a:ln/>
        </p:spPr>
        <p:txBody>
          <a:bodyPr wrap="square" lIns="0" tIns="0" rIns="0" bIns="0" rtlCol="0" anchor="ctr"/>
          <a:lstStyle/>
          <a:p>
            <a:pPr indent="0" marL="0">
              <a:spcAft>
                <a:spcPts val="400"/>
              </a:spcAft>
              <a:buNone/>
            </a:pPr>
            <a:r>
              <a:rPr lang="en-US" sz="1600" dirty="0">
                <a:solidFill>
                  <a:schemeClr val="bg1"/>
                </a:solidFill>
              </a:rPr>
              <a:t>Prueba de usabilidad con pymes</a:t>
            </a:r>
            <a:endParaRPr lang="en-US" sz="1600" dirty="0"/>
          </a:p>
        </p:txBody>
      </p:sp>
      <p:sp>
        <p:nvSpPr>
          <p:cNvPr id="18" name="Text 12"/>
          <p:cNvSpPr txBox="1"/>
          <p:nvPr/>
        </p:nvSpPr>
        <p:spPr>
          <a:xfrm>
            <a:off x="548640" y="5440680"/>
            <a:ext cx="11064240" cy="731520"/>
          </a:xfrm>
          <a:prstGeom prst="rect">
            <a:avLst/>
          </a:prstGeom>
          <a:noFill/>
          <a:ln/>
        </p:spPr>
        <p:txBody>
          <a:bodyPr wrap="square" lIns="0" tIns="0" rIns="0" bIns="0" rtlCol="0" anchor="t"/>
          <a:lstStyle/>
          <a:p>
            <a:pPr indent="0" marL="0">
              <a:spcAft>
                <a:spcPts val="400"/>
              </a:spcAft>
              <a:buNone/>
            </a:pPr>
            <a:r>
              <a:rPr lang="en-US" sz="3600" b="1" dirty="0">
                <a:solidFill>
                  <a:schemeClr val="bg1"/>
                </a:solidFill>
                <a:latin typeface="Cambria" pitchFamily="34" charset="0"/>
                <a:ea typeface="Cambria" pitchFamily="34" charset="-122"/>
                <a:cs typeface="Cambria" pitchFamily="34" charset="-120"/>
              </a:rPr>
              <a:t>Gracias. ¿Preguntas?</a:t>
            </a:r>
            <a:endParaRPr lang="en-US" sz="3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EQUISHARE">
  <a:themeElements>
    <a:clrScheme name="EQUISHARE">
      <a:dk1>
        <a:srgbClr val="1B2430"/>
      </a:dk1>
      <a:lt1>
        <a:srgbClr val="FFFFFF"/>
      </a:lt1>
      <a:dk2>
        <a:srgbClr val="1E3A5F"/>
      </a:dk2>
      <a:lt2>
        <a:srgbClr val="EDF2F8"/>
      </a:lt2>
      <a:accent1>
        <a:srgbClr val="1E3A5F"/>
      </a:accent1>
      <a:accent2>
        <a:srgbClr val="BF8B2E"/>
      </a:accent2>
      <a:accent3>
        <a:srgbClr val="2E7D32"/>
      </a:accent3>
      <a:accent4>
        <a:srgbClr val="5B6B7F"/>
      </a:accent4>
      <a:accent5>
        <a:srgbClr val="B23A2E"/>
      </a:accent5>
      <a:accent6>
        <a:srgbClr val="8FA9C7"/>
      </a:accent6>
      <a:hlink>
        <a:srgbClr val="1E5AA8"/>
      </a:hlink>
      <a:folHlink>
        <a:srgbClr val="6B4E9B"/>
      </a:folHlink>
    </a:clrScheme>
    <a:fontScheme name="EQUISHA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EQUISHARE · Sustentación del proyecto</dc:title>
  <dc:subject>Desarrollo de Aplicaciones Móviles — UPN 2026-2</dc:subject>
  <dc:creator>Equipo EQUISHARE</dc:creator>
  <cp:lastModifiedBy>Equipo EQUISHARE</cp:lastModifiedBy>
  <cp:revision>1</cp:revision>
  <dcterms:created xsi:type="dcterms:W3CDTF">2026-10-16T14:46:33Z</dcterms:created>
  <dcterms:modified xsi:type="dcterms:W3CDTF">2026-10-16T14:46:33Z</dcterms:modified>
</cp:coreProperties>
</file>